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48" r:id="rId1"/>
  </p:sldMasterIdLst>
  <p:notesMasterIdLst>
    <p:notesMasterId r:id="rId28"/>
  </p:notesMasterIdLst>
  <p:handoutMasterIdLst>
    <p:handoutMasterId r:id="rId29"/>
  </p:handoutMasterIdLst>
  <p:sldIdLst>
    <p:sldId id="256" r:id="rId2"/>
    <p:sldId id="290" r:id="rId3"/>
    <p:sldId id="291" r:id="rId4"/>
    <p:sldId id="292" r:id="rId5"/>
    <p:sldId id="257" r:id="rId6"/>
    <p:sldId id="258" r:id="rId7"/>
    <p:sldId id="260" r:id="rId8"/>
    <p:sldId id="261" r:id="rId9"/>
    <p:sldId id="281" r:id="rId10"/>
    <p:sldId id="262" r:id="rId11"/>
    <p:sldId id="276" r:id="rId12"/>
    <p:sldId id="264" r:id="rId13"/>
    <p:sldId id="279" r:id="rId14"/>
    <p:sldId id="280" r:id="rId15"/>
    <p:sldId id="287" r:id="rId16"/>
    <p:sldId id="289" r:id="rId17"/>
    <p:sldId id="277" r:id="rId18"/>
    <p:sldId id="272" r:id="rId19"/>
    <p:sldId id="273" r:id="rId20"/>
    <p:sldId id="283" r:id="rId21"/>
    <p:sldId id="284" r:id="rId22"/>
    <p:sldId id="288" r:id="rId23"/>
    <p:sldId id="285" r:id="rId24"/>
    <p:sldId id="274" r:id="rId25"/>
    <p:sldId id="282" r:id="rId26"/>
    <p:sldId id="275" r:id="rId27"/>
  </p:sldIdLst>
  <p:sldSz cx="12188825" cy="6858000"/>
  <p:notesSz cx="6858000" cy="12188825"/>
  <p:embeddedFontLst>
    <p:embeddedFont>
      <p:font typeface="Pretendard" panose="02000503000000020004" pitchFamily="2" charset="-127"/>
      <p:regular r:id="rId30"/>
      <p:bold r:id="rId31"/>
    </p:embeddedFont>
    <p:embeddedFont>
      <p:font typeface="맑은 고딕" panose="020B0503020000020004" pitchFamily="50" charset="-127"/>
      <p:regular r:id="rId32"/>
      <p:bold r:id="rId33"/>
    </p:embeddedFont>
    <p:embeddedFont>
      <p:font typeface="맑은 고딕" panose="020B0503020000020004" pitchFamily="50" charset="-127"/>
      <p:regular r:id="rId32"/>
      <p:bold r:id="rId3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DBFE"/>
    <a:srgbClr val="FECEF8"/>
    <a:srgbClr val="FEE3AC"/>
    <a:srgbClr val="FBEA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382" autoAdjust="0"/>
    <p:restoredTop sz="94610"/>
  </p:normalViewPr>
  <p:slideViewPr>
    <p:cSldViewPr snapToGrid="0" snapToObjects="1">
      <p:cViewPr varScale="1">
        <p:scale>
          <a:sx n="159" d="100"/>
          <a:sy n="159" d="100"/>
        </p:scale>
        <p:origin x="588"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8C7F3888-E65D-4088-AB7B-BFBD4B30994A}"/>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DA046ABC-7BA1-46B6-80F5-AAE76960E930}"/>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317076A9-D932-4F19-AD01-49D033C04B8A}" type="datetimeFigureOut">
              <a:rPr lang="ko-KR" altLang="en-US" smtClean="0"/>
              <a:t>2026-09-17</a:t>
            </a:fld>
            <a:endParaRPr lang="ko-KR" altLang="en-US"/>
          </a:p>
        </p:txBody>
      </p:sp>
      <p:sp>
        <p:nvSpPr>
          <p:cNvPr id="4" name="바닥글 개체 틀 3">
            <a:extLst>
              <a:ext uri="{FF2B5EF4-FFF2-40B4-BE49-F238E27FC236}">
                <a16:creationId xmlns:a16="http://schemas.microsoft.com/office/drawing/2014/main" id="{65C3554C-CAA5-4008-A171-6158BE7EE669}"/>
              </a:ext>
            </a:extLst>
          </p:cNvPr>
          <p:cNvSpPr>
            <a:spLocks noGrp="1"/>
          </p:cNvSpPr>
          <p:nvPr>
            <p:ph type="ftr" sz="quarter" idx="2"/>
          </p:nvPr>
        </p:nvSpPr>
        <p:spPr>
          <a:xfrm>
            <a:off x="0" y="11577638"/>
            <a:ext cx="2971800" cy="6111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D3C91DD8-DB35-4302-ABE6-8F73CAD5800D}"/>
              </a:ext>
            </a:extLst>
          </p:cNvPr>
          <p:cNvSpPr>
            <a:spLocks noGrp="1"/>
          </p:cNvSpPr>
          <p:nvPr>
            <p:ph type="sldNum" sz="quarter" idx="3"/>
          </p:nvPr>
        </p:nvSpPr>
        <p:spPr>
          <a:xfrm>
            <a:off x="3884613" y="11577638"/>
            <a:ext cx="2971800" cy="611187"/>
          </a:xfrm>
          <a:prstGeom prst="rect">
            <a:avLst/>
          </a:prstGeom>
        </p:spPr>
        <p:txBody>
          <a:bodyPr vert="horz" lIns="91440" tIns="45720" rIns="91440" bIns="45720" rtlCol="0" anchor="b"/>
          <a:lstStyle>
            <a:lvl1pPr algn="r">
              <a:defRPr sz="1200"/>
            </a:lvl1pPr>
          </a:lstStyle>
          <a:p>
            <a:fld id="{330AFB84-CC58-4C2E-A798-B40F277F17B8}" type="slidenum">
              <a:rPr lang="ko-KR" altLang="en-US" smtClean="0"/>
              <a:t>‹#›</a:t>
            </a:fld>
            <a:endParaRPr lang="ko-KR" altLang="en-US"/>
          </a:p>
        </p:txBody>
      </p:sp>
    </p:spTree>
    <p:extLst>
      <p:ext uri="{BB962C8B-B14F-4D97-AF65-F5344CB8AC3E}">
        <p14:creationId xmlns:p14="http://schemas.microsoft.com/office/powerpoint/2010/main" val="60967915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4361876"/>
      </p:ext>
    </p:extLst>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31FF3-314C-73E4-CAF8-B83653DD34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1CBDFA-2677-F53B-6E32-BA475760D5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66BF39-2553-5311-01CC-BD42357264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C86F57-A07B-6910-410E-F7162F7907BF}"/>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71074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7110363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6241614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6686359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41755677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7406641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4905583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965042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9134A-BE9B-5F50-670B-525255A5CA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8B80B5-134E-0DD5-190C-BC41228EEF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038858-50F1-05A3-AB87-4A8224618C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958A97-AA76-F4A0-E375-AEED4FE853B9}"/>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9393855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app.notion.com/p/joononey/08-31-3cd9e8021c37803d8368fa8b9330a352"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965960"/>
            <a:ext cx="10515600" cy="1554480"/>
          </a:xfrm>
          <a:prstGeom prst="rect">
            <a:avLst/>
          </a:prstGeom>
          <a:noFill/>
          <a:ln/>
        </p:spPr>
        <p:txBody>
          <a:bodyPr wrap="square" rtlCol="0" anchor="ctr"/>
          <a:lstStyle/>
          <a:p>
            <a:pPr marL="0" indent="0" algn="ctr">
              <a:buNone/>
            </a:pPr>
            <a:r>
              <a:rPr lang="en-US" sz="32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LLM 멀티에이전트 시스템의 실행 로그 기반</a:t>
            </a:r>
            <a:endParaRPr lang="en-US" sz="3200" dirty="0">
              <a:latin typeface="Pretendard" panose="02000503000000020004" pitchFamily="50" charset="-127"/>
              <a:ea typeface="Pretendard" panose="02000503000000020004" pitchFamily="50" charset="-127"/>
              <a:cs typeface="Pretendard" panose="02000503000000020004" pitchFamily="50" charset="-127"/>
            </a:endParaRPr>
          </a:p>
          <a:p>
            <a:pPr marL="0" indent="0" algn="ctr">
              <a:buNone/>
            </a:pPr>
            <a:r>
              <a:rPr lang="en-US" sz="32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오류 귀인 및 궤적 수리 방법 및 장치</a:t>
            </a:r>
            <a:endParaRPr lang="en-US" sz="3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 name="Text 1"/>
          <p:cNvSpPr/>
          <p:nvPr/>
        </p:nvSpPr>
        <p:spPr>
          <a:xfrm>
            <a:off x="822960" y="3520440"/>
            <a:ext cx="10515600" cy="822960"/>
          </a:xfrm>
          <a:prstGeom prst="rect">
            <a:avLst/>
          </a:prstGeom>
          <a:noFill/>
          <a:ln/>
        </p:spPr>
        <p:txBody>
          <a:bodyPr wrap="square" rtlCol="0" anchor="ctr"/>
          <a:lstStyle/>
          <a:p>
            <a:pPr marL="0" indent="0" algn="ctr">
              <a:buNone/>
            </a:pPr>
            <a:r>
              <a:rPr lang="en-US" sz="1600" i="1" dirty="0">
                <a:solidFill>
                  <a:srgbClr val="595959"/>
                </a:solidFill>
                <a:latin typeface="Pretendard" panose="02000503000000020004" pitchFamily="50" charset="-127"/>
                <a:ea typeface="Pretendard" panose="02000503000000020004" pitchFamily="50" charset="-127"/>
                <a:cs typeface="Pretendard" panose="02000503000000020004" pitchFamily="50" charset="-127"/>
              </a:rPr>
              <a:t>Log-Driven Failure Attribution and Trajectory Repair</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a:p>
            <a:pPr marL="0" indent="0" algn="ctr">
              <a:buNone/>
            </a:pPr>
            <a:r>
              <a:rPr lang="en-US" sz="1600" i="1" dirty="0">
                <a:solidFill>
                  <a:srgbClr val="595959"/>
                </a:solidFill>
                <a:latin typeface="Pretendard" panose="02000503000000020004" pitchFamily="50" charset="-127"/>
                <a:ea typeface="Pretendard" panose="02000503000000020004" pitchFamily="50" charset="-127"/>
                <a:cs typeface="Pretendard" panose="02000503000000020004" pitchFamily="50" charset="-127"/>
              </a:rPr>
              <a:t>for LLM Multi-Agent Systems</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 name="Text 2"/>
          <p:cNvSpPr/>
          <p:nvPr/>
        </p:nvSpPr>
        <p:spPr>
          <a:xfrm>
            <a:off x="822960" y="4754880"/>
            <a:ext cx="10515600" cy="457200"/>
          </a:xfrm>
          <a:prstGeom prst="rect">
            <a:avLst/>
          </a:prstGeom>
          <a:noFill/>
          <a:ln/>
        </p:spPr>
        <p:txBody>
          <a:bodyPr wrap="square" rtlCol="0" anchor="ctr"/>
          <a:lstStyle/>
          <a:p>
            <a:pPr marL="0" indent="0" algn="ctr">
              <a:buNone/>
            </a:pPr>
            <a:r>
              <a:rPr lang="en-US" sz="180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석사과정</a:t>
            </a:r>
            <a:r>
              <a:rPr lang="en-US" sz="18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80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이승건</a:t>
            </a:r>
            <a:r>
              <a:rPr lang="en-US" sz="18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서준원</a:t>
            </a:r>
            <a:endParaRPr lang="en-US" sz="180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1"/>
          <p:cNvSpPr txBox="1"/>
          <p:nvPr/>
        </p:nvSpPr>
        <p:spPr>
          <a:xfrm>
            <a:off x="502920" y="274320"/>
            <a:ext cx="11155680" cy="548640"/>
          </a:xfrm>
          <a:prstGeom prst="rect">
            <a:avLst/>
          </a:prstGeom>
          <a:noFill/>
          <a:ln>
            <a:noFill/>
          </a:ln>
        </p:spPr>
        <p:txBody>
          <a:bodyPr wrap="square" lIns="91440" tIns="91440" rIns="91440" bIns="91440" rtlCol="0" anchor="ctr"/>
          <a:lstStyle/>
          <a:p>
            <a:pPr marL="0" indent="0" algn="l">
              <a:buNone/>
            </a:pPr>
            <a:r>
              <a:rPr lang="en-US" altLang="ko-KR" sz="25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Develop</a:t>
            </a:r>
            <a:r>
              <a:rPr lang="ko-KR" altLang="en-US" sz="25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오류 귀인 방법론 확장 (1/2): 로그 길이 분기 및 구간 분할</a:t>
            </a:r>
          </a:p>
        </p:txBody>
      </p:sp>
      <p:sp>
        <p:nvSpPr>
          <p:cNvPr id="102" name="TextBox 102"/>
          <p:cNvSpPr txBox="1"/>
          <p:nvPr/>
        </p:nvSpPr>
        <p:spPr>
          <a:xfrm>
            <a:off x="502920" y="822960"/>
            <a:ext cx="11155680" cy="310896"/>
          </a:xfrm>
          <a:prstGeom prst="rect">
            <a:avLst/>
          </a:prstGeom>
          <a:noFill/>
          <a:ln>
            <a:noFill/>
          </a:ln>
        </p:spPr>
        <p:txBody>
          <a:bodyPr wrap="square" lIns="91440" tIns="91440" rIns="91440" bIns="91440" rtlCol="0" anchor="ctr"/>
          <a:lstStyle/>
          <a:p>
            <a:pPr marL="0" indent="0" algn="l">
              <a:buNone/>
            </a:pPr>
            <a:r>
              <a:rPr lang="ko-KR" altLang="en-US" sz="1200" b="1" dirty="0">
                <a:latin typeface="Pretendard"/>
                <a:ea typeface="Pretendard"/>
                <a:cs typeface="Pretendard"/>
              </a:rPr>
              <a:t>로그가 긴 경우 역방향 단독 추적의 한계 — </a:t>
            </a:r>
            <a:r>
              <a:rPr lang="ko-KR" altLang="en-US" sz="1200" dirty="0">
                <a:latin typeface="Pretendard"/>
                <a:ea typeface="Pretendard"/>
                <a:cs typeface="Pretendard"/>
              </a:rPr>
              <a:t>상속 여부 판정마다 상류 전체를 입력해야 해 비효율적</a:t>
            </a:r>
          </a:p>
        </p:txBody>
      </p:sp>
      <p:sp>
        <p:nvSpPr>
          <p:cNvPr id="103" name="Shape 103"/>
          <p:cNvSpPr/>
          <p:nvPr/>
        </p:nvSpPr>
        <p:spPr>
          <a:xfrm>
            <a:off x="1256214" y="1417320"/>
            <a:ext cx="2103120" cy="685800"/>
          </a:xfrm>
          <a:prstGeom prst="roundRect">
            <a:avLst>
              <a:gd name="adj" fmla="val 5882"/>
            </a:avLst>
          </a:prstGeom>
          <a:solidFill>
            <a:srgbClr val="EDF2F9"/>
          </a:solidFill>
          <a:ln w="12700">
            <a:solidFill>
              <a:srgbClr val="2E5FA3"/>
            </a:solidFill>
          </a:ln>
        </p:spPr>
        <p:txBody>
          <a:bodyPr wrap="square" lIns="54864" tIns="54864" rIns="54864" bIns="54864" rtlCol="0" anchor="ctr"/>
          <a:lstStyle/>
          <a:p>
            <a:pPr marL="0" indent="0" algn="ctr">
              <a:buNone/>
            </a:pPr>
            <a:r>
              <a:rPr lang="ko-KR" altLang="en-US" sz="1150" b="1" dirty="0">
                <a:solidFill>
                  <a:srgbClr val="1A1A1A"/>
                </a:solidFill>
                <a:latin typeface="Pretendard"/>
                <a:ea typeface="Pretendard"/>
                <a:cs typeface="Pretendard"/>
              </a:rPr>
              <a:t>실패 궤적 로그</a:t>
            </a:r>
          </a:p>
          <a:p>
            <a:pPr marL="0" indent="0" algn="ctr">
              <a:buNone/>
            </a:pPr>
            <a:r>
              <a:rPr lang="ko-KR" altLang="en-US" sz="1000" dirty="0">
                <a:solidFill>
                  <a:srgbClr val="1A1A1A"/>
                </a:solidFill>
                <a:latin typeface="Pretendard"/>
                <a:ea typeface="Pretendard"/>
                <a:cs typeface="Pretendard"/>
              </a:rPr>
              <a:t>step 단위 에이전트 출력</a:t>
            </a:r>
          </a:p>
        </p:txBody>
      </p:sp>
      <p:sp>
        <p:nvSpPr>
          <p:cNvPr id="104" name="Line 104"/>
          <p:cNvSpPr/>
          <p:nvPr/>
        </p:nvSpPr>
        <p:spPr>
          <a:xfrm>
            <a:off x="3359334" y="1760220"/>
            <a:ext cx="457200" cy="0"/>
          </a:xfrm>
          <a:prstGeom prst="line">
            <a:avLst/>
          </a:prstGeom>
          <a:noFill/>
          <a:ln w="22225">
            <a:solidFill>
              <a:srgbClr val="595959"/>
            </a:solidFill>
            <a:prstDash val="solid"/>
            <a:tailEnd type="triangle"/>
          </a:ln>
        </p:spPr>
        <p:txBody>
          <a:bodyPr/>
          <a:lstStyle/>
          <a:p>
            <a:endParaRPr lang="ko-KR"/>
          </a:p>
        </p:txBody>
      </p:sp>
      <p:sp>
        <p:nvSpPr>
          <p:cNvPr id="105" name="Shape 105"/>
          <p:cNvSpPr/>
          <p:nvPr/>
        </p:nvSpPr>
        <p:spPr>
          <a:xfrm>
            <a:off x="3816534" y="1417320"/>
            <a:ext cx="2926080" cy="685800"/>
          </a:xfrm>
          <a:prstGeom prst="roundRect">
            <a:avLst>
              <a:gd name="adj" fmla="val 5882"/>
            </a:avLst>
          </a:prstGeom>
          <a:solidFill>
            <a:srgbClr val="EDF2F9"/>
          </a:solidFill>
          <a:ln w="12700">
            <a:solidFill>
              <a:srgbClr val="2E5FA3"/>
            </a:solidFill>
          </a:ln>
        </p:spPr>
        <p:txBody>
          <a:bodyPr wrap="square" lIns="54864" tIns="54864" rIns="54864" bIns="54864" rtlCol="0" anchor="ctr"/>
          <a:lstStyle/>
          <a:p>
            <a:pPr marL="0" indent="0" algn="ctr">
              <a:buNone/>
            </a:pPr>
            <a:r>
              <a:rPr lang="ko-KR" altLang="en-US" sz="1150" b="1" dirty="0">
                <a:solidFill>
                  <a:srgbClr val="1A1A1A"/>
                </a:solidFill>
                <a:latin typeface="Pretendard"/>
                <a:ea typeface="Pretendard"/>
                <a:cs typeface="Pretendard"/>
              </a:rPr>
              <a:t>로그 길이 판정</a:t>
            </a:r>
          </a:p>
          <a:p>
            <a:pPr marL="0" indent="0" algn="ctr">
              <a:buNone/>
            </a:pPr>
            <a:r>
              <a:rPr lang="ko-KR" altLang="en-US" sz="1000" dirty="0">
                <a:solidFill>
                  <a:srgbClr val="1A1A1A"/>
                </a:solidFill>
                <a:latin typeface="Pretendard"/>
                <a:ea typeface="Pretendard"/>
                <a:cs typeface="Pretendard"/>
              </a:rPr>
              <a:t>L ≤ τ ?   (τ: 판정 모델 컨텍스트 길이)</a:t>
            </a:r>
          </a:p>
        </p:txBody>
      </p:sp>
      <p:sp>
        <p:nvSpPr>
          <p:cNvPr id="106" name="Line 106"/>
          <p:cNvSpPr/>
          <p:nvPr/>
        </p:nvSpPr>
        <p:spPr>
          <a:xfrm>
            <a:off x="6742614" y="1760220"/>
            <a:ext cx="365760" cy="0"/>
          </a:xfrm>
          <a:prstGeom prst="line">
            <a:avLst/>
          </a:prstGeom>
          <a:noFill/>
          <a:ln w="22225">
            <a:solidFill>
              <a:srgbClr val="595959"/>
            </a:solidFill>
            <a:prstDash val="solid"/>
          </a:ln>
        </p:spPr>
        <p:txBody>
          <a:bodyPr/>
          <a:lstStyle/>
          <a:p>
            <a:endParaRPr lang="ko-KR"/>
          </a:p>
        </p:txBody>
      </p:sp>
      <p:sp>
        <p:nvSpPr>
          <p:cNvPr id="107" name="Line 107"/>
          <p:cNvSpPr/>
          <p:nvPr/>
        </p:nvSpPr>
        <p:spPr>
          <a:xfrm>
            <a:off x="7108374" y="1481328"/>
            <a:ext cx="0" cy="640080"/>
          </a:xfrm>
          <a:prstGeom prst="line">
            <a:avLst/>
          </a:prstGeom>
          <a:noFill/>
          <a:ln w="22225">
            <a:solidFill>
              <a:srgbClr val="595959"/>
            </a:solidFill>
            <a:prstDash val="solid"/>
          </a:ln>
        </p:spPr>
        <p:txBody>
          <a:bodyPr/>
          <a:lstStyle/>
          <a:p>
            <a:endParaRPr lang="ko-KR"/>
          </a:p>
        </p:txBody>
      </p:sp>
      <p:sp>
        <p:nvSpPr>
          <p:cNvPr id="108" name="Line 108"/>
          <p:cNvSpPr/>
          <p:nvPr/>
        </p:nvSpPr>
        <p:spPr>
          <a:xfrm>
            <a:off x="7108374" y="1481328"/>
            <a:ext cx="365760" cy="0"/>
          </a:xfrm>
          <a:prstGeom prst="line">
            <a:avLst/>
          </a:prstGeom>
          <a:noFill/>
          <a:ln w="22225">
            <a:solidFill>
              <a:srgbClr val="595959"/>
            </a:solidFill>
            <a:prstDash val="solid"/>
            <a:tailEnd type="triangle"/>
          </a:ln>
        </p:spPr>
        <p:txBody>
          <a:bodyPr/>
          <a:lstStyle/>
          <a:p>
            <a:endParaRPr lang="ko-KR"/>
          </a:p>
        </p:txBody>
      </p:sp>
      <p:sp>
        <p:nvSpPr>
          <p:cNvPr id="109" name="Line 109"/>
          <p:cNvSpPr/>
          <p:nvPr/>
        </p:nvSpPr>
        <p:spPr>
          <a:xfrm>
            <a:off x="7108374" y="2121408"/>
            <a:ext cx="365760" cy="0"/>
          </a:xfrm>
          <a:prstGeom prst="line">
            <a:avLst/>
          </a:prstGeom>
          <a:noFill/>
          <a:ln w="22225">
            <a:solidFill>
              <a:srgbClr val="595959"/>
            </a:solidFill>
            <a:prstDash val="solid"/>
            <a:tailEnd type="triangle"/>
          </a:ln>
        </p:spPr>
        <p:txBody>
          <a:bodyPr/>
          <a:lstStyle/>
          <a:p>
            <a:endParaRPr lang="ko-KR"/>
          </a:p>
        </p:txBody>
      </p:sp>
      <p:sp>
        <p:nvSpPr>
          <p:cNvPr id="110" name="Shape 110"/>
          <p:cNvSpPr/>
          <p:nvPr/>
        </p:nvSpPr>
        <p:spPr>
          <a:xfrm>
            <a:off x="7474134" y="1207008"/>
            <a:ext cx="3108960" cy="548640"/>
          </a:xfrm>
          <a:prstGeom prst="roundRect">
            <a:avLst>
              <a:gd name="adj" fmla="val 5882"/>
            </a:avLst>
          </a:prstGeom>
          <a:solidFill>
            <a:srgbClr val="F2F2F2"/>
          </a:solidFill>
          <a:ln w="12700">
            <a:solidFill>
              <a:srgbClr val="595959"/>
            </a:solidFill>
          </a:ln>
        </p:spPr>
        <p:txBody>
          <a:bodyPr wrap="square" lIns="54864" tIns="54864" rIns="54864" bIns="54864" rtlCol="0" anchor="ctr"/>
          <a:lstStyle/>
          <a:p>
            <a:pPr marL="0" indent="0" algn="ctr">
              <a:buNone/>
            </a:pPr>
            <a:r>
              <a:rPr lang="ko-KR" altLang="en-US" sz="1150" b="1" dirty="0">
                <a:solidFill>
                  <a:srgbClr val="1A1A1A"/>
                </a:solidFill>
                <a:latin typeface="Pretendard"/>
                <a:ea typeface="Pretendard"/>
                <a:cs typeface="Pretendard"/>
              </a:rPr>
              <a:t>예 → 역방향 추적</a:t>
            </a:r>
          </a:p>
          <a:p>
            <a:pPr marL="0" indent="0" algn="ctr">
              <a:buNone/>
            </a:pPr>
            <a:r>
              <a:rPr lang="ko-KR" altLang="en-US" sz="1000" dirty="0">
                <a:solidFill>
                  <a:srgbClr val="1A1A1A"/>
                </a:solidFill>
                <a:latin typeface="Pretendard"/>
                <a:ea typeface="Pretendard"/>
                <a:cs typeface="Pretendard"/>
              </a:rPr>
              <a:t>본문 Phase 1과 동일</a:t>
            </a:r>
          </a:p>
        </p:txBody>
      </p:sp>
      <p:sp>
        <p:nvSpPr>
          <p:cNvPr id="111" name="Shape 111"/>
          <p:cNvSpPr/>
          <p:nvPr/>
        </p:nvSpPr>
        <p:spPr>
          <a:xfrm>
            <a:off x="7474134" y="1847088"/>
            <a:ext cx="3108960" cy="548640"/>
          </a:xfrm>
          <a:prstGeom prst="roundRect">
            <a:avLst>
              <a:gd name="adj" fmla="val 5882"/>
            </a:avLst>
          </a:prstGeom>
          <a:solidFill>
            <a:srgbClr val="FDF3E1"/>
          </a:solidFill>
          <a:ln w="12700">
            <a:solidFill>
              <a:srgbClr val="B7791F"/>
            </a:solidFill>
          </a:ln>
        </p:spPr>
        <p:txBody>
          <a:bodyPr wrap="square" lIns="54864" tIns="54864" rIns="54864" bIns="54864" rtlCol="0" anchor="ctr"/>
          <a:lstStyle/>
          <a:p>
            <a:pPr marL="0" indent="0" algn="ctr">
              <a:buNone/>
            </a:pPr>
            <a:r>
              <a:rPr lang="ko-KR" altLang="en-US" sz="1150" b="1" dirty="0">
                <a:solidFill>
                  <a:srgbClr val="1A1A1A"/>
                </a:solidFill>
                <a:latin typeface="Pretendard"/>
                <a:ea typeface="Pretendard"/>
                <a:cs typeface="Pretendard"/>
              </a:rPr>
              <a:t>아니오 → 양방향 추적</a:t>
            </a:r>
          </a:p>
          <a:p>
            <a:pPr marL="0" indent="0" algn="ctr">
              <a:buNone/>
            </a:pPr>
            <a:r>
              <a:rPr lang="ko-KR" altLang="en-US" sz="1000" dirty="0">
                <a:solidFill>
                  <a:srgbClr val="1A1A1A"/>
                </a:solidFill>
                <a:latin typeface="Pretendard"/>
                <a:ea typeface="Pretendard"/>
                <a:cs typeface="Pretendard"/>
              </a:rPr>
              <a:t>구간 분할 → 순방향 검사 → 구간 내 역방향</a:t>
            </a:r>
          </a:p>
        </p:txBody>
      </p:sp>
      <p:sp>
        <p:nvSpPr>
          <p:cNvPr id="113" name="Line 113"/>
          <p:cNvSpPr/>
          <p:nvPr/>
        </p:nvSpPr>
        <p:spPr>
          <a:xfrm>
            <a:off x="9028614" y="2395728"/>
            <a:ext cx="0" cy="237744"/>
          </a:xfrm>
          <a:prstGeom prst="line">
            <a:avLst/>
          </a:prstGeom>
          <a:noFill/>
          <a:ln w="22225">
            <a:solidFill>
              <a:srgbClr val="595959"/>
            </a:solidFill>
            <a:prstDash val="solid"/>
            <a:tailEnd type="triangle"/>
          </a:ln>
        </p:spPr>
        <p:txBody>
          <a:bodyPr/>
          <a:lstStyle/>
          <a:p>
            <a:endParaRPr lang="ko-KR"/>
          </a:p>
        </p:txBody>
      </p:sp>
      <p:sp>
        <p:nvSpPr>
          <p:cNvPr id="114" name="Group 114"/>
          <p:cNvSpPr/>
          <p:nvPr/>
        </p:nvSpPr>
        <p:spPr>
          <a:xfrm>
            <a:off x="3648897" y="2651760"/>
            <a:ext cx="8172994" cy="3108960"/>
          </a:xfrm>
          <a:prstGeom prst="roundRect">
            <a:avLst>
              <a:gd name="adj" fmla="val 3000"/>
            </a:avLst>
          </a:prstGeom>
          <a:noFill/>
          <a:ln w="12700">
            <a:solidFill>
              <a:srgbClr val="BFBFBF"/>
            </a:solidFill>
            <a:prstDash val="dash"/>
          </a:ln>
        </p:spPr>
        <p:txBody>
          <a:bodyPr wrap="square" lIns="54864" tIns="54864" rIns="54864" bIns="54864" rtlCol="0" anchor="ctr"/>
          <a:lstStyle/>
          <a:p>
            <a:endParaRPr lang="ko-KR"/>
          </a:p>
        </p:txBody>
      </p:sp>
      <p:sp>
        <p:nvSpPr>
          <p:cNvPr id="115" name="TextBox 115"/>
          <p:cNvSpPr txBox="1"/>
          <p:nvPr/>
        </p:nvSpPr>
        <p:spPr>
          <a:xfrm>
            <a:off x="3741216" y="2688336"/>
            <a:ext cx="5486400" cy="274320"/>
          </a:xfrm>
          <a:prstGeom prst="rect">
            <a:avLst/>
          </a:prstGeom>
          <a:noFill/>
          <a:ln>
            <a:noFill/>
          </a:ln>
        </p:spPr>
        <p:txBody>
          <a:bodyPr wrap="square" lIns="27432" tIns="27432" rIns="27432" bIns="27432" rtlCol="0" anchor="ctr"/>
          <a:lstStyle/>
          <a:p>
            <a:pPr marL="0" indent="0" algn="l">
              <a:buNone/>
            </a:pPr>
            <a:r>
              <a:rPr lang="ko-KR" altLang="en-US" sz="1200" b="1" dirty="0">
                <a:solidFill>
                  <a:srgbClr val="1A1A1A"/>
                </a:solidFill>
                <a:latin typeface="Pretendard"/>
                <a:ea typeface="Pretendard"/>
                <a:cs typeface="Pretendard"/>
              </a:rPr>
              <a:t>구간 분할 </a:t>
            </a:r>
            <a:r>
              <a:rPr lang="ko-KR" altLang="en-US" sz="1100" dirty="0">
                <a:solidFill>
                  <a:srgbClr val="595959"/>
                </a:solidFill>
                <a:latin typeface="Pretendard"/>
                <a:ea typeface="Pretendard"/>
                <a:cs typeface="Pretendard"/>
              </a:rPr>
              <a:t>(양방향 추적의 준비 단계)</a:t>
            </a:r>
          </a:p>
        </p:txBody>
      </p:sp>
      <p:sp>
        <p:nvSpPr>
          <p:cNvPr id="116" name="TextBox 116"/>
          <p:cNvSpPr txBox="1"/>
          <p:nvPr/>
        </p:nvSpPr>
        <p:spPr>
          <a:xfrm>
            <a:off x="4341977" y="2999232"/>
            <a:ext cx="3657600" cy="237744"/>
          </a:xfrm>
          <a:prstGeom prst="rect">
            <a:avLst/>
          </a:prstGeom>
          <a:noFill/>
          <a:ln>
            <a:noFill/>
          </a:ln>
        </p:spPr>
        <p:txBody>
          <a:bodyPr wrap="square" lIns="18288" tIns="18288" rIns="18288" bIns="18288" rtlCol="0" anchor="ctr"/>
          <a:lstStyle/>
          <a:p>
            <a:pPr marL="0" indent="0" algn="l">
              <a:buNone/>
            </a:pPr>
            <a:r>
              <a:rPr lang="ko-KR" altLang="en-US" sz="1050" b="1" dirty="0">
                <a:solidFill>
                  <a:srgbClr val="595959"/>
                </a:solidFill>
                <a:latin typeface="Pretendard"/>
                <a:ea typeface="Pretendard"/>
                <a:cs typeface="Pretendard"/>
              </a:rPr>
              <a:t>실패 궤적 로그 (L &gt; τ)</a:t>
            </a:r>
          </a:p>
        </p:txBody>
      </p:sp>
      <p:sp>
        <p:nvSpPr>
          <p:cNvPr id="117" name="Shape 117"/>
          <p:cNvSpPr/>
          <p:nvPr/>
        </p:nvSpPr>
        <p:spPr>
          <a:xfrm>
            <a:off x="4369409" y="3255264"/>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a:t>
            </a:r>
          </a:p>
        </p:txBody>
      </p:sp>
      <p:sp>
        <p:nvSpPr>
          <p:cNvPr id="118" name="Shape 118"/>
          <p:cNvSpPr/>
          <p:nvPr/>
        </p:nvSpPr>
        <p:spPr>
          <a:xfrm>
            <a:off x="4672990" y="3255264"/>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2</a:t>
            </a:r>
          </a:p>
        </p:txBody>
      </p:sp>
      <p:sp>
        <p:nvSpPr>
          <p:cNvPr id="119" name="Shape 119"/>
          <p:cNvSpPr/>
          <p:nvPr/>
        </p:nvSpPr>
        <p:spPr>
          <a:xfrm>
            <a:off x="4976570" y="3255264"/>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3</a:t>
            </a:r>
          </a:p>
        </p:txBody>
      </p:sp>
      <p:sp>
        <p:nvSpPr>
          <p:cNvPr id="120" name="Shape 120"/>
          <p:cNvSpPr/>
          <p:nvPr/>
        </p:nvSpPr>
        <p:spPr>
          <a:xfrm>
            <a:off x="5280151" y="3255264"/>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4</a:t>
            </a:r>
          </a:p>
        </p:txBody>
      </p:sp>
      <p:sp>
        <p:nvSpPr>
          <p:cNvPr id="121" name="Shape 121"/>
          <p:cNvSpPr/>
          <p:nvPr/>
        </p:nvSpPr>
        <p:spPr>
          <a:xfrm>
            <a:off x="5583732" y="3255264"/>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5</a:t>
            </a:r>
          </a:p>
        </p:txBody>
      </p:sp>
      <p:sp>
        <p:nvSpPr>
          <p:cNvPr id="122" name="Shape 122"/>
          <p:cNvSpPr/>
          <p:nvPr/>
        </p:nvSpPr>
        <p:spPr>
          <a:xfrm>
            <a:off x="5887313" y="3255264"/>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6</a:t>
            </a:r>
          </a:p>
        </p:txBody>
      </p:sp>
      <p:sp>
        <p:nvSpPr>
          <p:cNvPr id="123" name="Shape 123"/>
          <p:cNvSpPr/>
          <p:nvPr/>
        </p:nvSpPr>
        <p:spPr>
          <a:xfrm>
            <a:off x="6190894" y="3255264"/>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7</a:t>
            </a:r>
          </a:p>
        </p:txBody>
      </p:sp>
      <p:sp>
        <p:nvSpPr>
          <p:cNvPr id="124" name="Shape 124"/>
          <p:cNvSpPr/>
          <p:nvPr/>
        </p:nvSpPr>
        <p:spPr>
          <a:xfrm>
            <a:off x="6494474" y="3255264"/>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8</a:t>
            </a:r>
          </a:p>
        </p:txBody>
      </p:sp>
      <p:sp>
        <p:nvSpPr>
          <p:cNvPr id="125" name="Shape 125"/>
          <p:cNvSpPr/>
          <p:nvPr/>
        </p:nvSpPr>
        <p:spPr>
          <a:xfrm>
            <a:off x="6798055" y="3255264"/>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9</a:t>
            </a:r>
          </a:p>
        </p:txBody>
      </p:sp>
      <p:sp>
        <p:nvSpPr>
          <p:cNvPr id="126" name="Shape 126"/>
          <p:cNvSpPr/>
          <p:nvPr/>
        </p:nvSpPr>
        <p:spPr>
          <a:xfrm>
            <a:off x="7101636" y="3255264"/>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10</a:t>
            </a:r>
          </a:p>
        </p:txBody>
      </p:sp>
      <p:sp>
        <p:nvSpPr>
          <p:cNvPr id="127" name="Shape 127"/>
          <p:cNvSpPr/>
          <p:nvPr/>
        </p:nvSpPr>
        <p:spPr>
          <a:xfrm>
            <a:off x="7405217" y="3255264"/>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11</a:t>
            </a:r>
          </a:p>
        </p:txBody>
      </p:sp>
      <p:sp>
        <p:nvSpPr>
          <p:cNvPr id="128" name="Shape 128"/>
          <p:cNvSpPr/>
          <p:nvPr/>
        </p:nvSpPr>
        <p:spPr>
          <a:xfrm>
            <a:off x="7708798" y="3255264"/>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12</a:t>
            </a:r>
          </a:p>
        </p:txBody>
      </p:sp>
      <p:sp>
        <p:nvSpPr>
          <p:cNvPr id="129" name="Shape 129"/>
          <p:cNvSpPr/>
          <p:nvPr/>
        </p:nvSpPr>
        <p:spPr>
          <a:xfrm>
            <a:off x="8012378" y="3255264"/>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13</a:t>
            </a:r>
          </a:p>
        </p:txBody>
      </p:sp>
      <p:sp>
        <p:nvSpPr>
          <p:cNvPr id="130" name="Shape 130"/>
          <p:cNvSpPr/>
          <p:nvPr/>
        </p:nvSpPr>
        <p:spPr>
          <a:xfrm>
            <a:off x="8315959" y="3255264"/>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14</a:t>
            </a:r>
          </a:p>
        </p:txBody>
      </p:sp>
      <p:sp>
        <p:nvSpPr>
          <p:cNvPr id="131" name="Shape 131"/>
          <p:cNvSpPr/>
          <p:nvPr/>
        </p:nvSpPr>
        <p:spPr>
          <a:xfrm>
            <a:off x="8619540" y="3255264"/>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15</a:t>
            </a:r>
          </a:p>
        </p:txBody>
      </p:sp>
      <p:sp>
        <p:nvSpPr>
          <p:cNvPr id="132" name="Shape 132"/>
          <p:cNvSpPr/>
          <p:nvPr/>
        </p:nvSpPr>
        <p:spPr>
          <a:xfrm>
            <a:off x="8923121" y="3255264"/>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16</a:t>
            </a:r>
          </a:p>
        </p:txBody>
      </p:sp>
      <p:sp>
        <p:nvSpPr>
          <p:cNvPr id="133" name="Shape 133"/>
          <p:cNvSpPr/>
          <p:nvPr/>
        </p:nvSpPr>
        <p:spPr>
          <a:xfrm>
            <a:off x="9226702" y="3255264"/>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17</a:t>
            </a:r>
          </a:p>
        </p:txBody>
      </p:sp>
      <p:sp>
        <p:nvSpPr>
          <p:cNvPr id="134" name="Shape 134"/>
          <p:cNvSpPr/>
          <p:nvPr/>
        </p:nvSpPr>
        <p:spPr>
          <a:xfrm>
            <a:off x="9530282" y="3255264"/>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18</a:t>
            </a:r>
          </a:p>
        </p:txBody>
      </p:sp>
      <p:sp>
        <p:nvSpPr>
          <p:cNvPr id="135" name="Shape 135"/>
          <p:cNvSpPr/>
          <p:nvPr/>
        </p:nvSpPr>
        <p:spPr>
          <a:xfrm>
            <a:off x="9833863" y="3255264"/>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19</a:t>
            </a:r>
          </a:p>
        </p:txBody>
      </p:sp>
      <p:sp>
        <p:nvSpPr>
          <p:cNvPr id="136" name="Shape 136"/>
          <p:cNvSpPr/>
          <p:nvPr/>
        </p:nvSpPr>
        <p:spPr>
          <a:xfrm>
            <a:off x="10137444" y="3255264"/>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20</a:t>
            </a:r>
          </a:p>
        </p:txBody>
      </p:sp>
      <p:sp>
        <p:nvSpPr>
          <p:cNvPr id="137" name="Line 137"/>
          <p:cNvSpPr/>
          <p:nvPr/>
        </p:nvSpPr>
        <p:spPr>
          <a:xfrm>
            <a:off x="7376870" y="3593592"/>
            <a:ext cx="0" cy="310896"/>
          </a:xfrm>
          <a:prstGeom prst="line">
            <a:avLst/>
          </a:prstGeom>
          <a:noFill/>
          <a:ln w="22225">
            <a:solidFill>
              <a:srgbClr val="595959"/>
            </a:solidFill>
            <a:prstDash val="solid"/>
            <a:tailEnd type="triangle"/>
          </a:ln>
        </p:spPr>
        <p:txBody>
          <a:bodyPr/>
          <a:lstStyle/>
          <a:p>
            <a:endParaRPr lang="ko-KR"/>
          </a:p>
        </p:txBody>
      </p:sp>
      <p:sp>
        <p:nvSpPr>
          <p:cNvPr id="138" name="TextBox 138"/>
          <p:cNvSpPr txBox="1"/>
          <p:nvPr/>
        </p:nvSpPr>
        <p:spPr>
          <a:xfrm>
            <a:off x="7486598" y="3630168"/>
            <a:ext cx="2743200" cy="237744"/>
          </a:xfrm>
          <a:prstGeom prst="rect">
            <a:avLst/>
          </a:prstGeom>
          <a:noFill/>
          <a:ln>
            <a:noFill/>
          </a:ln>
        </p:spPr>
        <p:txBody>
          <a:bodyPr wrap="square" lIns="18288" tIns="18288" rIns="18288" bIns="18288" rtlCol="0" anchor="ctr"/>
          <a:lstStyle/>
          <a:p>
            <a:pPr marL="0" indent="0" algn="l">
              <a:buNone/>
            </a:pPr>
            <a:r>
              <a:rPr lang="ko-KR" altLang="en-US" sz="1050" dirty="0">
                <a:latin typeface="Pretendard"/>
                <a:ea typeface="Pretendard"/>
                <a:cs typeface="Pretendard"/>
              </a:rPr>
              <a:t>분할 기준 적용</a:t>
            </a:r>
          </a:p>
        </p:txBody>
      </p:sp>
      <p:sp>
        <p:nvSpPr>
          <p:cNvPr id="139" name="TextBox 139"/>
          <p:cNvSpPr txBox="1"/>
          <p:nvPr/>
        </p:nvSpPr>
        <p:spPr>
          <a:xfrm>
            <a:off x="3860088" y="3931920"/>
            <a:ext cx="1303934" cy="219456"/>
          </a:xfrm>
          <a:prstGeom prst="rect">
            <a:avLst/>
          </a:prstGeom>
          <a:noFill/>
          <a:ln>
            <a:noFill/>
          </a:ln>
        </p:spPr>
        <p:txBody>
          <a:bodyPr wrap="square" lIns="18288" tIns="18288" rIns="18288" bIns="18288" rtlCol="0" anchor="ctr"/>
          <a:lstStyle/>
          <a:p>
            <a:pPr marL="0" indent="0" algn="l">
              <a:buNone/>
            </a:pPr>
            <a:r>
              <a:rPr lang="ko-KR" altLang="en-US" sz="1000" b="1" dirty="0">
                <a:solidFill>
                  <a:srgbClr val="1A1A1A"/>
                </a:solidFill>
                <a:latin typeface="Pretendard"/>
                <a:ea typeface="Pretendard"/>
                <a:cs typeface="Pretendard"/>
              </a:rPr>
              <a:t>구간 1</a:t>
            </a:r>
          </a:p>
        </p:txBody>
      </p:sp>
      <p:sp>
        <p:nvSpPr>
          <p:cNvPr id="140" name="Segment 140"/>
          <p:cNvSpPr/>
          <p:nvPr/>
        </p:nvSpPr>
        <p:spPr>
          <a:xfrm>
            <a:off x="3860088" y="4151376"/>
            <a:ext cx="1303934" cy="438912"/>
          </a:xfrm>
          <a:prstGeom prst="roundRect">
            <a:avLst>
              <a:gd name="adj" fmla="val 8000"/>
            </a:avLst>
          </a:prstGeom>
          <a:noFill/>
          <a:ln w="12700">
            <a:solidFill>
              <a:srgbClr val="7F7F7F"/>
            </a:solidFill>
            <a:prstDash val="dash"/>
          </a:ln>
        </p:spPr>
        <p:txBody>
          <a:bodyPr wrap="square" lIns="54864" tIns="54864" rIns="54864" bIns="54864" rtlCol="0" anchor="ctr"/>
          <a:lstStyle/>
          <a:p>
            <a:endParaRPr lang="ko-KR"/>
          </a:p>
        </p:txBody>
      </p:sp>
      <p:sp>
        <p:nvSpPr>
          <p:cNvPr id="141" name="Shape 141"/>
          <p:cNvSpPr/>
          <p:nvPr/>
        </p:nvSpPr>
        <p:spPr>
          <a:xfrm>
            <a:off x="3933240" y="4233672"/>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a:t>
            </a:r>
          </a:p>
        </p:txBody>
      </p:sp>
      <p:sp>
        <p:nvSpPr>
          <p:cNvPr id="142" name="Shape 142"/>
          <p:cNvSpPr/>
          <p:nvPr/>
        </p:nvSpPr>
        <p:spPr>
          <a:xfrm>
            <a:off x="4236821" y="4233672"/>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2</a:t>
            </a:r>
          </a:p>
        </p:txBody>
      </p:sp>
      <p:sp>
        <p:nvSpPr>
          <p:cNvPr id="143" name="Shape 143"/>
          <p:cNvSpPr/>
          <p:nvPr/>
        </p:nvSpPr>
        <p:spPr>
          <a:xfrm>
            <a:off x="4540402" y="4233672"/>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3</a:t>
            </a:r>
          </a:p>
        </p:txBody>
      </p:sp>
      <p:sp>
        <p:nvSpPr>
          <p:cNvPr id="144" name="Shape 144"/>
          <p:cNvSpPr/>
          <p:nvPr/>
        </p:nvSpPr>
        <p:spPr>
          <a:xfrm>
            <a:off x="4843982" y="4233672"/>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4</a:t>
            </a:r>
          </a:p>
        </p:txBody>
      </p:sp>
      <p:sp>
        <p:nvSpPr>
          <p:cNvPr id="145" name="Line 145"/>
          <p:cNvSpPr/>
          <p:nvPr/>
        </p:nvSpPr>
        <p:spPr>
          <a:xfrm>
            <a:off x="4775402" y="4599432"/>
            <a:ext cx="0" cy="146304"/>
          </a:xfrm>
          <a:prstGeom prst="line">
            <a:avLst/>
          </a:prstGeom>
          <a:noFill/>
          <a:ln w="15875">
            <a:solidFill>
              <a:srgbClr val="595959"/>
            </a:solidFill>
            <a:prstDash val="solid"/>
            <a:tailEnd type="triangle"/>
          </a:ln>
        </p:spPr>
        <p:txBody>
          <a:bodyPr/>
          <a:lstStyle/>
          <a:p>
            <a:endParaRPr lang="ko-KR"/>
          </a:p>
        </p:txBody>
      </p:sp>
      <p:sp>
        <p:nvSpPr>
          <p:cNvPr id="146" name="Shape 146"/>
          <p:cNvSpPr/>
          <p:nvPr/>
        </p:nvSpPr>
        <p:spPr>
          <a:xfrm>
            <a:off x="4386782" y="4745736"/>
            <a:ext cx="777240" cy="256032"/>
          </a:xfrm>
          <a:prstGeom prst="roundRect">
            <a:avLst>
              <a:gd name="adj" fmla="val 5882"/>
            </a:avLst>
          </a:prstGeom>
          <a:solidFill>
            <a:srgbClr val="EDF2F9"/>
          </a:solidFill>
          <a:ln w="12700">
            <a:solidFill>
              <a:srgbClr val="2E5FA3"/>
            </a:solidFill>
          </a:ln>
        </p:spPr>
        <p:txBody>
          <a:bodyPr wrap="square" lIns="0" tIns="0" rIns="0" bIns="0" rtlCol="0" anchor="ctr"/>
          <a:lstStyle/>
          <a:p>
            <a:pPr marL="0" indent="0" algn="ctr">
              <a:buNone/>
            </a:pPr>
            <a:r>
              <a:rPr lang="ko-KR" altLang="en-US" sz="1000" b="1" dirty="0">
                <a:solidFill>
                  <a:srgbClr val="1F3864"/>
                </a:solidFill>
                <a:latin typeface="Pretendard"/>
                <a:ea typeface="Pretendard"/>
                <a:cs typeface="Pretendard"/>
              </a:rPr>
              <a:t>요약 S1</a:t>
            </a:r>
          </a:p>
        </p:txBody>
      </p:sp>
      <p:sp>
        <p:nvSpPr>
          <p:cNvPr id="147" name="TextBox 147"/>
          <p:cNvSpPr txBox="1"/>
          <p:nvPr/>
        </p:nvSpPr>
        <p:spPr>
          <a:xfrm>
            <a:off x="5365190" y="3931920"/>
            <a:ext cx="1911096" cy="219456"/>
          </a:xfrm>
          <a:prstGeom prst="rect">
            <a:avLst/>
          </a:prstGeom>
          <a:noFill/>
          <a:ln>
            <a:noFill/>
          </a:ln>
        </p:spPr>
        <p:txBody>
          <a:bodyPr wrap="square" lIns="18288" tIns="18288" rIns="18288" bIns="18288" rtlCol="0" anchor="ctr"/>
          <a:lstStyle/>
          <a:p>
            <a:pPr marL="0" indent="0" algn="l">
              <a:buNone/>
            </a:pPr>
            <a:r>
              <a:rPr lang="ko-KR" altLang="en-US" sz="1000" b="1" dirty="0">
                <a:solidFill>
                  <a:srgbClr val="1A1A1A"/>
                </a:solidFill>
                <a:latin typeface="Pretendard"/>
                <a:ea typeface="Pretendard"/>
                <a:cs typeface="Pretendard"/>
              </a:rPr>
              <a:t>구간 2</a:t>
            </a:r>
          </a:p>
        </p:txBody>
      </p:sp>
      <p:sp>
        <p:nvSpPr>
          <p:cNvPr id="148" name="Segment 148"/>
          <p:cNvSpPr/>
          <p:nvPr/>
        </p:nvSpPr>
        <p:spPr>
          <a:xfrm>
            <a:off x="5365190" y="4151376"/>
            <a:ext cx="1911096" cy="438912"/>
          </a:xfrm>
          <a:prstGeom prst="roundRect">
            <a:avLst>
              <a:gd name="adj" fmla="val 8000"/>
            </a:avLst>
          </a:prstGeom>
          <a:noFill/>
          <a:ln w="12700">
            <a:solidFill>
              <a:srgbClr val="7F7F7F"/>
            </a:solidFill>
            <a:prstDash val="dash"/>
          </a:ln>
        </p:spPr>
        <p:txBody>
          <a:bodyPr wrap="square" lIns="54864" tIns="54864" rIns="54864" bIns="54864" rtlCol="0" anchor="ctr"/>
          <a:lstStyle/>
          <a:p>
            <a:endParaRPr lang="ko-KR"/>
          </a:p>
        </p:txBody>
      </p:sp>
      <p:sp>
        <p:nvSpPr>
          <p:cNvPr id="149" name="Shape 149"/>
          <p:cNvSpPr/>
          <p:nvPr/>
        </p:nvSpPr>
        <p:spPr>
          <a:xfrm>
            <a:off x="5438342" y="4233672"/>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5</a:t>
            </a:r>
          </a:p>
        </p:txBody>
      </p:sp>
      <p:sp>
        <p:nvSpPr>
          <p:cNvPr id="150" name="Shape 150"/>
          <p:cNvSpPr/>
          <p:nvPr/>
        </p:nvSpPr>
        <p:spPr>
          <a:xfrm>
            <a:off x="5741923" y="4233672"/>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6</a:t>
            </a:r>
          </a:p>
        </p:txBody>
      </p:sp>
      <p:sp>
        <p:nvSpPr>
          <p:cNvPr id="151" name="Shape 151"/>
          <p:cNvSpPr/>
          <p:nvPr/>
        </p:nvSpPr>
        <p:spPr>
          <a:xfrm>
            <a:off x="6045504" y="4233672"/>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7</a:t>
            </a:r>
          </a:p>
        </p:txBody>
      </p:sp>
      <p:sp>
        <p:nvSpPr>
          <p:cNvPr id="152" name="Shape 152"/>
          <p:cNvSpPr/>
          <p:nvPr/>
        </p:nvSpPr>
        <p:spPr>
          <a:xfrm>
            <a:off x="6349085" y="4233672"/>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8</a:t>
            </a:r>
          </a:p>
        </p:txBody>
      </p:sp>
      <p:sp>
        <p:nvSpPr>
          <p:cNvPr id="153" name="Shape 153"/>
          <p:cNvSpPr/>
          <p:nvPr/>
        </p:nvSpPr>
        <p:spPr>
          <a:xfrm>
            <a:off x="6652666" y="4233672"/>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9</a:t>
            </a:r>
          </a:p>
        </p:txBody>
      </p:sp>
      <p:sp>
        <p:nvSpPr>
          <p:cNvPr id="154" name="Shape 154"/>
          <p:cNvSpPr/>
          <p:nvPr/>
        </p:nvSpPr>
        <p:spPr>
          <a:xfrm>
            <a:off x="6956246" y="4233672"/>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10</a:t>
            </a:r>
          </a:p>
        </p:txBody>
      </p:sp>
      <p:sp>
        <p:nvSpPr>
          <p:cNvPr id="155" name="Line 155"/>
          <p:cNvSpPr/>
          <p:nvPr/>
        </p:nvSpPr>
        <p:spPr>
          <a:xfrm>
            <a:off x="6887666" y="4599432"/>
            <a:ext cx="0" cy="146304"/>
          </a:xfrm>
          <a:prstGeom prst="line">
            <a:avLst/>
          </a:prstGeom>
          <a:noFill/>
          <a:ln w="15875">
            <a:solidFill>
              <a:srgbClr val="595959"/>
            </a:solidFill>
            <a:prstDash val="solid"/>
            <a:tailEnd type="triangle"/>
          </a:ln>
        </p:spPr>
        <p:txBody>
          <a:bodyPr/>
          <a:lstStyle/>
          <a:p>
            <a:endParaRPr lang="ko-KR"/>
          </a:p>
        </p:txBody>
      </p:sp>
      <p:sp>
        <p:nvSpPr>
          <p:cNvPr id="156" name="Shape 156"/>
          <p:cNvSpPr/>
          <p:nvPr/>
        </p:nvSpPr>
        <p:spPr>
          <a:xfrm>
            <a:off x="6499046" y="4745736"/>
            <a:ext cx="777240" cy="256032"/>
          </a:xfrm>
          <a:prstGeom prst="roundRect">
            <a:avLst>
              <a:gd name="adj" fmla="val 5882"/>
            </a:avLst>
          </a:prstGeom>
          <a:solidFill>
            <a:srgbClr val="EDF2F9"/>
          </a:solidFill>
          <a:ln w="12700">
            <a:solidFill>
              <a:srgbClr val="2E5FA3"/>
            </a:solidFill>
          </a:ln>
        </p:spPr>
        <p:txBody>
          <a:bodyPr wrap="square" lIns="0" tIns="0" rIns="0" bIns="0" rtlCol="0" anchor="ctr"/>
          <a:lstStyle/>
          <a:p>
            <a:pPr marL="0" indent="0" algn="ctr">
              <a:buNone/>
            </a:pPr>
            <a:r>
              <a:rPr lang="ko-KR" altLang="en-US" sz="1000" b="1" dirty="0">
                <a:solidFill>
                  <a:srgbClr val="1F3864"/>
                </a:solidFill>
                <a:latin typeface="Pretendard"/>
                <a:ea typeface="Pretendard"/>
                <a:cs typeface="Pretendard"/>
              </a:rPr>
              <a:t>요약 S2</a:t>
            </a:r>
          </a:p>
        </p:txBody>
      </p:sp>
      <p:sp>
        <p:nvSpPr>
          <p:cNvPr id="157" name="TextBox 157"/>
          <p:cNvSpPr txBox="1"/>
          <p:nvPr/>
        </p:nvSpPr>
        <p:spPr>
          <a:xfrm>
            <a:off x="7477454" y="3931920"/>
            <a:ext cx="1607515" cy="219456"/>
          </a:xfrm>
          <a:prstGeom prst="rect">
            <a:avLst/>
          </a:prstGeom>
          <a:noFill/>
          <a:ln>
            <a:noFill/>
          </a:ln>
        </p:spPr>
        <p:txBody>
          <a:bodyPr wrap="square" lIns="18288" tIns="18288" rIns="18288" bIns="18288" rtlCol="0" anchor="ctr"/>
          <a:lstStyle/>
          <a:p>
            <a:pPr marL="0" indent="0" algn="l">
              <a:buNone/>
            </a:pPr>
            <a:r>
              <a:rPr lang="ko-KR" altLang="en-US" sz="1000" b="1" dirty="0">
                <a:solidFill>
                  <a:srgbClr val="1A1A1A"/>
                </a:solidFill>
                <a:latin typeface="Pretendard"/>
                <a:ea typeface="Pretendard"/>
                <a:cs typeface="Pretendard"/>
              </a:rPr>
              <a:t>구간 3</a:t>
            </a:r>
          </a:p>
        </p:txBody>
      </p:sp>
      <p:sp>
        <p:nvSpPr>
          <p:cNvPr id="158" name="Segment 158"/>
          <p:cNvSpPr/>
          <p:nvPr/>
        </p:nvSpPr>
        <p:spPr>
          <a:xfrm>
            <a:off x="7477454" y="4151376"/>
            <a:ext cx="1607515" cy="438912"/>
          </a:xfrm>
          <a:prstGeom prst="roundRect">
            <a:avLst>
              <a:gd name="adj" fmla="val 8000"/>
            </a:avLst>
          </a:prstGeom>
          <a:noFill/>
          <a:ln w="12700">
            <a:solidFill>
              <a:srgbClr val="7F7F7F"/>
            </a:solidFill>
            <a:prstDash val="dash"/>
          </a:ln>
        </p:spPr>
        <p:txBody>
          <a:bodyPr wrap="square" lIns="54864" tIns="54864" rIns="54864" bIns="54864" rtlCol="0" anchor="ctr"/>
          <a:lstStyle/>
          <a:p>
            <a:endParaRPr lang="ko-KR"/>
          </a:p>
        </p:txBody>
      </p:sp>
      <p:sp>
        <p:nvSpPr>
          <p:cNvPr id="159" name="Shape 159"/>
          <p:cNvSpPr/>
          <p:nvPr/>
        </p:nvSpPr>
        <p:spPr>
          <a:xfrm>
            <a:off x="7550606" y="4233672"/>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11</a:t>
            </a:r>
          </a:p>
        </p:txBody>
      </p:sp>
      <p:sp>
        <p:nvSpPr>
          <p:cNvPr id="160" name="Shape 160"/>
          <p:cNvSpPr/>
          <p:nvPr/>
        </p:nvSpPr>
        <p:spPr>
          <a:xfrm>
            <a:off x="7854187" y="4233672"/>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12</a:t>
            </a:r>
          </a:p>
        </p:txBody>
      </p:sp>
      <p:sp>
        <p:nvSpPr>
          <p:cNvPr id="161" name="Shape 161"/>
          <p:cNvSpPr/>
          <p:nvPr/>
        </p:nvSpPr>
        <p:spPr>
          <a:xfrm>
            <a:off x="8157768" y="4233672"/>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13</a:t>
            </a:r>
          </a:p>
        </p:txBody>
      </p:sp>
      <p:sp>
        <p:nvSpPr>
          <p:cNvPr id="162" name="Shape 162"/>
          <p:cNvSpPr/>
          <p:nvPr/>
        </p:nvSpPr>
        <p:spPr>
          <a:xfrm>
            <a:off x="8461349" y="4233672"/>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14</a:t>
            </a:r>
          </a:p>
        </p:txBody>
      </p:sp>
      <p:sp>
        <p:nvSpPr>
          <p:cNvPr id="163" name="Shape 163"/>
          <p:cNvSpPr/>
          <p:nvPr/>
        </p:nvSpPr>
        <p:spPr>
          <a:xfrm>
            <a:off x="8764930" y="4233672"/>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15</a:t>
            </a:r>
          </a:p>
        </p:txBody>
      </p:sp>
      <p:sp>
        <p:nvSpPr>
          <p:cNvPr id="164" name="Line 164"/>
          <p:cNvSpPr/>
          <p:nvPr/>
        </p:nvSpPr>
        <p:spPr>
          <a:xfrm>
            <a:off x="8696350" y="4599432"/>
            <a:ext cx="0" cy="146304"/>
          </a:xfrm>
          <a:prstGeom prst="line">
            <a:avLst/>
          </a:prstGeom>
          <a:noFill/>
          <a:ln w="15875">
            <a:solidFill>
              <a:srgbClr val="595959"/>
            </a:solidFill>
            <a:prstDash val="solid"/>
            <a:tailEnd type="triangle"/>
          </a:ln>
        </p:spPr>
        <p:txBody>
          <a:bodyPr/>
          <a:lstStyle/>
          <a:p>
            <a:endParaRPr lang="ko-KR"/>
          </a:p>
        </p:txBody>
      </p:sp>
      <p:sp>
        <p:nvSpPr>
          <p:cNvPr id="165" name="Shape 165"/>
          <p:cNvSpPr/>
          <p:nvPr/>
        </p:nvSpPr>
        <p:spPr>
          <a:xfrm>
            <a:off x="8307730" y="4745736"/>
            <a:ext cx="777240" cy="256032"/>
          </a:xfrm>
          <a:prstGeom prst="roundRect">
            <a:avLst>
              <a:gd name="adj" fmla="val 5882"/>
            </a:avLst>
          </a:prstGeom>
          <a:solidFill>
            <a:srgbClr val="EDF2F9"/>
          </a:solidFill>
          <a:ln w="12700">
            <a:solidFill>
              <a:srgbClr val="2E5FA3"/>
            </a:solidFill>
          </a:ln>
        </p:spPr>
        <p:txBody>
          <a:bodyPr wrap="square" lIns="0" tIns="0" rIns="0" bIns="0" rtlCol="0" anchor="ctr"/>
          <a:lstStyle/>
          <a:p>
            <a:pPr marL="0" indent="0" algn="ctr">
              <a:buNone/>
            </a:pPr>
            <a:r>
              <a:rPr lang="ko-KR" altLang="en-US" sz="1000" b="1" dirty="0">
                <a:solidFill>
                  <a:srgbClr val="1F3864"/>
                </a:solidFill>
                <a:latin typeface="Pretendard"/>
                <a:ea typeface="Pretendard"/>
                <a:cs typeface="Pretendard"/>
              </a:rPr>
              <a:t>요약 S3</a:t>
            </a:r>
          </a:p>
        </p:txBody>
      </p:sp>
      <p:sp>
        <p:nvSpPr>
          <p:cNvPr id="166" name="TextBox 166"/>
          <p:cNvSpPr txBox="1"/>
          <p:nvPr/>
        </p:nvSpPr>
        <p:spPr>
          <a:xfrm>
            <a:off x="9286138" y="3931920"/>
            <a:ext cx="1607515" cy="219456"/>
          </a:xfrm>
          <a:prstGeom prst="rect">
            <a:avLst/>
          </a:prstGeom>
          <a:noFill/>
          <a:ln>
            <a:noFill/>
          </a:ln>
        </p:spPr>
        <p:txBody>
          <a:bodyPr wrap="square" lIns="18288" tIns="18288" rIns="18288" bIns="18288" rtlCol="0" anchor="ctr"/>
          <a:lstStyle/>
          <a:p>
            <a:pPr marL="0" indent="0" algn="l">
              <a:buNone/>
            </a:pPr>
            <a:r>
              <a:rPr lang="ko-KR" altLang="en-US" sz="1000" b="1" dirty="0">
                <a:solidFill>
                  <a:srgbClr val="1A1A1A"/>
                </a:solidFill>
                <a:latin typeface="Pretendard"/>
                <a:ea typeface="Pretendard"/>
                <a:cs typeface="Pretendard"/>
              </a:rPr>
              <a:t>구간 4</a:t>
            </a:r>
          </a:p>
        </p:txBody>
      </p:sp>
      <p:sp>
        <p:nvSpPr>
          <p:cNvPr id="167" name="Segment 167"/>
          <p:cNvSpPr/>
          <p:nvPr/>
        </p:nvSpPr>
        <p:spPr>
          <a:xfrm>
            <a:off x="9286138" y="4151376"/>
            <a:ext cx="1607515" cy="438912"/>
          </a:xfrm>
          <a:prstGeom prst="roundRect">
            <a:avLst>
              <a:gd name="adj" fmla="val 8000"/>
            </a:avLst>
          </a:prstGeom>
          <a:noFill/>
          <a:ln w="12700">
            <a:solidFill>
              <a:srgbClr val="7F7F7F"/>
            </a:solidFill>
            <a:prstDash val="dash"/>
          </a:ln>
        </p:spPr>
        <p:txBody>
          <a:bodyPr wrap="square" lIns="54864" tIns="54864" rIns="54864" bIns="54864" rtlCol="0" anchor="ctr"/>
          <a:lstStyle/>
          <a:p>
            <a:endParaRPr lang="ko-KR"/>
          </a:p>
        </p:txBody>
      </p:sp>
      <p:sp>
        <p:nvSpPr>
          <p:cNvPr id="168" name="Shape 168"/>
          <p:cNvSpPr/>
          <p:nvPr/>
        </p:nvSpPr>
        <p:spPr>
          <a:xfrm>
            <a:off x="9359290" y="4233672"/>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16</a:t>
            </a:r>
          </a:p>
        </p:txBody>
      </p:sp>
      <p:sp>
        <p:nvSpPr>
          <p:cNvPr id="169" name="Shape 169"/>
          <p:cNvSpPr/>
          <p:nvPr/>
        </p:nvSpPr>
        <p:spPr>
          <a:xfrm>
            <a:off x="9662870" y="4233672"/>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17</a:t>
            </a:r>
          </a:p>
        </p:txBody>
      </p:sp>
      <p:sp>
        <p:nvSpPr>
          <p:cNvPr id="170" name="Shape 170"/>
          <p:cNvSpPr/>
          <p:nvPr/>
        </p:nvSpPr>
        <p:spPr>
          <a:xfrm>
            <a:off x="9966451" y="4233672"/>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18</a:t>
            </a:r>
          </a:p>
        </p:txBody>
      </p:sp>
      <p:sp>
        <p:nvSpPr>
          <p:cNvPr id="171" name="Shape 171"/>
          <p:cNvSpPr/>
          <p:nvPr/>
        </p:nvSpPr>
        <p:spPr>
          <a:xfrm>
            <a:off x="10270032" y="4233672"/>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19</a:t>
            </a:r>
          </a:p>
        </p:txBody>
      </p:sp>
      <p:sp>
        <p:nvSpPr>
          <p:cNvPr id="172" name="Shape 172"/>
          <p:cNvSpPr/>
          <p:nvPr/>
        </p:nvSpPr>
        <p:spPr>
          <a:xfrm>
            <a:off x="10573613" y="4233672"/>
            <a:ext cx="246888" cy="274320"/>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000" dirty="0">
                <a:solidFill>
                  <a:srgbClr val="1A1A1A"/>
                </a:solidFill>
                <a:latin typeface="Pretendard"/>
                <a:ea typeface="Pretendard"/>
                <a:cs typeface="Pretendard"/>
              </a:rPr>
              <a:t>20</a:t>
            </a:r>
          </a:p>
        </p:txBody>
      </p:sp>
      <p:sp>
        <p:nvSpPr>
          <p:cNvPr id="173" name="Line 173"/>
          <p:cNvSpPr/>
          <p:nvPr/>
        </p:nvSpPr>
        <p:spPr>
          <a:xfrm>
            <a:off x="10505033" y="4599432"/>
            <a:ext cx="0" cy="146304"/>
          </a:xfrm>
          <a:prstGeom prst="line">
            <a:avLst/>
          </a:prstGeom>
          <a:noFill/>
          <a:ln w="15875">
            <a:solidFill>
              <a:srgbClr val="595959"/>
            </a:solidFill>
            <a:prstDash val="solid"/>
            <a:tailEnd type="triangle"/>
          </a:ln>
        </p:spPr>
        <p:txBody>
          <a:bodyPr/>
          <a:lstStyle/>
          <a:p>
            <a:endParaRPr lang="ko-KR"/>
          </a:p>
        </p:txBody>
      </p:sp>
      <p:sp>
        <p:nvSpPr>
          <p:cNvPr id="174" name="Shape 174"/>
          <p:cNvSpPr/>
          <p:nvPr/>
        </p:nvSpPr>
        <p:spPr>
          <a:xfrm>
            <a:off x="10116413" y="4745736"/>
            <a:ext cx="777240" cy="256032"/>
          </a:xfrm>
          <a:prstGeom prst="roundRect">
            <a:avLst>
              <a:gd name="adj" fmla="val 5882"/>
            </a:avLst>
          </a:prstGeom>
          <a:solidFill>
            <a:srgbClr val="EDF2F9"/>
          </a:solidFill>
          <a:ln w="12700">
            <a:solidFill>
              <a:srgbClr val="2E5FA3"/>
            </a:solidFill>
          </a:ln>
        </p:spPr>
        <p:txBody>
          <a:bodyPr wrap="square" lIns="0" tIns="0" rIns="0" bIns="0" rtlCol="0" anchor="ctr"/>
          <a:lstStyle/>
          <a:p>
            <a:pPr marL="0" indent="0" algn="ctr">
              <a:buNone/>
            </a:pPr>
            <a:r>
              <a:rPr lang="ko-KR" altLang="en-US" sz="1000" b="1" dirty="0">
                <a:solidFill>
                  <a:srgbClr val="1F3864"/>
                </a:solidFill>
                <a:latin typeface="Pretendard"/>
                <a:ea typeface="Pretendard"/>
                <a:cs typeface="Pretendard"/>
              </a:rPr>
              <a:t>요약 S4</a:t>
            </a:r>
          </a:p>
        </p:txBody>
      </p:sp>
      <p:sp>
        <p:nvSpPr>
          <p:cNvPr id="175" name="TextBox 175"/>
          <p:cNvSpPr txBox="1"/>
          <p:nvPr/>
        </p:nvSpPr>
        <p:spPr>
          <a:xfrm>
            <a:off x="3851390" y="5294376"/>
            <a:ext cx="7033565" cy="411480"/>
          </a:xfrm>
          <a:prstGeom prst="rect">
            <a:avLst/>
          </a:prstGeom>
          <a:noFill/>
          <a:ln>
            <a:noFill/>
          </a:ln>
        </p:spPr>
        <p:txBody>
          <a:bodyPr wrap="square" lIns="27432" tIns="27432" rIns="27432" bIns="27432" rtlCol="0" anchor="t"/>
          <a:lstStyle/>
          <a:p>
            <a:pPr marL="0" indent="0" algn="l">
              <a:buNone/>
            </a:pPr>
            <a:r>
              <a:rPr lang="ko-KR" altLang="en-US" sz="1050" b="1" dirty="0">
                <a:solidFill>
                  <a:srgbClr val="1F3864"/>
                </a:solidFill>
                <a:latin typeface="Pretendard"/>
                <a:ea typeface="Pretendard"/>
                <a:cs typeface="Pretendard"/>
              </a:rPr>
              <a:t>S (구간 끝 상태 요약) </a:t>
            </a:r>
            <a:r>
              <a:rPr lang="ko-KR" altLang="en-US" sz="1050" dirty="0">
                <a:latin typeface="Pretendard"/>
                <a:ea typeface="Pretendard"/>
                <a:cs typeface="Pretendard"/>
              </a:rPr>
              <a:t>= 구간 끝까지 확정된 상태를 공유 메모리 스키마(사실·제약·진행 계획)로 요약</a:t>
            </a:r>
          </a:p>
        </p:txBody>
      </p:sp>
      <p:sp>
        <p:nvSpPr>
          <p:cNvPr id="182" name="TextBox page"/>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a:ea typeface="Pretendard"/>
                <a:cs typeface="Pretendard"/>
              </a:rPr>
              <a:t>24</a:t>
            </a:r>
          </a:p>
        </p:txBody>
      </p:sp>
      <p:pic>
        <p:nvPicPr>
          <p:cNvPr id="15" name="그림 14">
            <a:extLst>
              <a:ext uri="{FF2B5EF4-FFF2-40B4-BE49-F238E27FC236}">
                <a16:creationId xmlns:a16="http://schemas.microsoft.com/office/drawing/2014/main" id="{12B1A62A-9992-3BF4-6E9B-92CE5DE7BD8C}"/>
              </a:ext>
            </a:extLst>
          </p:cNvPr>
          <p:cNvPicPr>
            <a:picLocks noChangeAspect="1"/>
          </p:cNvPicPr>
          <p:nvPr/>
        </p:nvPicPr>
        <p:blipFill>
          <a:blip r:embed="rId2"/>
          <a:stretch>
            <a:fillRect/>
          </a:stretch>
        </p:blipFill>
        <p:spPr>
          <a:xfrm>
            <a:off x="414507" y="2963527"/>
            <a:ext cx="2695757" cy="2218518"/>
          </a:xfrm>
          <a:prstGeom prst="rect">
            <a:avLst/>
          </a:prstGeom>
        </p:spPr>
      </p:pic>
      <p:sp>
        <p:nvSpPr>
          <p:cNvPr id="17" name="TextBox 16">
            <a:extLst>
              <a:ext uri="{FF2B5EF4-FFF2-40B4-BE49-F238E27FC236}">
                <a16:creationId xmlns:a16="http://schemas.microsoft.com/office/drawing/2014/main" id="{BCA94600-D04C-1A2F-615C-349536557B3B}"/>
              </a:ext>
            </a:extLst>
          </p:cNvPr>
          <p:cNvSpPr txBox="1"/>
          <p:nvPr/>
        </p:nvSpPr>
        <p:spPr>
          <a:xfrm>
            <a:off x="2906325" y="6127290"/>
            <a:ext cx="6096000" cy="307777"/>
          </a:xfrm>
          <a:prstGeom prst="rect">
            <a:avLst/>
          </a:prstGeom>
          <a:noFill/>
        </p:spPr>
        <p:txBody>
          <a:bodyPr wrap="square">
            <a:spAutoFit/>
          </a:bodyPr>
          <a:lstStyle/>
          <a:p>
            <a:pPr algn="ctr"/>
            <a:r>
              <a:rPr lang="ko-KR" altLang="ko-KR" sz="1400" b="1" dirty="0">
                <a:latin typeface="Pretendard"/>
                <a:ea typeface="Pretendard"/>
                <a:cs typeface="Pretendard"/>
              </a:rPr>
              <a:t>각 구간 끝 요약</a:t>
            </a:r>
            <a:r>
              <a:rPr lang="ko-KR" altLang="en-US" sz="1400" b="1" dirty="0">
                <a:latin typeface="Pretendard"/>
                <a:ea typeface="Pretendard"/>
                <a:cs typeface="Pretendard"/>
              </a:rPr>
              <a:t>들</a:t>
            </a:r>
            <a:r>
              <a:rPr lang="ko-KR" altLang="ko-KR" sz="1400" b="1" dirty="0">
                <a:latin typeface="Pretendard"/>
                <a:ea typeface="Pretendard"/>
                <a:cs typeface="Pretendard"/>
              </a:rPr>
              <a:t>(</a:t>
            </a:r>
            <a:r>
              <a:rPr lang="ko-KR" altLang="ko-KR" sz="1400" b="1" dirty="0" err="1">
                <a:latin typeface="Pretendard"/>
                <a:ea typeface="Pretendard"/>
                <a:cs typeface="Pretendard"/>
              </a:rPr>
              <a:t>S</a:t>
            </a:r>
            <a:r>
              <a:rPr lang="ko-KR" altLang="ko-KR" sz="1400" b="1" dirty="0">
                <a:latin typeface="Pretendard"/>
                <a:ea typeface="Pretendard"/>
                <a:cs typeface="Pretendard"/>
              </a:rPr>
              <a:t>)을</a:t>
            </a:r>
            <a:r>
              <a:rPr lang="en-US" altLang="ko-KR" sz="1400" b="1" dirty="0">
                <a:latin typeface="Pretendard"/>
                <a:ea typeface="Pretendard"/>
                <a:cs typeface="Pretendard"/>
              </a:rPr>
              <a:t> </a:t>
            </a:r>
            <a:r>
              <a:rPr lang="ko-KR" altLang="ko-KR" sz="1400" b="1" dirty="0">
                <a:latin typeface="Pretendard"/>
                <a:ea typeface="Pretendard"/>
                <a:cs typeface="Pretendard"/>
              </a:rPr>
              <a:t>순방향 검사</a:t>
            </a:r>
            <a:r>
              <a:rPr lang="ko-KR" altLang="en-US" sz="1400" b="1" dirty="0">
                <a:latin typeface="Pretendard"/>
                <a:ea typeface="Pretendard"/>
                <a:cs typeface="Pretendard"/>
              </a:rPr>
              <a:t>의 입력으로 사용</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1"/>
          <p:cNvSpPr txBox="1"/>
          <p:nvPr/>
        </p:nvSpPr>
        <p:spPr>
          <a:xfrm>
            <a:off x="502920" y="274320"/>
            <a:ext cx="11155680" cy="548640"/>
          </a:xfrm>
          <a:prstGeom prst="rect">
            <a:avLst/>
          </a:prstGeom>
          <a:noFill/>
          <a:ln>
            <a:noFill/>
          </a:ln>
        </p:spPr>
        <p:txBody>
          <a:bodyPr wrap="square" lIns="91440" tIns="91440" rIns="91440" bIns="91440" rtlCol="0" anchor="ctr"/>
          <a:lstStyle/>
          <a:p>
            <a:r>
              <a:rPr lang="en-US" altLang="ko-KR" sz="2500" b="1" dirty="0">
                <a:solidFill>
                  <a:srgbClr val="000000"/>
                </a:solidFill>
                <a:latin typeface="Pretendard"/>
                <a:ea typeface="Pretendard"/>
                <a:cs typeface="Pretendard"/>
              </a:rPr>
              <a:t>Develop</a:t>
            </a:r>
            <a:r>
              <a:rPr lang="ko-KR" altLang="en-US" sz="2500" b="1" dirty="0">
                <a:solidFill>
                  <a:srgbClr val="000000"/>
                </a:solidFill>
                <a:latin typeface="Pretendard"/>
                <a:ea typeface="Pretendard"/>
                <a:cs typeface="Pretendard"/>
              </a:rPr>
              <a:t>. 오류 귀인 방법론 확장 (2/2): 양방향 추적</a:t>
            </a:r>
          </a:p>
        </p:txBody>
      </p:sp>
      <p:sp>
        <p:nvSpPr>
          <p:cNvPr id="103" name="Shape 103"/>
          <p:cNvSpPr/>
          <p:nvPr/>
        </p:nvSpPr>
        <p:spPr>
          <a:xfrm>
            <a:off x="548640" y="1417320"/>
            <a:ext cx="2423160" cy="640080"/>
          </a:xfrm>
          <a:prstGeom prst="roundRect">
            <a:avLst>
              <a:gd name="adj" fmla="val 5882"/>
            </a:avLst>
          </a:prstGeom>
          <a:solidFill>
            <a:srgbClr val="F2F2F2"/>
          </a:solidFill>
          <a:ln w="12700">
            <a:solidFill>
              <a:srgbClr val="595959"/>
            </a:solidFill>
          </a:ln>
        </p:spPr>
        <p:txBody>
          <a:bodyPr wrap="square" lIns="54864" tIns="54864" rIns="54864" bIns="54864" rtlCol="0" anchor="ctr"/>
          <a:lstStyle/>
          <a:p>
            <a:pPr marL="0" indent="0" algn="ctr">
              <a:buNone/>
            </a:pPr>
            <a:r>
              <a:rPr lang="ko-KR" altLang="en-US" sz="1150" b="1" dirty="0">
                <a:solidFill>
                  <a:srgbClr val="1A1A1A"/>
                </a:solidFill>
                <a:latin typeface="Pretendard"/>
                <a:ea typeface="Pretendard"/>
                <a:cs typeface="Pretendard"/>
              </a:rPr>
              <a:t>구간 분할 결과</a:t>
            </a:r>
          </a:p>
          <a:p>
            <a:pPr marL="0" indent="0" algn="ctr">
              <a:buNone/>
            </a:pPr>
            <a:r>
              <a:rPr lang="ko-KR" altLang="en-US" sz="1000" dirty="0">
                <a:solidFill>
                  <a:srgbClr val="1A1A1A"/>
                </a:solidFill>
                <a:latin typeface="Pretendard"/>
                <a:ea typeface="Pretendard"/>
                <a:cs typeface="Pretendard"/>
              </a:rPr>
              <a:t>구간 1~4 + 요약 S1~S4</a:t>
            </a:r>
          </a:p>
        </p:txBody>
      </p:sp>
      <p:sp>
        <p:nvSpPr>
          <p:cNvPr id="104" name="Line 104"/>
          <p:cNvSpPr/>
          <p:nvPr/>
        </p:nvSpPr>
        <p:spPr>
          <a:xfrm>
            <a:off x="2971800" y="1737360"/>
            <a:ext cx="457200" cy="0"/>
          </a:xfrm>
          <a:prstGeom prst="line">
            <a:avLst/>
          </a:prstGeom>
          <a:noFill/>
          <a:ln w="22225">
            <a:solidFill>
              <a:srgbClr val="595959"/>
            </a:solidFill>
            <a:prstDash val="solid"/>
            <a:tailEnd type="triangle"/>
          </a:ln>
        </p:spPr>
        <p:txBody>
          <a:bodyPr/>
          <a:lstStyle/>
          <a:p>
            <a:endParaRPr lang="ko-KR"/>
          </a:p>
        </p:txBody>
      </p:sp>
      <p:sp>
        <p:nvSpPr>
          <p:cNvPr id="105" name="Shape 105"/>
          <p:cNvSpPr/>
          <p:nvPr/>
        </p:nvSpPr>
        <p:spPr>
          <a:xfrm>
            <a:off x="3429000" y="1417320"/>
            <a:ext cx="2423160" cy="640080"/>
          </a:xfrm>
          <a:prstGeom prst="roundRect">
            <a:avLst>
              <a:gd name="adj" fmla="val 5882"/>
            </a:avLst>
          </a:prstGeom>
          <a:solidFill>
            <a:srgbClr val="EDF2F9"/>
          </a:solidFill>
          <a:ln w="12700">
            <a:solidFill>
              <a:srgbClr val="2E5FA3"/>
            </a:solidFill>
          </a:ln>
        </p:spPr>
        <p:txBody>
          <a:bodyPr wrap="square" lIns="54864" tIns="54864" rIns="54864" bIns="54864" rtlCol="0" anchor="ctr"/>
          <a:lstStyle/>
          <a:p>
            <a:pPr marL="0" indent="0" algn="ctr">
              <a:buNone/>
            </a:pPr>
            <a:r>
              <a:rPr lang="ko-KR" altLang="en-US" sz="1150" b="1" dirty="0">
                <a:solidFill>
                  <a:srgbClr val="1A1A1A"/>
                </a:solidFill>
                <a:latin typeface="Pretendard"/>
                <a:ea typeface="Pretendard"/>
                <a:cs typeface="Pretendard"/>
              </a:rPr>
              <a:t>순방향 검사</a:t>
            </a:r>
          </a:p>
          <a:p>
            <a:pPr marL="0" indent="0" algn="ctr">
              <a:buNone/>
            </a:pPr>
            <a:r>
              <a:rPr lang="ko-KR" altLang="en-US" sz="1000" dirty="0">
                <a:solidFill>
                  <a:srgbClr val="1A1A1A"/>
                </a:solidFill>
                <a:latin typeface="Pretendard"/>
                <a:ea typeface="Pretendard"/>
                <a:cs typeface="Pretendard"/>
              </a:rPr>
              <a:t>결함이 처음 드러난 구간 탐색</a:t>
            </a:r>
          </a:p>
        </p:txBody>
      </p:sp>
      <p:sp>
        <p:nvSpPr>
          <p:cNvPr id="106" name="Badge 106"/>
          <p:cNvSpPr/>
          <p:nvPr/>
        </p:nvSpPr>
        <p:spPr>
          <a:xfrm>
            <a:off x="3310128" y="1280160"/>
            <a:ext cx="274320" cy="274320"/>
          </a:xfrm>
          <a:prstGeom prst="ellipse">
            <a:avLst/>
          </a:prstGeom>
          <a:solidFill>
            <a:srgbClr val="FF0000"/>
          </a:solidFill>
          <a:ln>
            <a:noFill/>
          </a:ln>
        </p:spPr>
        <p:txBody>
          <a:bodyPr wrap="square" lIns="0" tIns="0" rIns="0" bIns="0" rtlCol="0" anchor="ctr"/>
          <a:lstStyle/>
          <a:p>
            <a:pPr marL="0" indent="0" algn="ctr">
              <a:buNone/>
            </a:pPr>
            <a:r>
              <a:rPr lang="ko-KR" altLang="en-US" sz="1100" b="1" dirty="0">
                <a:solidFill>
                  <a:srgbClr val="FFFFFF"/>
                </a:solidFill>
                <a:latin typeface="Pretendard"/>
                <a:ea typeface="Pretendard"/>
                <a:cs typeface="Pretendard"/>
              </a:rPr>
              <a:t>1</a:t>
            </a:r>
          </a:p>
        </p:txBody>
      </p:sp>
      <p:sp>
        <p:nvSpPr>
          <p:cNvPr id="107" name="Line 107"/>
          <p:cNvSpPr/>
          <p:nvPr/>
        </p:nvSpPr>
        <p:spPr>
          <a:xfrm>
            <a:off x="5852160" y="1737360"/>
            <a:ext cx="457200" cy="0"/>
          </a:xfrm>
          <a:prstGeom prst="line">
            <a:avLst/>
          </a:prstGeom>
          <a:noFill/>
          <a:ln w="22225">
            <a:solidFill>
              <a:srgbClr val="595959"/>
            </a:solidFill>
            <a:prstDash val="solid"/>
            <a:tailEnd type="triangle"/>
          </a:ln>
        </p:spPr>
        <p:txBody>
          <a:bodyPr/>
          <a:lstStyle/>
          <a:p>
            <a:endParaRPr lang="ko-KR"/>
          </a:p>
        </p:txBody>
      </p:sp>
      <p:sp>
        <p:nvSpPr>
          <p:cNvPr id="108" name="Shape 108"/>
          <p:cNvSpPr/>
          <p:nvPr/>
        </p:nvSpPr>
        <p:spPr>
          <a:xfrm>
            <a:off x="6309360" y="1417320"/>
            <a:ext cx="2423160" cy="640080"/>
          </a:xfrm>
          <a:prstGeom prst="roundRect">
            <a:avLst>
              <a:gd name="adj" fmla="val 5882"/>
            </a:avLst>
          </a:prstGeom>
          <a:solidFill>
            <a:srgbClr val="EDF2F9"/>
          </a:solidFill>
          <a:ln w="12700">
            <a:solidFill>
              <a:srgbClr val="2E5FA3"/>
            </a:solidFill>
          </a:ln>
        </p:spPr>
        <p:txBody>
          <a:bodyPr wrap="square" lIns="54864" tIns="54864" rIns="54864" bIns="54864" rtlCol="0" anchor="ctr"/>
          <a:lstStyle/>
          <a:p>
            <a:pPr marL="0" indent="0" algn="ctr">
              <a:buNone/>
            </a:pPr>
            <a:r>
              <a:rPr lang="ko-KR" altLang="en-US" sz="1150" b="1" dirty="0">
                <a:solidFill>
                  <a:srgbClr val="1A1A1A"/>
                </a:solidFill>
                <a:latin typeface="Pretendard"/>
                <a:ea typeface="Pretendard"/>
                <a:cs typeface="Pretendard"/>
              </a:rPr>
              <a:t>구간 내 역방향 판정</a:t>
            </a:r>
          </a:p>
          <a:p>
            <a:pPr marL="0" indent="0" algn="ctr">
              <a:buNone/>
            </a:pPr>
            <a:r>
              <a:rPr lang="ko-KR" altLang="en-US" sz="1000" dirty="0">
                <a:solidFill>
                  <a:srgbClr val="1A1A1A"/>
                </a:solidFill>
                <a:latin typeface="Pretendard"/>
                <a:ea typeface="Pretendard"/>
                <a:cs typeface="Pretendard"/>
              </a:rPr>
              <a:t>발생·상속 판정으로 s* 식별</a:t>
            </a:r>
          </a:p>
        </p:txBody>
      </p:sp>
      <p:sp>
        <p:nvSpPr>
          <p:cNvPr id="109" name="Badge 109"/>
          <p:cNvSpPr/>
          <p:nvPr/>
        </p:nvSpPr>
        <p:spPr>
          <a:xfrm>
            <a:off x="6190488" y="1280160"/>
            <a:ext cx="274320" cy="274320"/>
          </a:xfrm>
          <a:prstGeom prst="ellipse">
            <a:avLst/>
          </a:prstGeom>
          <a:solidFill>
            <a:srgbClr val="FF0000"/>
          </a:solidFill>
          <a:ln>
            <a:noFill/>
          </a:ln>
        </p:spPr>
        <p:txBody>
          <a:bodyPr wrap="square" lIns="0" tIns="0" rIns="0" bIns="0" rtlCol="0" anchor="ctr"/>
          <a:lstStyle/>
          <a:p>
            <a:pPr marL="0" indent="0" algn="ctr">
              <a:buNone/>
            </a:pPr>
            <a:r>
              <a:rPr lang="ko-KR" altLang="en-US" sz="1100" b="1" dirty="0">
                <a:solidFill>
                  <a:srgbClr val="FFFFFF"/>
                </a:solidFill>
                <a:latin typeface="Pretendard"/>
                <a:ea typeface="Pretendard"/>
                <a:cs typeface="Pretendard"/>
              </a:rPr>
              <a:t>2</a:t>
            </a:r>
          </a:p>
        </p:txBody>
      </p:sp>
      <p:sp>
        <p:nvSpPr>
          <p:cNvPr id="110" name="Line 110"/>
          <p:cNvSpPr/>
          <p:nvPr/>
        </p:nvSpPr>
        <p:spPr>
          <a:xfrm>
            <a:off x="8732520" y="1737360"/>
            <a:ext cx="457200" cy="0"/>
          </a:xfrm>
          <a:prstGeom prst="line">
            <a:avLst/>
          </a:prstGeom>
          <a:noFill/>
          <a:ln w="22225">
            <a:solidFill>
              <a:srgbClr val="595959"/>
            </a:solidFill>
            <a:prstDash val="solid"/>
            <a:tailEnd type="triangle"/>
          </a:ln>
        </p:spPr>
        <p:txBody>
          <a:bodyPr/>
          <a:lstStyle/>
          <a:p>
            <a:endParaRPr lang="ko-KR"/>
          </a:p>
        </p:txBody>
      </p:sp>
      <p:sp>
        <p:nvSpPr>
          <p:cNvPr id="111" name="Shape 111"/>
          <p:cNvSpPr/>
          <p:nvPr/>
        </p:nvSpPr>
        <p:spPr>
          <a:xfrm>
            <a:off x="9189720" y="1417320"/>
            <a:ext cx="2423160" cy="640080"/>
          </a:xfrm>
          <a:prstGeom prst="roundRect">
            <a:avLst>
              <a:gd name="adj" fmla="val 5882"/>
            </a:avLst>
          </a:prstGeom>
          <a:solidFill>
            <a:srgbClr val="FBEAE8"/>
          </a:solidFill>
          <a:ln w="12700">
            <a:solidFill>
              <a:srgbClr val="C0392B"/>
            </a:solidFill>
          </a:ln>
        </p:spPr>
        <p:txBody>
          <a:bodyPr wrap="square" lIns="54864" tIns="54864" rIns="54864" bIns="54864" rtlCol="0" anchor="ctr"/>
          <a:lstStyle/>
          <a:p>
            <a:pPr marL="0" indent="0" algn="ctr">
              <a:buNone/>
            </a:pPr>
            <a:r>
              <a:rPr lang="ko-KR" altLang="en-US" sz="1150" b="1" dirty="0">
                <a:solidFill>
                  <a:srgbClr val="1A1A1A"/>
                </a:solidFill>
                <a:latin typeface="Pretendard"/>
                <a:ea typeface="Pretendard"/>
                <a:cs typeface="Pretendard"/>
              </a:rPr>
              <a:t>결정적 오류 단계 s*</a:t>
            </a:r>
          </a:p>
          <a:p>
            <a:pPr marL="0" indent="0" algn="ctr">
              <a:buNone/>
            </a:pPr>
            <a:r>
              <a:rPr lang="ko-KR" altLang="en-US" sz="1000" dirty="0">
                <a:solidFill>
                  <a:srgbClr val="1A1A1A"/>
                </a:solidFill>
                <a:latin typeface="Pretendard"/>
                <a:ea typeface="Pretendard"/>
                <a:cs typeface="Pretendard"/>
              </a:rPr>
              <a:t>Phase 2 교정으로 전달</a:t>
            </a:r>
          </a:p>
        </p:txBody>
      </p:sp>
      <p:sp>
        <p:nvSpPr>
          <p:cNvPr id="112" name="Group 112"/>
          <p:cNvSpPr/>
          <p:nvPr/>
        </p:nvSpPr>
        <p:spPr>
          <a:xfrm>
            <a:off x="548640" y="2212848"/>
            <a:ext cx="11064240" cy="3529584"/>
          </a:xfrm>
          <a:prstGeom prst="roundRect">
            <a:avLst>
              <a:gd name="adj" fmla="val 3000"/>
            </a:avLst>
          </a:prstGeom>
          <a:noFill/>
          <a:ln w="12700">
            <a:solidFill>
              <a:srgbClr val="BFBFBF"/>
            </a:solidFill>
            <a:prstDash val="dash"/>
          </a:ln>
        </p:spPr>
        <p:txBody>
          <a:bodyPr wrap="square" lIns="54864" tIns="54864" rIns="54864" bIns="54864" rtlCol="0" anchor="ctr"/>
          <a:lstStyle/>
          <a:p>
            <a:endParaRPr lang="ko-KR"/>
          </a:p>
        </p:txBody>
      </p:sp>
      <p:sp>
        <p:nvSpPr>
          <p:cNvPr id="113" name="TextBox 113"/>
          <p:cNvSpPr txBox="1"/>
          <p:nvPr/>
        </p:nvSpPr>
        <p:spPr>
          <a:xfrm>
            <a:off x="658368" y="2249424"/>
            <a:ext cx="2743200" cy="274320"/>
          </a:xfrm>
          <a:prstGeom prst="rect">
            <a:avLst/>
          </a:prstGeom>
          <a:noFill/>
          <a:ln>
            <a:noFill/>
          </a:ln>
        </p:spPr>
        <p:txBody>
          <a:bodyPr wrap="square" lIns="27432" tIns="27432" rIns="27432" bIns="27432" rtlCol="0" anchor="ctr"/>
          <a:lstStyle/>
          <a:p>
            <a:pPr marL="0" indent="0" algn="l">
              <a:buNone/>
            </a:pPr>
            <a:r>
              <a:rPr lang="ko-KR" altLang="en-US" sz="1200" b="1" dirty="0">
                <a:solidFill>
                  <a:srgbClr val="1A1A1A"/>
                </a:solidFill>
                <a:latin typeface="Pretendard"/>
                <a:ea typeface="Pretendard"/>
                <a:cs typeface="Pretendard"/>
              </a:rPr>
              <a:t>양방향 추적 도식</a:t>
            </a:r>
          </a:p>
        </p:txBody>
      </p:sp>
      <p:sp>
        <p:nvSpPr>
          <p:cNvPr id="114" name="Badge 114"/>
          <p:cNvSpPr/>
          <p:nvPr/>
        </p:nvSpPr>
        <p:spPr>
          <a:xfrm>
            <a:off x="777240" y="2578608"/>
            <a:ext cx="256032" cy="256032"/>
          </a:xfrm>
          <a:prstGeom prst="ellipse">
            <a:avLst/>
          </a:prstGeom>
          <a:solidFill>
            <a:srgbClr val="FF0000"/>
          </a:solidFill>
          <a:ln>
            <a:noFill/>
          </a:ln>
        </p:spPr>
        <p:txBody>
          <a:bodyPr wrap="square" lIns="0" tIns="0" rIns="0" bIns="0" rtlCol="0" anchor="ctr"/>
          <a:lstStyle/>
          <a:p>
            <a:pPr marL="0" indent="0" algn="ctr">
              <a:buNone/>
            </a:pPr>
            <a:r>
              <a:rPr lang="ko-KR" altLang="en-US" sz="1100" b="1" dirty="0">
                <a:solidFill>
                  <a:srgbClr val="FFFFFF"/>
                </a:solidFill>
                <a:latin typeface="Pretendard"/>
                <a:ea typeface="Pretendard"/>
                <a:cs typeface="Pretendard"/>
              </a:rPr>
              <a:t>1</a:t>
            </a:r>
          </a:p>
        </p:txBody>
      </p:sp>
      <p:sp>
        <p:nvSpPr>
          <p:cNvPr id="115" name="TextBox 115"/>
          <p:cNvSpPr txBox="1"/>
          <p:nvPr/>
        </p:nvSpPr>
        <p:spPr>
          <a:xfrm>
            <a:off x="1078992" y="2542032"/>
            <a:ext cx="10241280" cy="329184"/>
          </a:xfrm>
          <a:prstGeom prst="rect">
            <a:avLst/>
          </a:prstGeom>
          <a:noFill/>
          <a:ln>
            <a:noFill/>
          </a:ln>
        </p:spPr>
        <p:txBody>
          <a:bodyPr wrap="square" lIns="27432" tIns="27432" rIns="27432" bIns="27432" rtlCol="0" anchor="ctr"/>
          <a:lstStyle/>
          <a:p>
            <a:r>
              <a:rPr lang="ko-KR" altLang="en-US" sz="1100" b="1" dirty="0">
                <a:solidFill>
                  <a:srgbClr val="2E5FA3"/>
                </a:solidFill>
                <a:latin typeface="Pretendard"/>
                <a:ea typeface="Pretendard"/>
                <a:cs typeface="Pretendard"/>
              </a:rPr>
              <a:t>순방향 · </a:t>
            </a:r>
            <a:r>
              <a:rPr lang="ko-KR" altLang="ko-KR" sz="1100" dirty="0">
                <a:latin typeface="Pretendard"/>
                <a:ea typeface="Pretendard"/>
                <a:cs typeface="Pretendard"/>
              </a:rPr>
              <a:t>구간 끝 요약 S1~S4를 한 번에 비교하여, 결함의 신호가 처음 나타나는 구간을 찾음</a:t>
            </a:r>
            <a:endParaRPr lang="ko-KR" altLang="en-US" sz="1100" dirty="0">
              <a:latin typeface="Pretendard"/>
              <a:ea typeface="Pretendard"/>
              <a:cs typeface="Pretendard"/>
            </a:endParaRPr>
          </a:p>
        </p:txBody>
      </p:sp>
      <p:sp>
        <p:nvSpPr>
          <p:cNvPr id="116" name="Line 116"/>
          <p:cNvSpPr/>
          <p:nvPr/>
        </p:nvSpPr>
        <p:spPr>
          <a:xfrm flipV="1">
            <a:off x="777240" y="2990088"/>
            <a:ext cx="10607040" cy="9144"/>
          </a:xfrm>
          <a:prstGeom prst="line">
            <a:avLst/>
          </a:prstGeom>
          <a:noFill/>
          <a:ln w="22225">
            <a:solidFill>
              <a:srgbClr val="2E5FA3"/>
            </a:solidFill>
            <a:prstDash val="solid"/>
            <a:tailEnd type="triangle"/>
          </a:ln>
        </p:spPr>
        <p:txBody>
          <a:bodyPr/>
          <a:lstStyle/>
          <a:p>
            <a:endParaRPr lang="ko-KR"/>
          </a:p>
        </p:txBody>
      </p:sp>
      <p:sp>
        <p:nvSpPr>
          <p:cNvPr id="117" name="Shape 117"/>
          <p:cNvSpPr/>
          <p:nvPr/>
        </p:nvSpPr>
        <p:spPr>
          <a:xfrm>
            <a:off x="777240" y="3108960"/>
            <a:ext cx="2066544" cy="246888"/>
          </a:xfrm>
          <a:prstGeom prst="roundRect">
            <a:avLst>
              <a:gd name="adj" fmla="val 5882"/>
            </a:avLst>
          </a:prstGeom>
          <a:solidFill>
            <a:srgbClr val="E8F5EE"/>
          </a:solidFill>
          <a:ln w="12700">
            <a:solidFill>
              <a:srgbClr val="1E7A46"/>
            </a:solidFill>
          </a:ln>
        </p:spPr>
        <p:txBody>
          <a:bodyPr wrap="square" lIns="9144" tIns="9144" rIns="9144" bIns="9144" rtlCol="0" anchor="ctr"/>
          <a:lstStyle/>
          <a:p>
            <a:pPr marL="0" indent="0" algn="ctr">
              <a:buNone/>
            </a:pPr>
            <a:r>
              <a:rPr lang="ko-KR" altLang="en-US" sz="1050" b="1" dirty="0">
                <a:solidFill>
                  <a:srgbClr val="1E7A46"/>
                </a:solidFill>
                <a:latin typeface="Pretendard"/>
                <a:ea typeface="Pretendard"/>
                <a:cs typeface="Pretendard"/>
              </a:rPr>
              <a:t>S1 정상 ✓</a:t>
            </a:r>
          </a:p>
        </p:txBody>
      </p:sp>
      <p:sp>
        <p:nvSpPr>
          <p:cNvPr id="118" name="Segment 118"/>
          <p:cNvSpPr/>
          <p:nvPr/>
        </p:nvSpPr>
        <p:spPr>
          <a:xfrm>
            <a:off x="777240" y="3584448"/>
            <a:ext cx="2066544" cy="1298448"/>
          </a:xfrm>
          <a:prstGeom prst="roundRect">
            <a:avLst>
              <a:gd name="adj" fmla="val 6000"/>
            </a:avLst>
          </a:prstGeom>
          <a:noFill/>
          <a:ln w="12700">
            <a:solidFill>
              <a:srgbClr val="BFBFBF"/>
            </a:solidFill>
            <a:prstDash val="dash"/>
          </a:ln>
        </p:spPr>
        <p:txBody>
          <a:bodyPr wrap="square" lIns="54864" tIns="54864" rIns="54864" bIns="54864" rtlCol="0" anchor="ctr"/>
          <a:lstStyle/>
          <a:p>
            <a:endParaRPr lang="ko-KR"/>
          </a:p>
        </p:txBody>
      </p:sp>
      <p:sp>
        <p:nvSpPr>
          <p:cNvPr id="119" name="TextBox 119"/>
          <p:cNvSpPr txBox="1"/>
          <p:nvPr/>
        </p:nvSpPr>
        <p:spPr>
          <a:xfrm>
            <a:off x="832104" y="3602736"/>
            <a:ext cx="1097280" cy="237744"/>
          </a:xfrm>
          <a:prstGeom prst="rect">
            <a:avLst/>
          </a:prstGeom>
          <a:noFill/>
          <a:ln>
            <a:noFill/>
          </a:ln>
        </p:spPr>
        <p:txBody>
          <a:bodyPr wrap="square" lIns="18288" tIns="18288" rIns="18288" bIns="18288" rtlCol="0" anchor="ctr"/>
          <a:lstStyle/>
          <a:p>
            <a:pPr marL="0" indent="0" algn="l">
              <a:buNone/>
            </a:pPr>
            <a:r>
              <a:rPr lang="ko-KR" altLang="en-US" sz="1000" b="1" dirty="0">
                <a:solidFill>
                  <a:srgbClr val="1A1A1A"/>
                </a:solidFill>
                <a:latin typeface="Pretendard"/>
                <a:ea typeface="Pretendard"/>
                <a:cs typeface="Pretendard"/>
              </a:rPr>
              <a:t>구간 1</a:t>
            </a:r>
          </a:p>
        </p:txBody>
      </p:sp>
      <p:sp>
        <p:nvSpPr>
          <p:cNvPr id="120" name="Shape 120"/>
          <p:cNvSpPr/>
          <p:nvPr/>
        </p:nvSpPr>
        <p:spPr>
          <a:xfrm>
            <a:off x="960120" y="3968496"/>
            <a:ext cx="356616" cy="329184"/>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100" dirty="0">
                <a:solidFill>
                  <a:srgbClr val="1A1A1A"/>
                </a:solidFill>
                <a:latin typeface="Pretendard"/>
                <a:ea typeface="Pretendard"/>
                <a:cs typeface="Pretendard"/>
              </a:rPr>
              <a:t>1</a:t>
            </a:r>
          </a:p>
        </p:txBody>
      </p:sp>
      <p:sp>
        <p:nvSpPr>
          <p:cNvPr id="121" name="Shape 121"/>
          <p:cNvSpPr/>
          <p:nvPr/>
        </p:nvSpPr>
        <p:spPr>
          <a:xfrm>
            <a:off x="1408176" y="3968496"/>
            <a:ext cx="356616" cy="329184"/>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100" dirty="0">
                <a:solidFill>
                  <a:srgbClr val="1A1A1A"/>
                </a:solidFill>
                <a:latin typeface="Pretendard"/>
                <a:ea typeface="Pretendard"/>
                <a:cs typeface="Pretendard"/>
              </a:rPr>
              <a:t>2</a:t>
            </a:r>
          </a:p>
        </p:txBody>
      </p:sp>
      <p:sp>
        <p:nvSpPr>
          <p:cNvPr id="122" name="Shape 122"/>
          <p:cNvSpPr/>
          <p:nvPr/>
        </p:nvSpPr>
        <p:spPr>
          <a:xfrm>
            <a:off x="1856232" y="3968496"/>
            <a:ext cx="356616" cy="329184"/>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100" dirty="0">
                <a:solidFill>
                  <a:srgbClr val="1A1A1A"/>
                </a:solidFill>
                <a:latin typeface="Pretendard"/>
                <a:ea typeface="Pretendard"/>
                <a:cs typeface="Pretendard"/>
              </a:rPr>
              <a:t>3</a:t>
            </a:r>
          </a:p>
        </p:txBody>
      </p:sp>
      <p:sp>
        <p:nvSpPr>
          <p:cNvPr id="123" name="Shape 123"/>
          <p:cNvSpPr/>
          <p:nvPr/>
        </p:nvSpPr>
        <p:spPr>
          <a:xfrm>
            <a:off x="2304288" y="3968496"/>
            <a:ext cx="356616" cy="329184"/>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100" dirty="0">
                <a:solidFill>
                  <a:srgbClr val="1A1A1A"/>
                </a:solidFill>
                <a:latin typeface="Pretendard"/>
                <a:ea typeface="Pretendard"/>
                <a:cs typeface="Pretendard"/>
              </a:rPr>
              <a:t>4</a:t>
            </a:r>
          </a:p>
        </p:txBody>
      </p:sp>
      <p:sp>
        <p:nvSpPr>
          <p:cNvPr id="124" name="Shape 124"/>
          <p:cNvSpPr/>
          <p:nvPr/>
        </p:nvSpPr>
        <p:spPr>
          <a:xfrm>
            <a:off x="3026664" y="3108960"/>
            <a:ext cx="2962656" cy="246888"/>
          </a:xfrm>
          <a:prstGeom prst="roundRect">
            <a:avLst>
              <a:gd name="adj" fmla="val 5882"/>
            </a:avLst>
          </a:prstGeom>
          <a:solidFill>
            <a:srgbClr val="E8F5EE"/>
          </a:solidFill>
          <a:ln w="12700">
            <a:solidFill>
              <a:srgbClr val="1E7A46"/>
            </a:solidFill>
          </a:ln>
        </p:spPr>
        <p:txBody>
          <a:bodyPr wrap="square" lIns="9144" tIns="9144" rIns="9144" bIns="9144" rtlCol="0" anchor="ctr"/>
          <a:lstStyle/>
          <a:p>
            <a:pPr marL="0" indent="0" algn="ctr">
              <a:buNone/>
            </a:pPr>
            <a:r>
              <a:rPr lang="ko-KR" altLang="en-US" sz="1050" b="1" dirty="0">
                <a:solidFill>
                  <a:srgbClr val="1E7A46"/>
                </a:solidFill>
                <a:latin typeface="Pretendard"/>
                <a:ea typeface="Pretendard"/>
                <a:cs typeface="Pretendard"/>
              </a:rPr>
              <a:t>S2 정상 ✓</a:t>
            </a:r>
          </a:p>
        </p:txBody>
      </p:sp>
      <p:sp>
        <p:nvSpPr>
          <p:cNvPr id="125" name="Segment 125"/>
          <p:cNvSpPr/>
          <p:nvPr/>
        </p:nvSpPr>
        <p:spPr>
          <a:xfrm>
            <a:off x="3026664" y="3584448"/>
            <a:ext cx="2962656" cy="1298448"/>
          </a:xfrm>
          <a:prstGeom prst="roundRect">
            <a:avLst>
              <a:gd name="adj" fmla="val 6000"/>
            </a:avLst>
          </a:prstGeom>
          <a:noFill/>
          <a:ln w="12700">
            <a:solidFill>
              <a:srgbClr val="BFBFBF"/>
            </a:solidFill>
            <a:prstDash val="dash"/>
          </a:ln>
        </p:spPr>
        <p:txBody>
          <a:bodyPr wrap="square" lIns="54864" tIns="54864" rIns="54864" bIns="54864" rtlCol="0" anchor="ctr"/>
          <a:lstStyle/>
          <a:p>
            <a:endParaRPr lang="ko-KR"/>
          </a:p>
        </p:txBody>
      </p:sp>
      <p:sp>
        <p:nvSpPr>
          <p:cNvPr id="126" name="TextBox 126"/>
          <p:cNvSpPr txBox="1"/>
          <p:nvPr/>
        </p:nvSpPr>
        <p:spPr>
          <a:xfrm>
            <a:off x="3081528" y="3602736"/>
            <a:ext cx="1097280" cy="237744"/>
          </a:xfrm>
          <a:prstGeom prst="rect">
            <a:avLst/>
          </a:prstGeom>
          <a:noFill/>
          <a:ln>
            <a:noFill/>
          </a:ln>
        </p:spPr>
        <p:txBody>
          <a:bodyPr wrap="square" lIns="18288" tIns="18288" rIns="18288" bIns="18288" rtlCol="0" anchor="ctr"/>
          <a:lstStyle/>
          <a:p>
            <a:pPr marL="0" indent="0" algn="l">
              <a:buNone/>
            </a:pPr>
            <a:r>
              <a:rPr lang="ko-KR" altLang="en-US" sz="1000" b="1" dirty="0">
                <a:solidFill>
                  <a:srgbClr val="1A1A1A"/>
                </a:solidFill>
                <a:latin typeface="Pretendard"/>
                <a:ea typeface="Pretendard"/>
                <a:cs typeface="Pretendard"/>
              </a:rPr>
              <a:t>구간 2</a:t>
            </a:r>
          </a:p>
        </p:txBody>
      </p:sp>
      <p:sp>
        <p:nvSpPr>
          <p:cNvPr id="127" name="Shape 127"/>
          <p:cNvSpPr/>
          <p:nvPr/>
        </p:nvSpPr>
        <p:spPr>
          <a:xfrm>
            <a:off x="3209544" y="3968496"/>
            <a:ext cx="356616" cy="329184"/>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100" dirty="0">
                <a:solidFill>
                  <a:srgbClr val="1A1A1A"/>
                </a:solidFill>
                <a:latin typeface="Pretendard"/>
                <a:ea typeface="Pretendard"/>
                <a:cs typeface="Pretendard"/>
              </a:rPr>
              <a:t>5</a:t>
            </a:r>
          </a:p>
        </p:txBody>
      </p:sp>
      <p:sp>
        <p:nvSpPr>
          <p:cNvPr id="128" name="Shape 128"/>
          <p:cNvSpPr/>
          <p:nvPr/>
        </p:nvSpPr>
        <p:spPr>
          <a:xfrm>
            <a:off x="3657600" y="3968496"/>
            <a:ext cx="356616" cy="329184"/>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100" dirty="0">
                <a:solidFill>
                  <a:srgbClr val="1A1A1A"/>
                </a:solidFill>
                <a:latin typeface="Pretendard"/>
                <a:ea typeface="Pretendard"/>
                <a:cs typeface="Pretendard"/>
              </a:rPr>
              <a:t>6</a:t>
            </a:r>
          </a:p>
        </p:txBody>
      </p:sp>
      <p:sp>
        <p:nvSpPr>
          <p:cNvPr id="129" name="Shape 129"/>
          <p:cNvSpPr/>
          <p:nvPr/>
        </p:nvSpPr>
        <p:spPr>
          <a:xfrm>
            <a:off x="4105656" y="3968496"/>
            <a:ext cx="356616" cy="329184"/>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100" dirty="0">
                <a:solidFill>
                  <a:srgbClr val="1A1A1A"/>
                </a:solidFill>
                <a:latin typeface="Pretendard"/>
                <a:ea typeface="Pretendard"/>
                <a:cs typeface="Pretendard"/>
              </a:rPr>
              <a:t>7</a:t>
            </a:r>
          </a:p>
        </p:txBody>
      </p:sp>
      <p:sp>
        <p:nvSpPr>
          <p:cNvPr id="130" name="Shape 130"/>
          <p:cNvSpPr/>
          <p:nvPr/>
        </p:nvSpPr>
        <p:spPr>
          <a:xfrm>
            <a:off x="4553712" y="3968496"/>
            <a:ext cx="356616" cy="329184"/>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100" dirty="0">
                <a:solidFill>
                  <a:srgbClr val="1A1A1A"/>
                </a:solidFill>
                <a:latin typeface="Pretendard"/>
                <a:ea typeface="Pretendard"/>
                <a:cs typeface="Pretendard"/>
              </a:rPr>
              <a:t>8</a:t>
            </a:r>
          </a:p>
        </p:txBody>
      </p:sp>
      <p:sp>
        <p:nvSpPr>
          <p:cNvPr id="131" name="Shape 131"/>
          <p:cNvSpPr/>
          <p:nvPr/>
        </p:nvSpPr>
        <p:spPr>
          <a:xfrm>
            <a:off x="5001768" y="3968496"/>
            <a:ext cx="356616" cy="329184"/>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100" dirty="0">
                <a:solidFill>
                  <a:srgbClr val="1A1A1A"/>
                </a:solidFill>
                <a:latin typeface="Pretendard"/>
                <a:ea typeface="Pretendard"/>
                <a:cs typeface="Pretendard"/>
              </a:rPr>
              <a:t>9</a:t>
            </a:r>
          </a:p>
        </p:txBody>
      </p:sp>
      <p:sp>
        <p:nvSpPr>
          <p:cNvPr id="132" name="Shape 132"/>
          <p:cNvSpPr/>
          <p:nvPr/>
        </p:nvSpPr>
        <p:spPr>
          <a:xfrm>
            <a:off x="5449824" y="3968496"/>
            <a:ext cx="356616" cy="329184"/>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100" dirty="0">
                <a:solidFill>
                  <a:srgbClr val="1A1A1A"/>
                </a:solidFill>
                <a:latin typeface="Pretendard"/>
                <a:ea typeface="Pretendard"/>
                <a:cs typeface="Pretendard"/>
              </a:rPr>
              <a:t>10</a:t>
            </a:r>
          </a:p>
        </p:txBody>
      </p:sp>
      <p:sp>
        <p:nvSpPr>
          <p:cNvPr id="133" name="Shape 133"/>
          <p:cNvSpPr/>
          <p:nvPr/>
        </p:nvSpPr>
        <p:spPr>
          <a:xfrm>
            <a:off x="6172200" y="3108960"/>
            <a:ext cx="2514600" cy="246888"/>
          </a:xfrm>
          <a:prstGeom prst="roundRect">
            <a:avLst>
              <a:gd name="adj" fmla="val 5882"/>
            </a:avLst>
          </a:prstGeom>
          <a:solidFill>
            <a:srgbClr val="FBEAE8"/>
          </a:solidFill>
          <a:ln w="12700">
            <a:solidFill>
              <a:srgbClr val="C0392B"/>
            </a:solidFill>
          </a:ln>
        </p:spPr>
        <p:txBody>
          <a:bodyPr wrap="square" lIns="9144" tIns="9144" rIns="9144" bIns="9144" rtlCol="0" anchor="ctr"/>
          <a:lstStyle/>
          <a:p>
            <a:pPr marL="0" indent="0" algn="ctr">
              <a:buNone/>
            </a:pPr>
            <a:r>
              <a:rPr lang="ko-KR" altLang="en-US" sz="1050" b="1" dirty="0">
                <a:solidFill>
                  <a:srgbClr val="C0392B"/>
                </a:solidFill>
                <a:latin typeface="Pretendard"/>
                <a:ea typeface="Pretendard"/>
                <a:cs typeface="Pretendard"/>
              </a:rPr>
              <a:t>S3 결함 </a:t>
            </a:r>
            <a:r>
              <a:rPr lang="en-US" altLang="ko-KR" sz="1050" b="1" dirty="0">
                <a:solidFill>
                  <a:srgbClr val="C0392B"/>
                </a:solidFill>
                <a:latin typeface="Pretendard"/>
                <a:ea typeface="Pretendard"/>
                <a:cs typeface="Pretendard"/>
              </a:rPr>
              <a:t>O</a:t>
            </a:r>
            <a:r>
              <a:rPr lang="ko-KR" altLang="en-US" sz="1050" b="1" dirty="0">
                <a:solidFill>
                  <a:srgbClr val="C0392B"/>
                </a:solidFill>
                <a:latin typeface="Pretendard"/>
                <a:ea typeface="Pretendard"/>
                <a:cs typeface="Pretendard"/>
              </a:rPr>
              <a:t> · 역방향 시작점</a:t>
            </a:r>
          </a:p>
        </p:txBody>
      </p:sp>
      <p:sp>
        <p:nvSpPr>
          <p:cNvPr id="134" name="Segment 134"/>
          <p:cNvSpPr/>
          <p:nvPr/>
        </p:nvSpPr>
        <p:spPr>
          <a:xfrm>
            <a:off x="6172200" y="3584448"/>
            <a:ext cx="2514600" cy="1298448"/>
          </a:xfrm>
          <a:prstGeom prst="roundRect">
            <a:avLst>
              <a:gd name="adj" fmla="val 6000"/>
            </a:avLst>
          </a:prstGeom>
          <a:noFill/>
          <a:ln w="12700">
            <a:solidFill>
              <a:srgbClr val="C0392B"/>
            </a:solidFill>
            <a:prstDash val="dash"/>
          </a:ln>
        </p:spPr>
        <p:txBody>
          <a:bodyPr wrap="square" lIns="54864" tIns="54864" rIns="54864" bIns="54864" rtlCol="0" anchor="ctr"/>
          <a:lstStyle/>
          <a:p>
            <a:endParaRPr lang="ko-KR"/>
          </a:p>
        </p:txBody>
      </p:sp>
      <p:sp>
        <p:nvSpPr>
          <p:cNvPr id="135" name="TextBox 135"/>
          <p:cNvSpPr txBox="1"/>
          <p:nvPr/>
        </p:nvSpPr>
        <p:spPr>
          <a:xfrm>
            <a:off x="6227064" y="3602736"/>
            <a:ext cx="1097280" cy="237744"/>
          </a:xfrm>
          <a:prstGeom prst="rect">
            <a:avLst/>
          </a:prstGeom>
          <a:noFill/>
          <a:ln>
            <a:noFill/>
          </a:ln>
        </p:spPr>
        <p:txBody>
          <a:bodyPr wrap="square" lIns="18288" tIns="18288" rIns="18288" bIns="18288" rtlCol="0" anchor="ctr"/>
          <a:lstStyle/>
          <a:p>
            <a:pPr marL="0" indent="0" algn="l">
              <a:buNone/>
            </a:pPr>
            <a:r>
              <a:rPr lang="ko-KR" altLang="en-US" sz="1000" b="1" dirty="0">
                <a:solidFill>
                  <a:srgbClr val="1A1A1A"/>
                </a:solidFill>
                <a:latin typeface="Pretendard"/>
                <a:ea typeface="Pretendard"/>
                <a:cs typeface="Pretendard"/>
              </a:rPr>
              <a:t>구간 3</a:t>
            </a:r>
          </a:p>
        </p:txBody>
      </p:sp>
      <p:sp>
        <p:nvSpPr>
          <p:cNvPr id="136" name="Shape 136"/>
          <p:cNvSpPr/>
          <p:nvPr/>
        </p:nvSpPr>
        <p:spPr>
          <a:xfrm>
            <a:off x="6355080" y="3968496"/>
            <a:ext cx="356616" cy="329184"/>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100" dirty="0">
                <a:solidFill>
                  <a:srgbClr val="1A1A1A"/>
                </a:solidFill>
                <a:latin typeface="Pretendard"/>
                <a:ea typeface="Pretendard"/>
                <a:cs typeface="Pretendard"/>
              </a:rPr>
              <a:t>11</a:t>
            </a:r>
          </a:p>
        </p:txBody>
      </p:sp>
      <p:sp>
        <p:nvSpPr>
          <p:cNvPr id="137" name="Shape 137"/>
          <p:cNvSpPr/>
          <p:nvPr/>
        </p:nvSpPr>
        <p:spPr>
          <a:xfrm>
            <a:off x="6803136" y="3968496"/>
            <a:ext cx="356616" cy="329184"/>
          </a:xfrm>
          <a:prstGeom prst="roundRect">
            <a:avLst>
              <a:gd name="adj" fmla="val 6667"/>
            </a:avLst>
          </a:prstGeom>
          <a:solidFill>
            <a:srgbClr val="C0392B"/>
          </a:solidFill>
          <a:ln w="12700">
            <a:solidFill>
              <a:srgbClr val="C0392B"/>
            </a:solidFill>
          </a:ln>
        </p:spPr>
        <p:txBody>
          <a:bodyPr wrap="square" lIns="0" tIns="0" rIns="0" bIns="0" rtlCol="0" anchor="ctr"/>
          <a:lstStyle/>
          <a:p>
            <a:pPr marL="0" indent="0" algn="ctr">
              <a:buNone/>
            </a:pPr>
            <a:r>
              <a:rPr lang="ko-KR" altLang="en-US" sz="1200" b="1" dirty="0">
                <a:solidFill>
                  <a:srgbClr val="FFFFFF"/>
                </a:solidFill>
                <a:latin typeface="Pretendard"/>
                <a:ea typeface="Pretendard"/>
                <a:cs typeface="Pretendard"/>
              </a:rPr>
              <a:t>s*</a:t>
            </a:r>
          </a:p>
        </p:txBody>
      </p:sp>
      <p:sp>
        <p:nvSpPr>
          <p:cNvPr id="138" name="Shape 138"/>
          <p:cNvSpPr/>
          <p:nvPr/>
        </p:nvSpPr>
        <p:spPr>
          <a:xfrm>
            <a:off x="7251192" y="3968496"/>
            <a:ext cx="356616" cy="329184"/>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100" dirty="0">
                <a:solidFill>
                  <a:srgbClr val="1A1A1A"/>
                </a:solidFill>
                <a:latin typeface="Pretendard"/>
                <a:ea typeface="Pretendard"/>
                <a:cs typeface="Pretendard"/>
              </a:rPr>
              <a:t>13</a:t>
            </a:r>
          </a:p>
        </p:txBody>
      </p:sp>
      <p:sp>
        <p:nvSpPr>
          <p:cNvPr id="139" name="Shape 139"/>
          <p:cNvSpPr/>
          <p:nvPr/>
        </p:nvSpPr>
        <p:spPr>
          <a:xfrm>
            <a:off x="7699248" y="3968496"/>
            <a:ext cx="356616" cy="329184"/>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100" dirty="0">
                <a:solidFill>
                  <a:srgbClr val="1A1A1A"/>
                </a:solidFill>
                <a:latin typeface="Pretendard"/>
                <a:ea typeface="Pretendard"/>
                <a:cs typeface="Pretendard"/>
              </a:rPr>
              <a:t>14</a:t>
            </a:r>
          </a:p>
        </p:txBody>
      </p:sp>
      <p:sp>
        <p:nvSpPr>
          <p:cNvPr id="140" name="Shape 140"/>
          <p:cNvSpPr/>
          <p:nvPr/>
        </p:nvSpPr>
        <p:spPr>
          <a:xfrm>
            <a:off x="8147304" y="3968496"/>
            <a:ext cx="356616" cy="329184"/>
          </a:xfrm>
          <a:prstGeom prst="roundRect">
            <a:avLst>
              <a:gd name="adj" fmla="val 6667"/>
            </a:avLst>
          </a:prstGeom>
          <a:solidFill>
            <a:srgbClr val="F2F2F2"/>
          </a:solidFill>
          <a:ln w="12700">
            <a:solidFill>
              <a:srgbClr val="595959"/>
            </a:solidFill>
          </a:ln>
        </p:spPr>
        <p:txBody>
          <a:bodyPr wrap="square" lIns="0" tIns="0" rIns="0" bIns="0" rtlCol="0" anchor="ctr"/>
          <a:lstStyle/>
          <a:p>
            <a:pPr marL="0" indent="0" algn="ctr">
              <a:buNone/>
            </a:pPr>
            <a:r>
              <a:rPr lang="ko-KR" altLang="en-US" sz="1100" dirty="0">
                <a:solidFill>
                  <a:srgbClr val="1A1A1A"/>
                </a:solidFill>
                <a:latin typeface="Pretendard"/>
                <a:ea typeface="Pretendard"/>
                <a:cs typeface="Pretendard"/>
              </a:rPr>
              <a:t>15</a:t>
            </a:r>
          </a:p>
        </p:txBody>
      </p:sp>
      <p:sp>
        <p:nvSpPr>
          <p:cNvPr id="141" name="Shape 141"/>
          <p:cNvSpPr/>
          <p:nvPr/>
        </p:nvSpPr>
        <p:spPr>
          <a:xfrm>
            <a:off x="8869680" y="3108960"/>
            <a:ext cx="2514600" cy="246888"/>
          </a:xfrm>
          <a:prstGeom prst="roundRect">
            <a:avLst>
              <a:gd name="adj" fmla="val 5882"/>
            </a:avLst>
          </a:prstGeom>
          <a:solidFill>
            <a:srgbClr val="F2F2F2"/>
          </a:solidFill>
          <a:ln w="12700">
            <a:solidFill>
              <a:srgbClr val="BFBFBF"/>
            </a:solidFill>
          </a:ln>
        </p:spPr>
        <p:txBody>
          <a:bodyPr wrap="square" lIns="9144" tIns="9144" rIns="9144" bIns="9144" rtlCol="0" anchor="ctr"/>
          <a:lstStyle/>
          <a:p>
            <a:pPr marL="0" indent="0" algn="ctr">
              <a:buNone/>
            </a:pPr>
            <a:r>
              <a:rPr lang="ko-KR" altLang="en-US" sz="1050" b="1" dirty="0">
                <a:solidFill>
                  <a:srgbClr val="7F7F7F"/>
                </a:solidFill>
                <a:latin typeface="Pretendard"/>
                <a:ea typeface="Pretendard"/>
                <a:cs typeface="Pretendard"/>
              </a:rPr>
              <a:t>검사 지속</a:t>
            </a:r>
          </a:p>
        </p:txBody>
      </p:sp>
      <p:sp>
        <p:nvSpPr>
          <p:cNvPr id="142" name="Segment 142"/>
          <p:cNvSpPr/>
          <p:nvPr/>
        </p:nvSpPr>
        <p:spPr>
          <a:xfrm>
            <a:off x="8869680" y="3584448"/>
            <a:ext cx="2514600" cy="1298448"/>
          </a:xfrm>
          <a:prstGeom prst="roundRect">
            <a:avLst>
              <a:gd name="adj" fmla="val 6000"/>
            </a:avLst>
          </a:prstGeom>
          <a:noFill/>
          <a:ln w="12700">
            <a:solidFill>
              <a:srgbClr val="BFBFBF"/>
            </a:solidFill>
            <a:prstDash val="dash"/>
          </a:ln>
        </p:spPr>
        <p:txBody>
          <a:bodyPr wrap="square" lIns="54864" tIns="54864" rIns="54864" bIns="54864" rtlCol="0" anchor="ctr"/>
          <a:lstStyle/>
          <a:p>
            <a:endParaRPr lang="ko-KR"/>
          </a:p>
        </p:txBody>
      </p:sp>
      <p:sp>
        <p:nvSpPr>
          <p:cNvPr id="143" name="TextBox 143"/>
          <p:cNvSpPr txBox="1"/>
          <p:nvPr/>
        </p:nvSpPr>
        <p:spPr>
          <a:xfrm>
            <a:off x="8924544" y="3602736"/>
            <a:ext cx="1097280" cy="237744"/>
          </a:xfrm>
          <a:prstGeom prst="rect">
            <a:avLst/>
          </a:prstGeom>
          <a:noFill/>
          <a:ln>
            <a:noFill/>
          </a:ln>
        </p:spPr>
        <p:txBody>
          <a:bodyPr wrap="square" lIns="18288" tIns="18288" rIns="18288" bIns="18288" rtlCol="0" anchor="ctr"/>
          <a:lstStyle/>
          <a:p>
            <a:pPr marL="0" indent="0" algn="l">
              <a:buNone/>
            </a:pPr>
            <a:r>
              <a:rPr lang="ko-KR" altLang="en-US" sz="1000" b="1" dirty="0">
                <a:solidFill>
                  <a:srgbClr val="A6A6A6"/>
                </a:solidFill>
                <a:latin typeface="Pretendard"/>
                <a:ea typeface="Pretendard"/>
                <a:cs typeface="Pretendard"/>
              </a:rPr>
              <a:t>구간 4</a:t>
            </a:r>
          </a:p>
        </p:txBody>
      </p:sp>
      <p:sp>
        <p:nvSpPr>
          <p:cNvPr id="144" name="Shape 144"/>
          <p:cNvSpPr/>
          <p:nvPr/>
        </p:nvSpPr>
        <p:spPr>
          <a:xfrm>
            <a:off x="9052560" y="3968496"/>
            <a:ext cx="356616" cy="329184"/>
          </a:xfrm>
          <a:prstGeom prst="roundRect">
            <a:avLst>
              <a:gd name="adj" fmla="val 6667"/>
            </a:avLst>
          </a:prstGeom>
          <a:solidFill>
            <a:srgbClr val="F2F2F2"/>
          </a:solidFill>
          <a:ln w="12700">
            <a:solidFill>
              <a:srgbClr val="BFBFBF"/>
            </a:solidFill>
          </a:ln>
        </p:spPr>
        <p:txBody>
          <a:bodyPr wrap="square" lIns="0" tIns="0" rIns="0" bIns="0" rtlCol="0" anchor="ctr"/>
          <a:lstStyle/>
          <a:p>
            <a:pPr marL="0" indent="0" algn="ctr">
              <a:buNone/>
            </a:pPr>
            <a:r>
              <a:rPr lang="ko-KR" altLang="en-US" sz="1100" dirty="0">
                <a:solidFill>
                  <a:srgbClr val="A6A6A6"/>
                </a:solidFill>
                <a:latin typeface="Pretendard"/>
                <a:ea typeface="Pretendard"/>
                <a:cs typeface="Pretendard"/>
              </a:rPr>
              <a:t>16</a:t>
            </a:r>
          </a:p>
        </p:txBody>
      </p:sp>
      <p:sp>
        <p:nvSpPr>
          <p:cNvPr id="145" name="Shape 145"/>
          <p:cNvSpPr/>
          <p:nvPr/>
        </p:nvSpPr>
        <p:spPr>
          <a:xfrm>
            <a:off x="9500616" y="3968496"/>
            <a:ext cx="356616" cy="329184"/>
          </a:xfrm>
          <a:prstGeom prst="roundRect">
            <a:avLst>
              <a:gd name="adj" fmla="val 6667"/>
            </a:avLst>
          </a:prstGeom>
          <a:solidFill>
            <a:srgbClr val="F2F2F2"/>
          </a:solidFill>
          <a:ln w="12700">
            <a:solidFill>
              <a:srgbClr val="BFBFBF"/>
            </a:solidFill>
          </a:ln>
        </p:spPr>
        <p:txBody>
          <a:bodyPr wrap="square" lIns="0" tIns="0" rIns="0" bIns="0" rtlCol="0" anchor="ctr"/>
          <a:lstStyle/>
          <a:p>
            <a:pPr marL="0" indent="0" algn="ctr">
              <a:buNone/>
            </a:pPr>
            <a:r>
              <a:rPr lang="ko-KR" altLang="en-US" sz="1100" dirty="0">
                <a:solidFill>
                  <a:srgbClr val="A6A6A6"/>
                </a:solidFill>
                <a:latin typeface="Pretendard"/>
                <a:ea typeface="Pretendard"/>
                <a:cs typeface="Pretendard"/>
              </a:rPr>
              <a:t>17</a:t>
            </a:r>
          </a:p>
        </p:txBody>
      </p:sp>
      <p:sp>
        <p:nvSpPr>
          <p:cNvPr id="146" name="Shape 146"/>
          <p:cNvSpPr/>
          <p:nvPr/>
        </p:nvSpPr>
        <p:spPr>
          <a:xfrm>
            <a:off x="9948672" y="3968496"/>
            <a:ext cx="356616" cy="329184"/>
          </a:xfrm>
          <a:prstGeom prst="roundRect">
            <a:avLst>
              <a:gd name="adj" fmla="val 6667"/>
            </a:avLst>
          </a:prstGeom>
          <a:solidFill>
            <a:srgbClr val="F2F2F2"/>
          </a:solidFill>
          <a:ln w="12700">
            <a:solidFill>
              <a:srgbClr val="BFBFBF"/>
            </a:solidFill>
          </a:ln>
        </p:spPr>
        <p:txBody>
          <a:bodyPr wrap="square" lIns="0" tIns="0" rIns="0" bIns="0" rtlCol="0" anchor="ctr"/>
          <a:lstStyle/>
          <a:p>
            <a:pPr marL="0" indent="0" algn="ctr">
              <a:buNone/>
            </a:pPr>
            <a:r>
              <a:rPr lang="ko-KR" altLang="en-US" sz="1100" dirty="0">
                <a:solidFill>
                  <a:srgbClr val="A6A6A6"/>
                </a:solidFill>
                <a:latin typeface="Pretendard"/>
                <a:ea typeface="Pretendard"/>
                <a:cs typeface="Pretendard"/>
              </a:rPr>
              <a:t>18</a:t>
            </a:r>
          </a:p>
        </p:txBody>
      </p:sp>
      <p:sp>
        <p:nvSpPr>
          <p:cNvPr id="147" name="Shape 147"/>
          <p:cNvSpPr/>
          <p:nvPr/>
        </p:nvSpPr>
        <p:spPr>
          <a:xfrm>
            <a:off x="10396728" y="3968496"/>
            <a:ext cx="356616" cy="329184"/>
          </a:xfrm>
          <a:prstGeom prst="roundRect">
            <a:avLst>
              <a:gd name="adj" fmla="val 6667"/>
            </a:avLst>
          </a:prstGeom>
          <a:solidFill>
            <a:srgbClr val="F2F2F2"/>
          </a:solidFill>
          <a:ln w="12700">
            <a:solidFill>
              <a:srgbClr val="BFBFBF"/>
            </a:solidFill>
          </a:ln>
        </p:spPr>
        <p:txBody>
          <a:bodyPr wrap="square" lIns="0" tIns="0" rIns="0" bIns="0" rtlCol="0" anchor="ctr"/>
          <a:lstStyle/>
          <a:p>
            <a:pPr marL="0" indent="0" algn="ctr">
              <a:buNone/>
            </a:pPr>
            <a:r>
              <a:rPr lang="ko-KR" altLang="en-US" sz="1100" dirty="0">
                <a:solidFill>
                  <a:srgbClr val="A6A6A6"/>
                </a:solidFill>
                <a:latin typeface="Pretendard"/>
                <a:ea typeface="Pretendard"/>
                <a:cs typeface="Pretendard"/>
              </a:rPr>
              <a:t>19</a:t>
            </a:r>
          </a:p>
        </p:txBody>
      </p:sp>
      <p:sp>
        <p:nvSpPr>
          <p:cNvPr id="148" name="Shape 148"/>
          <p:cNvSpPr/>
          <p:nvPr/>
        </p:nvSpPr>
        <p:spPr>
          <a:xfrm>
            <a:off x="10844784" y="3968496"/>
            <a:ext cx="356616" cy="329184"/>
          </a:xfrm>
          <a:prstGeom prst="roundRect">
            <a:avLst>
              <a:gd name="adj" fmla="val 6667"/>
            </a:avLst>
          </a:prstGeom>
          <a:solidFill>
            <a:srgbClr val="F2F2F2"/>
          </a:solidFill>
          <a:ln w="12700">
            <a:solidFill>
              <a:srgbClr val="BFBFBF"/>
            </a:solidFill>
          </a:ln>
        </p:spPr>
        <p:txBody>
          <a:bodyPr wrap="square" lIns="0" tIns="0" rIns="0" bIns="0" rtlCol="0" anchor="ctr"/>
          <a:lstStyle/>
          <a:p>
            <a:pPr marL="0" indent="0" algn="ctr">
              <a:buNone/>
            </a:pPr>
            <a:r>
              <a:rPr lang="ko-KR" altLang="en-US" sz="1100" dirty="0">
                <a:solidFill>
                  <a:srgbClr val="A6A6A6"/>
                </a:solidFill>
                <a:latin typeface="Pretendard"/>
                <a:ea typeface="Pretendard"/>
                <a:cs typeface="Pretendard"/>
              </a:rPr>
              <a:t>20</a:t>
            </a:r>
          </a:p>
        </p:txBody>
      </p:sp>
      <p:sp>
        <p:nvSpPr>
          <p:cNvPr id="149" name="Hop 149"/>
          <p:cNvSpPr/>
          <p:nvPr/>
        </p:nvSpPr>
        <p:spPr>
          <a:xfrm>
            <a:off x="7466076" y="4306824"/>
            <a:ext cx="859536" cy="256032"/>
          </a:xfrm>
          <a:custGeom>
            <a:avLst/>
            <a:gdLst/>
            <a:ahLst/>
            <a:cxnLst/>
            <a:rect l="0" t="0" r="r" b="b"/>
            <a:pathLst>
              <a:path w="859536" h="256032">
                <a:moveTo>
                  <a:pt x="859536" y="0"/>
                </a:moveTo>
                <a:cubicBezTo>
                  <a:pt x="859536" y="256032"/>
                  <a:pt x="0" y="256032"/>
                  <a:pt x="0" y="0"/>
                </a:cubicBezTo>
              </a:path>
            </a:pathLst>
          </a:custGeom>
          <a:noFill/>
          <a:ln w="15875">
            <a:solidFill>
              <a:srgbClr val="595959"/>
            </a:solidFill>
            <a:prstDash val="solid"/>
            <a:tailEnd type="triangle"/>
          </a:ln>
        </p:spPr>
        <p:txBody>
          <a:bodyPr/>
          <a:lstStyle/>
          <a:p>
            <a:endParaRPr lang="ko-KR"/>
          </a:p>
        </p:txBody>
      </p:sp>
      <p:sp>
        <p:nvSpPr>
          <p:cNvPr id="150" name="Hop 150"/>
          <p:cNvSpPr/>
          <p:nvPr/>
        </p:nvSpPr>
        <p:spPr>
          <a:xfrm>
            <a:off x="7018020" y="4306824"/>
            <a:ext cx="374904" cy="256032"/>
          </a:xfrm>
          <a:custGeom>
            <a:avLst/>
            <a:gdLst/>
            <a:ahLst/>
            <a:cxnLst/>
            <a:rect l="0" t="0" r="r" b="b"/>
            <a:pathLst>
              <a:path w="374904" h="256032">
                <a:moveTo>
                  <a:pt x="374904" y="0"/>
                </a:moveTo>
                <a:cubicBezTo>
                  <a:pt x="374904" y="256032"/>
                  <a:pt x="0" y="256032"/>
                  <a:pt x="0" y="0"/>
                </a:cubicBezTo>
              </a:path>
            </a:pathLst>
          </a:custGeom>
          <a:noFill/>
          <a:ln w="15875">
            <a:solidFill>
              <a:srgbClr val="595959"/>
            </a:solidFill>
            <a:prstDash val="solid"/>
            <a:tailEnd type="triangle"/>
          </a:ln>
        </p:spPr>
        <p:txBody>
          <a:bodyPr/>
          <a:lstStyle/>
          <a:p>
            <a:endParaRPr lang="ko-KR"/>
          </a:p>
        </p:txBody>
      </p:sp>
      <p:sp>
        <p:nvSpPr>
          <p:cNvPr id="151" name="TextBox 151"/>
          <p:cNvSpPr txBox="1"/>
          <p:nvPr/>
        </p:nvSpPr>
        <p:spPr>
          <a:xfrm>
            <a:off x="7603236" y="4526280"/>
            <a:ext cx="548640" cy="201168"/>
          </a:xfrm>
          <a:prstGeom prst="rect">
            <a:avLst/>
          </a:prstGeom>
          <a:noFill/>
          <a:ln>
            <a:noFill/>
          </a:ln>
        </p:spPr>
        <p:txBody>
          <a:bodyPr wrap="square" lIns="0" tIns="0" rIns="0" bIns="0" rtlCol="0" anchor="ctr"/>
          <a:lstStyle/>
          <a:p>
            <a:pPr marL="0" indent="0" algn="ctr">
              <a:buNone/>
            </a:pPr>
            <a:r>
              <a:rPr lang="ko-KR" altLang="en-US" sz="900" dirty="0">
                <a:solidFill>
                  <a:srgbClr val="595959"/>
                </a:solidFill>
                <a:latin typeface="Pretendard"/>
                <a:ea typeface="Pretendard"/>
                <a:cs typeface="Pretendard"/>
              </a:rPr>
              <a:t>상속</a:t>
            </a:r>
          </a:p>
        </p:txBody>
      </p:sp>
      <p:sp>
        <p:nvSpPr>
          <p:cNvPr id="152" name="TextBox 152"/>
          <p:cNvSpPr txBox="1"/>
          <p:nvPr/>
        </p:nvSpPr>
        <p:spPr>
          <a:xfrm>
            <a:off x="6931152" y="4526280"/>
            <a:ext cx="548640" cy="201168"/>
          </a:xfrm>
          <a:prstGeom prst="rect">
            <a:avLst/>
          </a:prstGeom>
          <a:noFill/>
          <a:ln>
            <a:noFill/>
          </a:ln>
        </p:spPr>
        <p:txBody>
          <a:bodyPr wrap="square" lIns="0" tIns="0" rIns="0" bIns="0" rtlCol="0" anchor="ctr"/>
          <a:lstStyle/>
          <a:p>
            <a:pPr marL="0" indent="0" algn="ctr">
              <a:buNone/>
            </a:pPr>
            <a:r>
              <a:rPr lang="ko-KR" altLang="en-US" sz="900" dirty="0">
                <a:solidFill>
                  <a:srgbClr val="595959"/>
                </a:solidFill>
                <a:latin typeface="Pretendard"/>
                <a:ea typeface="Pretendard"/>
                <a:cs typeface="Pretendard"/>
              </a:rPr>
              <a:t>상속</a:t>
            </a:r>
          </a:p>
        </p:txBody>
      </p:sp>
      <p:sp>
        <p:nvSpPr>
          <p:cNvPr id="153" name="Badge 153"/>
          <p:cNvSpPr/>
          <p:nvPr/>
        </p:nvSpPr>
        <p:spPr>
          <a:xfrm>
            <a:off x="8540496" y="3456432"/>
            <a:ext cx="256032" cy="256032"/>
          </a:xfrm>
          <a:prstGeom prst="ellipse">
            <a:avLst/>
          </a:prstGeom>
          <a:solidFill>
            <a:srgbClr val="FF0000"/>
          </a:solidFill>
          <a:ln>
            <a:noFill/>
          </a:ln>
        </p:spPr>
        <p:txBody>
          <a:bodyPr wrap="square" lIns="0" tIns="0" rIns="0" bIns="0" rtlCol="0" anchor="ctr"/>
          <a:lstStyle/>
          <a:p>
            <a:pPr marL="0" indent="0" algn="ctr">
              <a:buNone/>
            </a:pPr>
            <a:r>
              <a:rPr lang="ko-KR" altLang="en-US" sz="1100" b="1" dirty="0">
                <a:solidFill>
                  <a:srgbClr val="FFFFFF"/>
                </a:solidFill>
                <a:latin typeface="Pretendard"/>
                <a:ea typeface="Pretendard"/>
                <a:cs typeface="Pretendard"/>
              </a:rPr>
              <a:t>2</a:t>
            </a:r>
          </a:p>
        </p:txBody>
      </p:sp>
      <p:sp>
        <p:nvSpPr>
          <p:cNvPr id="154" name="Hop 154"/>
          <p:cNvSpPr/>
          <p:nvPr/>
        </p:nvSpPr>
        <p:spPr>
          <a:xfrm>
            <a:off x="5664708" y="4306824"/>
            <a:ext cx="868680" cy="384048"/>
          </a:xfrm>
          <a:custGeom>
            <a:avLst/>
            <a:gdLst/>
            <a:ahLst/>
            <a:cxnLst/>
            <a:rect l="0" t="0" r="r" b="b"/>
            <a:pathLst>
              <a:path w="868680" h="384048">
                <a:moveTo>
                  <a:pt x="868680" y="0"/>
                </a:moveTo>
                <a:cubicBezTo>
                  <a:pt x="868680" y="384048"/>
                  <a:pt x="0" y="384048"/>
                  <a:pt x="0" y="0"/>
                </a:cubicBezTo>
              </a:path>
            </a:pathLst>
          </a:custGeom>
          <a:noFill/>
          <a:ln w="15875">
            <a:solidFill>
              <a:srgbClr val="C0392B"/>
            </a:solidFill>
            <a:prstDash val="dash"/>
            <a:tailEnd type="triangle"/>
          </a:ln>
        </p:spPr>
        <p:txBody>
          <a:bodyPr/>
          <a:lstStyle/>
          <a:p>
            <a:endParaRPr lang="ko-KR"/>
          </a:p>
        </p:txBody>
      </p:sp>
      <p:sp>
        <p:nvSpPr>
          <p:cNvPr id="155" name="Badge 155"/>
          <p:cNvSpPr/>
          <p:nvPr/>
        </p:nvSpPr>
        <p:spPr>
          <a:xfrm>
            <a:off x="5961888" y="4014216"/>
            <a:ext cx="237744" cy="237744"/>
          </a:xfrm>
          <a:prstGeom prst="ellipse">
            <a:avLst/>
          </a:prstGeom>
          <a:solidFill>
            <a:srgbClr val="FF0000"/>
          </a:solidFill>
          <a:ln>
            <a:noFill/>
          </a:ln>
        </p:spPr>
        <p:txBody>
          <a:bodyPr wrap="square" lIns="0" tIns="0" rIns="0" bIns="0" rtlCol="0" anchor="ctr"/>
          <a:lstStyle/>
          <a:p>
            <a:pPr marL="0" indent="0" algn="ctr">
              <a:buNone/>
            </a:pPr>
            <a:r>
              <a:rPr lang="ko-KR" altLang="en-US" sz="1100" b="1" dirty="0">
                <a:solidFill>
                  <a:srgbClr val="FFFFFF"/>
                </a:solidFill>
                <a:latin typeface="Pretendard"/>
                <a:ea typeface="Pretendard"/>
                <a:cs typeface="Pretendard"/>
              </a:rPr>
              <a:t>3</a:t>
            </a:r>
          </a:p>
        </p:txBody>
      </p:sp>
      <p:sp>
        <p:nvSpPr>
          <p:cNvPr id="156" name="Badge 156"/>
          <p:cNvSpPr/>
          <p:nvPr/>
        </p:nvSpPr>
        <p:spPr>
          <a:xfrm>
            <a:off x="804672" y="5120640"/>
            <a:ext cx="219456" cy="219456"/>
          </a:xfrm>
          <a:prstGeom prst="ellipse">
            <a:avLst/>
          </a:prstGeom>
          <a:solidFill>
            <a:srgbClr val="FF0000"/>
          </a:solidFill>
          <a:ln>
            <a:noFill/>
          </a:ln>
        </p:spPr>
        <p:txBody>
          <a:bodyPr wrap="square" lIns="0" tIns="0" rIns="0" bIns="0" rtlCol="0" anchor="ctr"/>
          <a:lstStyle/>
          <a:p>
            <a:pPr marL="0" indent="0" algn="ctr">
              <a:buNone/>
            </a:pPr>
            <a:r>
              <a:rPr lang="ko-KR" altLang="en-US" sz="1100" b="1" dirty="0">
                <a:solidFill>
                  <a:srgbClr val="FFFFFF"/>
                </a:solidFill>
                <a:latin typeface="Pretendard"/>
                <a:ea typeface="Pretendard"/>
                <a:cs typeface="Pretendard"/>
              </a:rPr>
              <a:t>2</a:t>
            </a:r>
          </a:p>
        </p:txBody>
      </p:sp>
      <p:sp>
        <p:nvSpPr>
          <p:cNvPr id="157" name="TextBox 157"/>
          <p:cNvSpPr txBox="1"/>
          <p:nvPr/>
        </p:nvSpPr>
        <p:spPr>
          <a:xfrm>
            <a:off x="1078992" y="5010912"/>
            <a:ext cx="4892040" cy="566928"/>
          </a:xfrm>
          <a:prstGeom prst="rect">
            <a:avLst/>
          </a:prstGeom>
          <a:noFill/>
          <a:ln>
            <a:noFill/>
          </a:ln>
        </p:spPr>
        <p:txBody>
          <a:bodyPr wrap="square" lIns="27432" tIns="27432" rIns="27432" bIns="27432" rtlCol="0" anchor="ctr"/>
          <a:lstStyle/>
          <a:p>
            <a:pPr marL="0" indent="0" algn="l">
              <a:buNone/>
            </a:pPr>
            <a:r>
              <a:rPr lang="ko-KR" altLang="en-US" sz="1050" b="1" dirty="0">
                <a:latin typeface="Pretendard"/>
                <a:ea typeface="Pretendard"/>
                <a:cs typeface="Pretendard"/>
              </a:rPr>
              <a:t>역방향 · </a:t>
            </a:r>
            <a:r>
              <a:rPr lang="ko-KR" altLang="en-US" sz="1050" dirty="0">
                <a:latin typeface="Pretendard"/>
                <a:ea typeface="Pretendard"/>
                <a:cs typeface="Pretendard"/>
              </a:rPr>
              <a:t>구간 3 끝에서 시작하며, 입력은 구간 3 원문과 직전 요약 S2뿐 — 이 범위에서 발생·상속 판정 반복 </a:t>
            </a:r>
            <a:r>
              <a:rPr lang="en-US" altLang="ko-KR" sz="1050" dirty="0">
                <a:latin typeface="Pretendard"/>
                <a:ea typeface="Pretendard"/>
                <a:cs typeface="Pretendard"/>
              </a:rPr>
              <a:t>(</a:t>
            </a:r>
            <a:r>
              <a:rPr lang="ko-KR" altLang="en-US" sz="1050" dirty="0">
                <a:latin typeface="Pretendard"/>
                <a:ea typeface="Pretendard"/>
                <a:cs typeface="Pretendard"/>
              </a:rPr>
              <a:t>기존 방법론과 동일</a:t>
            </a:r>
            <a:r>
              <a:rPr lang="en-US" altLang="ko-KR" sz="1050" dirty="0">
                <a:latin typeface="Pretendard"/>
                <a:ea typeface="Pretendard"/>
                <a:cs typeface="Pretendard"/>
              </a:rPr>
              <a:t>)</a:t>
            </a:r>
            <a:endParaRPr lang="ko-KR" altLang="en-US" sz="1050" dirty="0">
              <a:latin typeface="Pretendard"/>
              <a:ea typeface="Pretendard"/>
              <a:cs typeface="Pretendard"/>
            </a:endParaRPr>
          </a:p>
        </p:txBody>
      </p:sp>
      <p:sp>
        <p:nvSpPr>
          <p:cNvPr id="158" name="Badge 158"/>
          <p:cNvSpPr/>
          <p:nvPr/>
        </p:nvSpPr>
        <p:spPr>
          <a:xfrm>
            <a:off x="6227064" y="5190310"/>
            <a:ext cx="219456" cy="219456"/>
          </a:xfrm>
          <a:prstGeom prst="ellipse">
            <a:avLst/>
          </a:prstGeom>
          <a:solidFill>
            <a:srgbClr val="FF0000"/>
          </a:solidFill>
          <a:ln>
            <a:noFill/>
          </a:ln>
        </p:spPr>
        <p:txBody>
          <a:bodyPr wrap="square" lIns="0" tIns="0" rIns="0" bIns="0" rtlCol="0" anchor="ctr"/>
          <a:lstStyle/>
          <a:p>
            <a:pPr marL="0" indent="0" algn="ctr">
              <a:buNone/>
            </a:pPr>
            <a:r>
              <a:rPr lang="ko-KR" altLang="en-US" sz="1100" b="1" dirty="0">
                <a:solidFill>
                  <a:srgbClr val="FFFFFF"/>
                </a:solidFill>
                <a:latin typeface="Pretendard"/>
                <a:ea typeface="Pretendard"/>
                <a:cs typeface="Pretendard"/>
              </a:rPr>
              <a:t>3</a:t>
            </a:r>
          </a:p>
        </p:txBody>
      </p:sp>
      <p:sp>
        <p:nvSpPr>
          <p:cNvPr id="159" name="TextBox 159"/>
          <p:cNvSpPr txBox="1"/>
          <p:nvPr/>
        </p:nvSpPr>
        <p:spPr>
          <a:xfrm>
            <a:off x="6501384" y="5080582"/>
            <a:ext cx="5029200" cy="429768"/>
          </a:xfrm>
          <a:prstGeom prst="rect">
            <a:avLst/>
          </a:prstGeom>
          <a:noFill/>
          <a:ln>
            <a:noFill/>
          </a:ln>
        </p:spPr>
        <p:txBody>
          <a:bodyPr wrap="square" lIns="27432" tIns="27432" rIns="27432" bIns="27432" rtlCol="0" anchor="ctr"/>
          <a:lstStyle/>
          <a:p>
            <a:pPr marL="0" indent="0" algn="l">
              <a:buNone/>
            </a:pPr>
            <a:r>
              <a:rPr lang="ko-KR" altLang="en-US" sz="1050" b="1" dirty="0">
                <a:solidFill>
                  <a:srgbClr val="C0392B"/>
                </a:solidFill>
                <a:latin typeface="Pretendard"/>
                <a:ea typeface="Pretendard"/>
                <a:cs typeface="Pretendard"/>
              </a:rPr>
              <a:t>예외 · </a:t>
            </a:r>
            <a:r>
              <a:rPr lang="ko-KR" altLang="en-US" sz="1050" dirty="0">
                <a:latin typeface="Pretendard"/>
                <a:ea typeface="Pretendard"/>
                <a:cs typeface="Pretendard"/>
              </a:rPr>
              <a:t>구간 시작까지 발생이 없으면 구간 경계를 넘어</a:t>
            </a:r>
            <a:r>
              <a:rPr lang="en-US" altLang="ko-KR" sz="1050" dirty="0">
                <a:latin typeface="Pretendard"/>
                <a:ea typeface="Pretendard"/>
                <a:cs typeface="Pretendard"/>
              </a:rPr>
              <a:t>, </a:t>
            </a:r>
            <a:r>
              <a:rPr lang="ko-KR" altLang="en-US" sz="1050" dirty="0">
                <a:latin typeface="Pretendard"/>
                <a:ea typeface="Pretendard"/>
                <a:cs typeface="Pretendard"/>
              </a:rPr>
              <a:t>결정적 오류 단계 식별 계속</a:t>
            </a:r>
            <a:r>
              <a:rPr lang="en-US" altLang="ko-KR" sz="1050" dirty="0">
                <a:latin typeface="Pretendard"/>
                <a:ea typeface="Pretendard"/>
                <a:cs typeface="Pretendard"/>
              </a:rPr>
              <a:t>. </a:t>
            </a:r>
            <a:r>
              <a:rPr lang="ko-KR" altLang="en-US" sz="1050" dirty="0">
                <a:latin typeface="Pretendard"/>
                <a:ea typeface="Pretendard"/>
                <a:cs typeface="Pretendard"/>
              </a:rPr>
              <a:t> </a:t>
            </a:r>
          </a:p>
        </p:txBody>
      </p:sp>
      <p:sp>
        <p:nvSpPr>
          <p:cNvPr id="160" name="TextBox 160"/>
          <p:cNvSpPr txBox="1"/>
          <p:nvPr/>
        </p:nvSpPr>
        <p:spPr>
          <a:xfrm>
            <a:off x="639209" y="6044183"/>
            <a:ext cx="11064240" cy="411480"/>
          </a:xfrm>
          <a:prstGeom prst="rect">
            <a:avLst/>
          </a:prstGeom>
          <a:noFill/>
          <a:ln>
            <a:noFill/>
          </a:ln>
        </p:spPr>
        <p:txBody>
          <a:bodyPr wrap="square" lIns="27432" tIns="27432" rIns="27432" bIns="27432" rtlCol="0" anchor="ctr"/>
          <a:lstStyle/>
          <a:p>
            <a:pPr marL="0" indent="0" algn="ctr">
              <a:buNone/>
            </a:pPr>
            <a:r>
              <a:rPr lang="ko-KR" altLang="en-US" sz="1400" b="1" dirty="0">
                <a:latin typeface="Pretendard"/>
                <a:ea typeface="Pretendard"/>
                <a:cs typeface="Pretendard"/>
              </a:rPr>
              <a:t>순방향으로 역방향 식별의 시작 단계를 결정</a:t>
            </a:r>
            <a:r>
              <a:rPr lang="en-US" altLang="ko-KR" sz="1400" b="1" dirty="0">
                <a:latin typeface="Pretendard"/>
                <a:ea typeface="Pretendard"/>
                <a:cs typeface="Pretendard"/>
              </a:rPr>
              <a:t> </a:t>
            </a:r>
            <a:r>
              <a:rPr lang="en-US" altLang="ko-KR" sz="1400" b="1" dirty="0">
                <a:latin typeface="Pretendard"/>
                <a:ea typeface="Pretendard"/>
                <a:cs typeface="Pretendard"/>
                <a:sym typeface="Wingdings" panose="05000000000000000000" pitchFamily="2" charset="2"/>
              </a:rPr>
              <a:t> </a:t>
            </a:r>
            <a:r>
              <a:rPr lang="ko-KR" altLang="en-US" sz="1400" b="1" dirty="0">
                <a:latin typeface="Pretendard"/>
                <a:ea typeface="Pretendard"/>
                <a:cs typeface="Pretendard"/>
              </a:rPr>
              <a:t> 결정적 오류 단계는 역방향으로 식별 </a:t>
            </a:r>
          </a:p>
        </p:txBody>
      </p:sp>
      <p:sp>
        <p:nvSpPr>
          <p:cNvPr id="161" name="TextBox page"/>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a:ea typeface="Pretendard"/>
                <a:cs typeface="Pretendard"/>
              </a:rPr>
              <a:t>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Box 101"/>
          <p:cNvSpPr txBox="1"/>
          <p:nvPr/>
        </p:nvSpPr>
        <p:spPr>
          <a:xfrm>
            <a:off x="502920" y="274320"/>
            <a:ext cx="11155680" cy="548640"/>
          </a:xfrm>
          <a:prstGeom prst="rect">
            <a:avLst/>
          </a:prstGeom>
          <a:noFill/>
          <a:ln>
            <a:noFill/>
          </a:ln>
        </p:spPr>
        <p:txBody>
          <a:bodyPr wrap="square" lIns="91440" tIns="91440" rIns="91440" bIns="91440" rtlCol="0" anchor="ctr"/>
          <a:lstStyle/>
          <a:p>
            <a:pPr lvl="0">
              <a:defRPr/>
            </a:pPr>
            <a:r>
              <a:rPr lang="en-US" altLang="ko-KR" sz="2500" b="1" dirty="0">
                <a:solidFill>
                  <a:srgbClr val="000000"/>
                </a:solidFill>
                <a:latin typeface="Pretendard"/>
                <a:ea typeface="Pretendard"/>
                <a:cs typeface="Pretendard"/>
              </a:rPr>
              <a:t>Develop</a:t>
            </a:r>
            <a:r>
              <a:rPr kumimoji="0" lang="ko-KR" altLang="en-US" sz="2500" b="1" i="0" u="none" strike="noStrike" kern="1200" cap="none" spc="0" normalizeH="0" baseline="0" noProof="0" dirty="0">
                <a:ln>
                  <a:noFill/>
                </a:ln>
                <a:solidFill>
                  <a:srgbClr val="000000"/>
                </a:solidFill>
                <a:effectLst/>
                <a:uLnTx/>
                <a:uFillTx/>
                <a:latin typeface="Pretendard"/>
                <a:ea typeface="Pretendard"/>
                <a:cs typeface="Pretendard"/>
              </a:rPr>
              <a:t>. 최종 방법론 도식화 (양방향 추적)</a:t>
            </a:r>
          </a:p>
        </p:txBody>
      </p:sp>
      <p:sp>
        <p:nvSpPr>
          <p:cNvPr id="102" name="Band 102"/>
          <p:cNvSpPr/>
          <p:nvPr/>
        </p:nvSpPr>
        <p:spPr>
          <a:xfrm>
            <a:off x="201168" y="5413248"/>
            <a:ext cx="11832336" cy="1033272"/>
          </a:xfrm>
          <a:prstGeom prst="rect">
            <a:avLst/>
          </a:prstGeom>
          <a:solidFill>
            <a:srgbClr val="E7E6E6"/>
          </a:solidFill>
          <a:ln>
            <a:noFill/>
          </a:ln>
        </p:spPr>
        <p:txBody>
          <a:bodyPr wrap="square" lIns="54864" tIns="54864" rIns="54864" bIns="5486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03" name="Band 103"/>
          <p:cNvSpPr/>
          <p:nvPr/>
        </p:nvSpPr>
        <p:spPr>
          <a:xfrm>
            <a:off x="201168" y="4407408"/>
            <a:ext cx="11832336" cy="1005840"/>
          </a:xfrm>
          <a:prstGeom prst="rect">
            <a:avLst/>
          </a:prstGeom>
          <a:solidFill>
            <a:srgbClr val="CEDBFE"/>
          </a:solidFill>
          <a:ln>
            <a:noFill/>
          </a:ln>
        </p:spPr>
        <p:txBody>
          <a:bodyPr wrap="square" lIns="54864" tIns="54864" rIns="54864" bIns="5486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04" name="Band 104"/>
          <p:cNvSpPr/>
          <p:nvPr/>
        </p:nvSpPr>
        <p:spPr>
          <a:xfrm>
            <a:off x="201168" y="3401568"/>
            <a:ext cx="11832336" cy="1005840"/>
          </a:xfrm>
          <a:prstGeom prst="rect">
            <a:avLst/>
          </a:prstGeom>
          <a:solidFill>
            <a:srgbClr val="FECEF8"/>
          </a:solidFill>
          <a:ln>
            <a:noFill/>
          </a:ln>
        </p:spPr>
        <p:txBody>
          <a:bodyPr wrap="square" lIns="54864" tIns="54864" rIns="54864" bIns="5486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05" name="Band 105"/>
          <p:cNvSpPr/>
          <p:nvPr/>
        </p:nvSpPr>
        <p:spPr>
          <a:xfrm>
            <a:off x="201168" y="777240"/>
            <a:ext cx="11832336" cy="2624328"/>
          </a:xfrm>
          <a:prstGeom prst="rect">
            <a:avLst/>
          </a:prstGeom>
          <a:solidFill>
            <a:srgbClr val="FEE3AC"/>
          </a:solidFill>
          <a:ln>
            <a:noFill/>
          </a:ln>
        </p:spPr>
        <p:txBody>
          <a:bodyPr wrap="square" lIns="54864" tIns="54864" rIns="54864" bIns="5486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06" name="Shape 106"/>
          <p:cNvSpPr/>
          <p:nvPr/>
        </p:nvSpPr>
        <p:spPr>
          <a:xfrm>
            <a:off x="411480" y="1143000"/>
            <a:ext cx="1554480" cy="658368"/>
          </a:xfrm>
          <a:prstGeom prst="roundRect">
            <a:avLst>
              <a:gd name="adj" fmla="val 5000"/>
            </a:avLst>
          </a:prstGeom>
          <a:solidFill>
            <a:srgbClr val="F2F2F2"/>
          </a:solidFill>
          <a:ln w="15875">
            <a:solidFill>
              <a:srgbClr val="595959"/>
            </a:solidFill>
          </a:ln>
        </p:spPr>
        <p:txBody>
          <a:bodyPr wrap="square" lIns="36576" tIns="36576" rIns="36576" bIns="36576"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ko-KR" altLang="en-US" sz="1050" b="1" i="0" u="none" strike="noStrike" kern="1200" cap="none" spc="0" normalizeH="0" baseline="0" noProof="0" dirty="0">
                <a:ln>
                  <a:noFill/>
                </a:ln>
                <a:solidFill>
                  <a:srgbClr val="1A1A1A"/>
                </a:solidFill>
                <a:effectLst/>
                <a:uLnTx/>
                <a:uFillTx/>
                <a:latin typeface="Pretendard"/>
                <a:ea typeface="Pretendard"/>
                <a:cs typeface="Pretendard"/>
              </a:rPr>
              <a:t>실패 궤적 로그</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50" b="0" i="0" u="none" strike="noStrike" kern="1200" cap="none" spc="0" normalizeH="0" baseline="0" noProof="0" dirty="0">
                <a:ln>
                  <a:noFill/>
                </a:ln>
                <a:solidFill>
                  <a:srgbClr val="1A1A1A"/>
                </a:solidFill>
                <a:effectLst/>
                <a:uLnTx/>
                <a:uFillTx/>
                <a:latin typeface="Pretendard"/>
                <a:ea typeface="Pretendard"/>
                <a:cs typeface="Pretendard"/>
              </a:rPr>
              <a:t>+ 작업 명세</a:t>
            </a:r>
          </a:p>
        </p:txBody>
      </p:sp>
      <p:sp>
        <p:nvSpPr>
          <p:cNvPr id="107" name="Line 107"/>
          <p:cNvSpPr/>
          <p:nvPr/>
        </p:nvSpPr>
        <p:spPr>
          <a:xfrm>
            <a:off x="1965960" y="1472184"/>
            <a:ext cx="411480" cy="0"/>
          </a:xfrm>
          <a:prstGeom prst="line">
            <a:avLst/>
          </a:prstGeom>
          <a:noFill/>
          <a:ln w="22225">
            <a:solidFill>
              <a:srgbClr val="5959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08" name="Group 108"/>
          <p:cNvSpPr/>
          <p:nvPr/>
        </p:nvSpPr>
        <p:spPr>
          <a:xfrm>
            <a:off x="2194560" y="1005840"/>
            <a:ext cx="9692640" cy="2286000"/>
          </a:xfrm>
          <a:prstGeom prst="roundRect">
            <a:avLst>
              <a:gd name="adj" fmla="val 3000"/>
            </a:avLst>
          </a:prstGeom>
          <a:noFill/>
          <a:ln w="12700">
            <a:solidFill>
              <a:srgbClr val="7F7F7F"/>
            </a:solidFill>
            <a:prstDash val="dash"/>
          </a:ln>
        </p:spPr>
        <p:txBody>
          <a:bodyPr wrap="square" lIns="54864" tIns="54864" rIns="54864" bIns="5486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10" name="LegendBg 110"/>
          <p:cNvSpPr/>
          <p:nvPr/>
        </p:nvSpPr>
        <p:spPr>
          <a:xfrm>
            <a:off x="2395728" y="914400"/>
            <a:ext cx="960120" cy="182880"/>
          </a:xfrm>
          <a:prstGeom prst="rect">
            <a:avLst/>
          </a:prstGeom>
          <a:solidFill>
            <a:srgbClr val="FEE3AC"/>
          </a:solidFill>
          <a:ln>
            <a:noFill/>
          </a:ln>
        </p:spPr>
        <p:txBody>
          <a:bodyPr wrap="square" lIns="54864" tIns="54864" rIns="54864" bIns="5486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09" name="TextBox 109"/>
          <p:cNvSpPr txBox="1"/>
          <p:nvPr/>
        </p:nvSpPr>
        <p:spPr>
          <a:xfrm>
            <a:off x="2395728" y="886968"/>
            <a:ext cx="960120" cy="237744"/>
          </a:xfrm>
          <a:prstGeom prst="rect">
            <a:avLst/>
          </a:prstGeom>
          <a:no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100" b="1" i="0" u="none" strike="noStrike" kern="1200" cap="none" spc="0" normalizeH="0" baseline="0" noProof="0" dirty="0">
                <a:ln>
                  <a:noFill/>
                </a:ln>
                <a:solidFill>
                  <a:srgbClr val="1A1A1A"/>
                </a:solidFill>
                <a:effectLst/>
                <a:uLnTx/>
                <a:uFillTx/>
                <a:latin typeface="Pretendard"/>
                <a:ea typeface="Pretendard"/>
                <a:cs typeface="Pretendard"/>
              </a:rPr>
              <a:t>오류 귀인</a:t>
            </a:r>
          </a:p>
        </p:txBody>
      </p:sp>
      <p:sp>
        <p:nvSpPr>
          <p:cNvPr id="111" name="Shape 111"/>
          <p:cNvSpPr/>
          <p:nvPr/>
        </p:nvSpPr>
        <p:spPr>
          <a:xfrm>
            <a:off x="2377440" y="1143000"/>
            <a:ext cx="1783080" cy="658368"/>
          </a:xfrm>
          <a:prstGeom prst="roundRect">
            <a:avLst>
              <a:gd name="adj" fmla="val 5000"/>
            </a:avLst>
          </a:prstGeom>
          <a:solidFill>
            <a:srgbClr val="EDF2F9"/>
          </a:solidFill>
          <a:ln w="15875">
            <a:solidFill>
              <a:srgbClr val="2E5FA3"/>
            </a:solidFill>
          </a:ln>
        </p:spPr>
        <p:txBody>
          <a:bodyPr wrap="square" lIns="45720" tIns="45720" rIns="45720" bIns="4572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ko-KR" altLang="en-US" sz="1050" b="1" i="0" u="none" strike="noStrike" kern="1200" cap="none" spc="0" normalizeH="0" baseline="0" noProof="0" dirty="0">
                <a:ln>
                  <a:noFill/>
                </a:ln>
                <a:solidFill>
                  <a:srgbClr val="1A1A1A"/>
                </a:solidFill>
                <a:effectLst/>
                <a:uLnTx/>
                <a:uFillTx/>
                <a:latin typeface="Pretendard"/>
                <a:ea typeface="Pretendard"/>
                <a:cs typeface="Pretendard"/>
              </a:rPr>
              <a:t>로그 길이 판정</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1A1A1A"/>
                </a:solidFill>
                <a:effectLst/>
                <a:uLnTx/>
                <a:uFillTx/>
                <a:latin typeface="Pretendard"/>
                <a:ea typeface="Pretendard"/>
                <a:cs typeface="Pretendard"/>
              </a:rPr>
              <a:t>L ≤ τ ?  (τ: 컨텍스트 예산)</a:t>
            </a:r>
          </a:p>
        </p:txBody>
      </p:sp>
      <p:sp>
        <p:nvSpPr>
          <p:cNvPr id="112" name="Line 112"/>
          <p:cNvSpPr/>
          <p:nvPr/>
        </p:nvSpPr>
        <p:spPr>
          <a:xfrm>
            <a:off x="4160520" y="1472184"/>
            <a:ext cx="4572000" cy="0"/>
          </a:xfrm>
          <a:prstGeom prst="line">
            <a:avLst/>
          </a:prstGeom>
          <a:noFill/>
          <a:ln w="22225">
            <a:solidFill>
              <a:srgbClr val="5959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13" name="TextBox 113"/>
          <p:cNvSpPr txBox="1"/>
          <p:nvPr/>
        </p:nvSpPr>
        <p:spPr>
          <a:xfrm>
            <a:off x="4572000" y="1188720"/>
            <a:ext cx="3749040" cy="237744"/>
          </a:xfrm>
          <a:prstGeom prst="rect">
            <a:avLst/>
          </a:prstGeom>
          <a:no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50" b="1" i="0" u="none" strike="noStrike" kern="1200" cap="none" spc="0" normalizeH="0" baseline="0" noProof="0" dirty="0">
                <a:ln>
                  <a:noFill/>
                </a:ln>
                <a:solidFill>
                  <a:srgbClr val="595959"/>
                </a:solidFill>
                <a:effectLst/>
                <a:uLnTx/>
                <a:uFillTx/>
                <a:latin typeface="Pretendard"/>
                <a:ea typeface="Pretendard"/>
                <a:cs typeface="Pretendard"/>
              </a:rPr>
              <a:t>예 (L ≤ τ) : </a:t>
            </a:r>
            <a:r>
              <a:rPr kumimoji="0" lang="ko-KR" altLang="en-US" sz="950" b="0" i="0" u="none" strike="noStrike" kern="1200" cap="none" spc="0" normalizeH="0" baseline="0" noProof="0" dirty="0">
                <a:ln>
                  <a:noFill/>
                </a:ln>
                <a:solidFill>
                  <a:srgbClr val="595959"/>
                </a:solidFill>
                <a:effectLst/>
                <a:uLnTx/>
                <a:uFillTx/>
                <a:latin typeface="Pretendard"/>
                <a:ea typeface="Pretendard"/>
                <a:cs typeface="Pretendard"/>
              </a:rPr>
              <a:t>전체 로그를 그대로 역방향 판정에 입력</a:t>
            </a:r>
          </a:p>
        </p:txBody>
      </p:sp>
      <p:sp>
        <p:nvSpPr>
          <p:cNvPr id="114" name="Line 114"/>
          <p:cNvSpPr/>
          <p:nvPr/>
        </p:nvSpPr>
        <p:spPr>
          <a:xfrm>
            <a:off x="3268980" y="1801368"/>
            <a:ext cx="0" cy="301752"/>
          </a:xfrm>
          <a:prstGeom prst="line">
            <a:avLst/>
          </a:prstGeom>
          <a:noFill/>
          <a:ln w="22225">
            <a:solidFill>
              <a:srgbClr val="5959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15" name="TextBox 115"/>
          <p:cNvSpPr txBox="1"/>
          <p:nvPr/>
        </p:nvSpPr>
        <p:spPr>
          <a:xfrm>
            <a:off x="3364992" y="1828800"/>
            <a:ext cx="1463040" cy="237744"/>
          </a:xfrm>
          <a:prstGeom prst="rect">
            <a:avLst/>
          </a:prstGeom>
          <a:noFill/>
          <a:ln>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ko-KR" altLang="en-US" sz="950" b="1" i="0" u="none" strike="noStrike" kern="1200" cap="none" spc="0" normalizeH="0" baseline="0" noProof="0" dirty="0">
                <a:ln>
                  <a:noFill/>
                </a:ln>
                <a:solidFill>
                  <a:srgbClr val="595959"/>
                </a:solidFill>
                <a:effectLst/>
                <a:uLnTx/>
                <a:uFillTx/>
                <a:latin typeface="Pretendard"/>
                <a:ea typeface="Pretendard"/>
                <a:cs typeface="Pretendard"/>
              </a:rPr>
              <a:t>아니오 (L &gt; τ)</a:t>
            </a:r>
          </a:p>
        </p:txBody>
      </p:sp>
      <p:sp>
        <p:nvSpPr>
          <p:cNvPr id="116" name="Shape 116"/>
          <p:cNvSpPr/>
          <p:nvPr/>
        </p:nvSpPr>
        <p:spPr>
          <a:xfrm>
            <a:off x="2377440" y="2103120"/>
            <a:ext cx="1783080" cy="1051560"/>
          </a:xfrm>
          <a:prstGeom prst="roundRect">
            <a:avLst>
              <a:gd name="adj" fmla="val 5000"/>
            </a:avLst>
          </a:prstGeom>
          <a:solidFill>
            <a:srgbClr val="FDF3E1"/>
          </a:solidFill>
          <a:ln w="15875">
            <a:solidFill>
              <a:srgbClr val="B7791F"/>
            </a:solidFill>
          </a:ln>
        </p:spPr>
        <p:txBody>
          <a:bodyPr wrap="square" lIns="54864" tIns="54864" rIns="54864" bIns="5486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17" name="TextBox 117"/>
          <p:cNvSpPr txBox="1"/>
          <p:nvPr/>
        </p:nvSpPr>
        <p:spPr>
          <a:xfrm>
            <a:off x="2377440" y="2148840"/>
            <a:ext cx="1783080" cy="219456"/>
          </a:xfrm>
          <a:prstGeom prst="rect">
            <a:avLst/>
          </a:prstGeom>
          <a:no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050" b="1" i="0" u="none" strike="noStrike" kern="1200" cap="none" spc="0" normalizeH="0" baseline="0" noProof="0" dirty="0">
                <a:ln>
                  <a:noFill/>
                </a:ln>
                <a:solidFill>
                  <a:srgbClr val="1A1A1A"/>
                </a:solidFill>
                <a:effectLst/>
                <a:uLnTx/>
                <a:uFillTx/>
                <a:latin typeface="Pretendard"/>
                <a:ea typeface="Pretendard"/>
                <a:cs typeface="Pretendard"/>
              </a:rPr>
              <a:t>구간 분할</a:t>
            </a:r>
          </a:p>
        </p:txBody>
      </p:sp>
      <p:sp>
        <p:nvSpPr>
          <p:cNvPr id="118" name="TextBox 118"/>
          <p:cNvSpPr txBox="1"/>
          <p:nvPr/>
        </p:nvSpPr>
        <p:spPr>
          <a:xfrm>
            <a:off x="2450592" y="2359152"/>
            <a:ext cx="1636776" cy="402336"/>
          </a:xfrm>
          <a:prstGeom prst="rect">
            <a:avLst/>
          </a:prstGeom>
          <a:noFill/>
          <a:ln>
            <a:noFill/>
          </a:ln>
        </p:spPr>
        <p:txBody>
          <a:bodyPr wrap="square"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1A1A1A"/>
                </a:solidFill>
                <a:effectLst/>
                <a:uLnTx/>
                <a:uFillTx/>
                <a:latin typeface="Pretendard"/>
                <a:ea typeface="Pretendard"/>
                <a:cs typeface="Pretendard"/>
              </a:rPr>
              <a:t>계획 단계·에이전트 교대·고정 윈도우 기준으로 로그 분할</a:t>
            </a:r>
          </a:p>
        </p:txBody>
      </p:sp>
      <p:sp>
        <p:nvSpPr>
          <p:cNvPr id="119" name="Line 119"/>
          <p:cNvSpPr/>
          <p:nvPr/>
        </p:nvSpPr>
        <p:spPr>
          <a:xfrm>
            <a:off x="4160520" y="2628900"/>
            <a:ext cx="320040" cy="0"/>
          </a:xfrm>
          <a:prstGeom prst="line">
            <a:avLst/>
          </a:prstGeom>
          <a:noFill/>
          <a:ln w="22225">
            <a:solidFill>
              <a:srgbClr val="5959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20" name="Shape 120"/>
          <p:cNvSpPr/>
          <p:nvPr/>
        </p:nvSpPr>
        <p:spPr>
          <a:xfrm>
            <a:off x="4480560" y="2103120"/>
            <a:ext cx="1783080" cy="1051560"/>
          </a:xfrm>
          <a:prstGeom prst="roundRect">
            <a:avLst>
              <a:gd name="adj" fmla="val 5000"/>
            </a:avLst>
          </a:prstGeom>
          <a:solidFill>
            <a:srgbClr val="FDF3E1"/>
          </a:solidFill>
          <a:ln w="15875">
            <a:solidFill>
              <a:srgbClr val="B7791F"/>
            </a:solidFill>
          </a:ln>
        </p:spPr>
        <p:txBody>
          <a:bodyPr wrap="square" lIns="54864" tIns="54864" rIns="54864" bIns="5486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21" name="TextBox 121"/>
          <p:cNvSpPr txBox="1"/>
          <p:nvPr/>
        </p:nvSpPr>
        <p:spPr>
          <a:xfrm>
            <a:off x="4480560" y="2148840"/>
            <a:ext cx="1783080" cy="219456"/>
          </a:xfrm>
          <a:prstGeom prst="rect">
            <a:avLst/>
          </a:prstGeom>
          <a:no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050" b="1" i="0" u="none" strike="noStrike" kern="1200" cap="none" spc="0" normalizeH="0" baseline="0" noProof="0" dirty="0">
                <a:ln>
                  <a:noFill/>
                </a:ln>
                <a:solidFill>
                  <a:srgbClr val="1A1A1A"/>
                </a:solidFill>
                <a:effectLst/>
                <a:uLnTx/>
                <a:uFillTx/>
                <a:latin typeface="Pretendard"/>
                <a:ea typeface="Pretendard"/>
                <a:cs typeface="Pretendard"/>
              </a:rPr>
              <a:t>구간 끝 요약 생성</a:t>
            </a:r>
          </a:p>
        </p:txBody>
      </p:sp>
      <p:sp>
        <p:nvSpPr>
          <p:cNvPr id="122" name="TextBox 122"/>
          <p:cNvSpPr txBox="1"/>
          <p:nvPr/>
        </p:nvSpPr>
        <p:spPr>
          <a:xfrm>
            <a:off x="4553712" y="2359152"/>
            <a:ext cx="1636776" cy="402336"/>
          </a:xfrm>
          <a:prstGeom prst="rect">
            <a:avLst/>
          </a:prstGeom>
          <a:noFill/>
          <a:ln>
            <a:noFill/>
          </a:ln>
        </p:spPr>
        <p:txBody>
          <a:bodyPr wrap="square"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1A1A1A"/>
                </a:solidFill>
                <a:effectLst/>
                <a:uLnTx/>
                <a:uFillTx/>
                <a:latin typeface="Pretendard"/>
                <a:ea typeface="Pretendard"/>
                <a:cs typeface="Pretendard"/>
              </a:rPr>
              <a:t>구간별 확정 상태를 요약</a:t>
            </a:r>
          </a:p>
        </p:txBody>
      </p:sp>
      <p:sp>
        <p:nvSpPr>
          <p:cNvPr id="123" name="Line 123"/>
          <p:cNvSpPr/>
          <p:nvPr/>
        </p:nvSpPr>
        <p:spPr>
          <a:xfrm>
            <a:off x="6263640" y="2628900"/>
            <a:ext cx="320040" cy="0"/>
          </a:xfrm>
          <a:prstGeom prst="line">
            <a:avLst/>
          </a:prstGeom>
          <a:noFill/>
          <a:ln w="22225">
            <a:solidFill>
              <a:srgbClr val="5959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24" name="Shape 124"/>
          <p:cNvSpPr/>
          <p:nvPr/>
        </p:nvSpPr>
        <p:spPr>
          <a:xfrm>
            <a:off x="6583680" y="2103120"/>
            <a:ext cx="1783080" cy="1051560"/>
          </a:xfrm>
          <a:prstGeom prst="roundRect">
            <a:avLst>
              <a:gd name="adj" fmla="val 5000"/>
            </a:avLst>
          </a:prstGeom>
          <a:solidFill>
            <a:srgbClr val="FDF3E1"/>
          </a:solidFill>
          <a:ln w="15875">
            <a:solidFill>
              <a:srgbClr val="B7791F"/>
            </a:solidFill>
          </a:ln>
        </p:spPr>
        <p:txBody>
          <a:bodyPr wrap="square" lIns="54864" tIns="54864" rIns="54864" bIns="5486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25" name="TextBox 125"/>
          <p:cNvSpPr txBox="1"/>
          <p:nvPr/>
        </p:nvSpPr>
        <p:spPr>
          <a:xfrm>
            <a:off x="6583680" y="2148840"/>
            <a:ext cx="1783080" cy="219456"/>
          </a:xfrm>
          <a:prstGeom prst="rect">
            <a:avLst/>
          </a:prstGeom>
          <a:no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050" b="1" i="0" u="none" strike="noStrike" kern="1200" cap="none" spc="0" normalizeH="0" baseline="0" noProof="0" dirty="0">
                <a:ln>
                  <a:noFill/>
                </a:ln>
                <a:solidFill>
                  <a:srgbClr val="1A1A1A"/>
                </a:solidFill>
                <a:effectLst/>
                <a:uLnTx/>
                <a:uFillTx/>
                <a:latin typeface="Pretendard"/>
                <a:ea typeface="Pretendard"/>
                <a:cs typeface="Pretendard"/>
              </a:rPr>
              <a:t>요약 일괄 비교</a:t>
            </a:r>
          </a:p>
        </p:txBody>
      </p:sp>
      <p:sp>
        <p:nvSpPr>
          <p:cNvPr id="126" name="TextBox 126"/>
          <p:cNvSpPr txBox="1"/>
          <p:nvPr/>
        </p:nvSpPr>
        <p:spPr>
          <a:xfrm>
            <a:off x="6656832" y="2359152"/>
            <a:ext cx="1636776" cy="402336"/>
          </a:xfrm>
          <a:prstGeom prst="rect">
            <a:avLst/>
          </a:prstGeom>
          <a:noFill/>
          <a:ln>
            <a:noFill/>
          </a:ln>
        </p:spPr>
        <p:txBody>
          <a:bodyPr wrap="square"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1A1A1A"/>
                </a:solidFill>
                <a:effectLst/>
                <a:uLnTx/>
                <a:uFillTx/>
                <a:latin typeface="Pretendard"/>
                <a:ea typeface="Pretendard"/>
                <a:cs typeface="Pretendard"/>
              </a:rPr>
              <a:t>S1~Sk를 한 번에 비교해 결함 신호 첫 구간 k 특정</a:t>
            </a:r>
          </a:p>
        </p:txBody>
      </p:sp>
      <p:sp>
        <p:nvSpPr>
          <p:cNvPr id="127" name="mini 127"/>
          <p:cNvSpPr/>
          <p:nvPr/>
        </p:nvSpPr>
        <p:spPr>
          <a:xfrm>
            <a:off x="2487168" y="2898648"/>
            <a:ext cx="109728" cy="109728"/>
          </a:xfrm>
          <a:prstGeom prst="rect">
            <a:avLst/>
          </a:prstGeom>
          <a:solidFill>
            <a:srgbClr val="F2F2F2"/>
          </a:solidFill>
          <a:ln w="6350">
            <a:solidFill>
              <a:srgbClr val="595959"/>
            </a:solidFill>
          </a:ln>
        </p:spPr>
        <p:txBody>
          <a:bodyPr wrap="square" lIns="54864" tIns="54864" rIns="54864" bIns="5486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28" name="mini 128"/>
          <p:cNvSpPr/>
          <p:nvPr/>
        </p:nvSpPr>
        <p:spPr>
          <a:xfrm>
            <a:off x="2624328" y="2898648"/>
            <a:ext cx="109728" cy="109728"/>
          </a:xfrm>
          <a:prstGeom prst="rect">
            <a:avLst/>
          </a:prstGeom>
          <a:solidFill>
            <a:srgbClr val="F2F2F2"/>
          </a:solidFill>
          <a:ln w="6350">
            <a:solidFill>
              <a:srgbClr val="595959"/>
            </a:solidFill>
          </a:ln>
        </p:spPr>
        <p:txBody>
          <a:bodyPr wrap="square" lIns="54864" tIns="54864" rIns="54864" bIns="5486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29" name="mini 129"/>
          <p:cNvSpPr/>
          <p:nvPr/>
        </p:nvSpPr>
        <p:spPr>
          <a:xfrm>
            <a:off x="2834640" y="2898648"/>
            <a:ext cx="109728" cy="109728"/>
          </a:xfrm>
          <a:prstGeom prst="rect">
            <a:avLst/>
          </a:prstGeom>
          <a:solidFill>
            <a:srgbClr val="F2F2F2"/>
          </a:solidFill>
          <a:ln w="6350">
            <a:solidFill>
              <a:srgbClr val="595959"/>
            </a:solidFill>
          </a:ln>
        </p:spPr>
        <p:txBody>
          <a:bodyPr wrap="square" lIns="54864" tIns="54864" rIns="54864" bIns="5486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30" name="mini 130"/>
          <p:cNvSpPr/>
          <p:nvPr/>
        </p:nvSpPr>
        <p:spPr>
          <a:xfrm>
            <a:off x="2971800" y="2898648"/>
            <a:ext cx="109728" cy="109728"/>
          </a:xfrm>
          <a:prstGeom prst="rect">
            <a:avLst/>
          </a:prstGeom>
          <a:solidFill>
            <a:srgbClr val="F2F2F2"/>
          </a:solidFill>
          <a:ln w="6350">
            <a:solidFill>
              <a:srgbClr val="595959"/>
            </a:solidFill>
          </a:ln>
        </p:spPr>
        <p:txBody>
          <a:bodyPr wrap="square" lIns="54864" tIns="54864" rIns="54864" bIns="5486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31" name="mini 131"/>
          <p:cNvSpPr/>
          <p:nvPr/>
        </p:nvSpPr>
        <p:spPr>
          <a:xfrm>
            <a:off x="3108960" y="2898648"/>
            <a:ext cx="109728" cy="109728"/>
          </a:xfrm>
          <a:prstGeom prst="rect">
            <a:avLst/>
          </a:prstGeom>
          <a:solidFill>
            <a:srgbClr val="F2F2F2"/>
          </a:solidFill>
          <a:ln w="6350">
            <a:solidFill>
              <a:srgbClr val="595959"/>
            </a:solidFill>
          </a:ln>
        </p:spPr>
        <p:txBody>
          <a:bodyPr wrap="square" lIns="54864" tIns="54864" rIns="54864" bIns="5486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32" name="mini 132"/>
          <p:cNvSpPr/>
          <p:nvPr/>
        </p:nvSpPr>
        <p:spPr>
          <a:xfrm>
            <a:off x="3319272" y="2898648"/>
            <a:ext cx="109728" cy="109728"/>
          </a:xfrm>
          <a:prstGeom prst="rect">
            <a:avLst/>
          </a:prstGeom>
          <a:solidFill>
            <a:srgbClr val="F2F2F2"/>
          </a:solidFill>
          <a:ln w="6350">
            <a:solidFill>
              <a:srgbClr val="595959"/>
            </a:solidFill>
          </a:ln>
        </p:spPr>
        <p:txBody>
          <a:bodyPr wrap="square" lIns="54864" tIns="54864" rIns="54864" bIns="5486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33" name="mini 133"/>
          <p:cNvSpPr/>
          <p:nvPr/>
        </p:nvSpPr>
        <p:spPr>
          <a:xfrm>
            <a:off x="3456432" y="2898648"/>
            <a:ext cx="109728" cy="109728"/>
          </a:xfrm>
          <a:prstGeom prst="rect">
            <a:avLst/>
          </a:prstGeom>
          <a:solidFill>
            <a:srgbClr val="F2F2F2"/>
          </a:solidFill>
          <a:ln w="6350">
            <a:solidFill>
              <a:srgbClr val="595959"/>
            </a:solidFill>
          </a:ln>
        </p:spPr>
        <p:txBody>
          <a:bodyPr wrap="square" lIns="54864" tIns="54864" rIns="54864" bIns="5486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34" name="mini 134"/>
          <p:cNvSpPr/>
          <p:nvPr/>
        </p:nvSpPr>
        <p:spPr>
          <a:xfrm>
            <a:off x="3666744" y="2898648"/>
            <a:ext cx="109728" cy="109728"/>
          </a:xfrm>
          <a:prstGeom prst="rect">
            <a:avLst/>
          </a:prstGeom>
          <a:solidFill>
            <a:srgbClr val="F2F2F2"/>
          </a:solidFill>
          <a:ln w="6350">
            <a:solidFill>
              <a:srgbClr val="595959"/>
            </a:solidFill>
          </a:ln>
        </p:spPr>
        <p:txBody>
          <a:bodyPr wrap="square" lIns="54864" tIns="54864" rIns="54864" bIns="5486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35" name="mini 135"/>
          <p:cNvSpPr/>
          <p:nvPr/>
        </p:nvSpPr>
        <p:spPr>
          <a:xfrm>
            <a:off x="3803904" y="2898648"/>
            <a:ext cx="109728" cy="109728"/>
          </a:xfrm>
          <a:prstGeom prst="rect">
            <a:avLst/>
          </a:prstGeom>
          <a:solidFill>
            <a:srgbClr val="F2F2F2"/>
          </a:solidFill>
          <a:ln w="6350">
            <a:solidFill>
              <a:srgbClr val="595959"/>
            </a:solidFill>
          </a:ln>
        </p:spPr>
        <p:txBody>
          <a:bodyPr wrap="square" lIns="54864" tIns="54864" rIns="54864" bIns="5486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36" name="mini 136"/>
          <p:cNvSpPr/>
          <p:nvPr/>
        </p:nvSpPr>
        <p:spPr>
          <a:xfrm>
            <a:off x="3941064" y="2898648"/>
            <a:ext cx="109728" cy="109728"/>
          </a:xfrm>
          <a:prstGeom prst="rect">
            <a:avLst/>
          </a:prstGeom>
          <a:solidFill>
            <a:srgbClr val="F2F2F2"/>
          </a:solidFill>
          <a:ln w="6350">
            <a:solidFill>
              <a:srgbClr val="595959"/>
            </a:solidFill>
          </a:ln>
        </p:spPr>
        <p:txBody>
          <a:bodyPr wrap="square" lIns="54864" tIns="54864" rIns="54864" bIns="5486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37" name="Shape 137"/>
          <p:cNvSpPr/>
          <p:nvPr/>
        </p:nvSpPr>
        <p:spPr>
          <a:xfrm>
            <a:off x="4594860" y="2862072"/>
            <a:ext cx="347472" cy="182880"/>
          </a:xfrm>
          <a:prstGeom prst="rect">
            <a:avLst/>
          </a:prstGeom>
          <a:solidFill>
            <a:srgbClr val="EDF2F9"/>
          </a:solidFill>
          <a:ln w="6350">
            <a:solidFill>
              <a:srgbClr val="2E5FA3"/>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850" b="1" i="0" u="none" strike="noStrike" kern="1200" cap="none" spc="0" normalizeH="0" baseline="0" noProof="0" dirty="0">
                <a:ln>
                  <a:noFill/>
                </a:ln>
                <a:solidFill>
                  <a:srgbClr val="1F3864"/>
                </a:solidFill>
                <a:effectLst/>
                <a:uLnTx/>
                <a:uFillTx/>
                <a:latin typeface="Pretendard"/>
                <a:ea typeface="Pretendard"/>
                <a:cs typeface="Pretendard"/>
              </a:rPr>
              <a:t>S1</a:t>
            </a:r>
          </a:p>
        </p:txBody>
      </p:sp>
      <p:sp>
        <p:nvSpPr>
          <p:cNvPr id="138" name="Shape 138"/>
          <p:cNvSpPr/>
          <p:nvPr/>
        </p:nvSpPr>
        <p:spPr>
          <a:xfrm>
            <a:off x="4997196" y="2862072"/>
            <a:ext cx="347472" cy="182880"/>
          </a:xfrm>
          <a:prstGeom prst="rect">
            <a:avLst/>
          </a:prstGeom>
          <a:solidFill>
            <a:srgbClr val="EDF2F9"/>
          </a:solidFill>
          <a:ln w="6350">
            <a:solidFill>
              <a:srgbClr val="2E5FA3"/>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850" b="1" i="0" u="none" strike="noStrike" kern="1200" cap="none" spc="0" normalizeH="0" baseline="0" noProof="0" dirty="0">
                <a:ln>
                  <a:noFill/>
                </a:ln>
                <a:solidFill>
                  <a:srgbClr val="1F3864"/>
                </a:solidFill>
                <a:effectLst/>
                <a:uLnTx/>
                <a:uFillTx/>
                <a:latin typeface="Pretendard"/>
                <a:ea typeface="Pretendard"/>
                <a:cs typeface="Pretendard"/>
              </a:rPr>
              <a:t>S2</a:t>
            </a:r>
          </a:p>
        </p:txBody>
      </p:sp>
      <p:sp>
        <p:nvSpPr>
          <p:cNvPr id="139" name="Shape 139"/>
          <p:cNvSpPr/>
          <p:nvPr/>
        </p:nvSpPr>
        <p:spPr>
          <a:xfrm>
            <a:off x="5399532" y="2862072"/>
            <a:ext cx="347472" cy="182880"/>
          </a:xfrm>
          <a:prstGeom prst="rect">
            <a:avLst/>
          </a:prstGeom>
          <a:solidFill>
            <a:srgbClr val="EDF2F9"/>
          </a:solidFill>
          <a:ln w="6350">
            <a:solidFill>
              <a:srgbClr val="2E5FA3"/>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850" b="1" i="0" u="none" strike="noStrike" kern="1200" cap="none" spc="0" normalizeH="0" baseline="0" noProof="0" dirty="0">
                <a:ln>
                  <a:noFill/>
                </a:ln>
                <a:solidFill>
                  <a:srgbClr val="1F3864"/>
                </a:solidFill>
                <a:effectLst/>
                <a:uLnTx/>
                <a:uFillTx/>
                <a:latin typeface="Pretendard"/>
                <a:ea typeface="Pretendard"/>
                <a:cs typeface="Pretendard"/>
              </a:rPr>
              <a:t>S3</a:t>
            </a:r>
          </a:p>
        </p:txBody>
      </p:sp>
      <p:sp>
        <p:nvSpPr>
          <p:cNvPr id="140" name="Shape 140"/>
          <p:cNvSpPr/>
          <p:nvPr/>
        </p:nvSpPr>
        <p:spPr>
          <a:xfrm>
            <a:off x="5801868" y="2862072"/>
            <a:ext cx="347472" cy="182880"/>
          </a:xfrm>
          <a:prstGeom prst="rect">
            <a:avLst/>
          </a:prstGeom>
          <a:solidFill>
            <a:srgbClr val="EDF2F9"/>
          </a:solidFill>
          <a:ln w="6350">
            <a:solidFill>
              <a:srgbClr val="2E5FA3"/>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850" b="1" i="0" u="none" strike="noStrike" kern="1200" cap="none" spc="0" normalizeH="0" baseline="0" noProof="0" dirty="0">
                <a:ln>
                  <a:noFill/>
                </a:ln>
                <a:solidFill>
                  <a:srgbClr val="1F3864"/>
                </a:solidFill>
                <a:effectLst/>
                <a:uLnTx/>
                <a:uFillTx/>
                <a:latin typeface="Pretendard"/>
                <a:ea typeface="Pretendard"/>
                <a:cs typeface="Pretendard"/>
              </a:rPr>
              <a:t>S4</a:t>
            </a:r>
          </a:p>
        </p:txBody>
      </p:sp>
      <p:sp>
        <p:nvSpPr>
          <p:cNvPr id="141" name="Shape 141"/>
          <p:cNvSpPr/>
          <p:nvPr/>
        </p:nvSpPr>
        <p:spPr>
          <a:xfrm>
            <a:off x="6665976" y="2862072"/>
            <a:ext cx="384048" cy="182880"/>
          </a:xfrm>
          <a:prstGeom prst="rect">
            <a:avLst/>
          </a:prstGeom>
          <a:solidFill>
            <a:srgbClr val="E8F5EE"/>
          </a:solidFill>
          <a:ln w="6350">
            <a:solidFill>
              <a:srgbClr val="1E7A46"/>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850" b="1" i="0" u="none" strike="noStrike" kern="1200" cap="none" spc="0" normalizeH="0" baseline="0" noProof="0" dirty="0">
                <a:ln>
                  <a:noFill/>
                </a:ln>
                <a:solidFill>
                  <a:srgbClr val="1E7A46"/>
                </a:solidFill>
                <a:effectLst/>
                <a:uLnTx/>
                <a:uFillTx/>
                <a:latin typeface="Pretendard"/>
                <a:ea typeface="Pretendard"/>
                <a:cs typeface="Pretendard"/>
              </a:rPr>
              <a:t>S1 ✓</a:t>
            </a:r>
          </a:p>
        </p:txBody>
      </p:sp>
      <p:sp>
        <p:nvSpPr>
          <p:cNvPr id="142" name="Shape 142"/>
          <p:cNvSpPr/>
          <p:nvPr/>
        </p:nvSpPr>
        <p:spPr>
          <a:xfrm>
            <a:off x="7077456" y="2862072"/>
            <a:ext cx="384048" cy="182880"/>
          </a:xfrm>
          <a:prstGeom prst="rect">
            <a:avLst/>
          </a:prstGeom>
          <a:solidFill>
            <a:srgbClr val="E8F5EE"/>
          </a:solidFill>
          <a:ln w="6350">
            <a:solidFill>
              <a:srgbClr val="1E7A46"/>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850" b="1" i="0" u="none" strike="noStrike" kern="1200" cap="none" spc="0" normalizeH="0" baseline="0" noProof="0" dirty="0">
                <a:ln>
                  <a:noFill/>
                </a:ln>
                <a:solidFill>
                  <a:srgbClr val="1E7A46"/>
                </a:solidFill>
                <a:effectLst/>
                <a:uLnTx/>
                <a:uFillTx/>
                <a:latin typeface="Pretendard"/>
                <a:ea typeface="Pretendard"/>
                <a:cs typeface="Pretendard"/>
              </a:rPr>
              <a:t>S2 ✓</a:t>
            </a:r>
          </a:p>
        </p:txBody>
      </p:sp>
      <p:sp>
        <p:nvSpPr>
          <p:cNvPr id="143" name="Shape 143"/>
          <p:cNvSpPr/>
          <p:nvPr/>
        </p:nvSpPr>
        <p:spPr>
          <a:xfrm>
            <a:off x="7488936" y="2862072"/>
            <a:ext cx="384048" cy="182880"/>
          </a:xfrm>
          <a:prstGeom prst="rect">
            <a:avLst/>
          </a:prstGeom>
          <a:solidFill>
            <a:srgbClr val="FBEAE8"/>
          </a:solidFill>
          <a:ln w="6350">
            <a:solidFill>
              <a:srgbClr val="C0392B"/>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850" b="1" i="0" u="none" strike="noStrike" kern="1200" cap="none" spc="0" normalizeH="0" baseline="0" noProof="0" dirty="0">
                <a:ln>
                  <a:noFill/>
                </a:ln>
                <a:solidFill>
                  <a:srgbClr val="C0392B"/>
                </a:solidFill>
                <a:effectLst/>
                <a:uLnTx/>
                <a:uFillTx/>
                <a:latin typeface="Pretendard"/>
                <a:ea typeface="Pretendard"/>
                <a:cs typeface="Pretendard"/>
              </a:rPr>
              <a:t>S3 ✕</a:t>
            </a:r>
          </a:p>
        </p:txBody>
      </p:sp>
      <p:sp>
        <p:nvSpPr>
          <p:cNvPr id="144" name="Shape 144"/>
          <p:cNvSpPr/>
          <p:nvPr/>
        </p:nvSpPr>
        <p:spPr>
          <a:xfrm>
            <a:off x="7900416" y="2862072"/>
            <a:ext cx="384048" cy="182880"/>
          </a:xfrm>
          <a:prstGeom prst="rect">
            <a:avLst/>
          </a:prstGeom>
          <a:solidFill>
            <a:srgbClr val="F2F2F2"/>
          </a:solidFill>
          <a:ln w="6350">
            <a:solidFill>
              <a:srgbClr val="7F7F7F"/>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850" b="1" i="0" u="none" strike="noStrike" kern="1200" cap="none" spc="0" normalizeH="0" baseline="0" noProof="0" dirty="0">
                <a:ln>
                  <a:noFill/>
                </a:ln>
                <a:solidFill>
                  <a:srgbClr val="7F7F7F"/>
                </a:solidFill>
                <a:effectLst/>
                <a:uLnTx/>
                <a:uFillTx/>
                <a:latin typeface="Pretendard"/>
                <a:ea typeface="Pretendard"/>
                <a:cs typeface="Pretendard"/>
              </a:rPr>
              <a:t>S4</a:t>
            </a:r>
          </a:p>
        </p:txBody>
      </p:sp>
      <p:sp>
        <p:nvSpPr>
          <p:cNvPr id="145" name="Line 145"/>
          <p:cNvSpPr/>
          <p:nvPr/>
        </p:nvSpPr>
        <p:spPr>
          <a:xfrm>
            <a:off x="8366760" y="2628900"/>
            <a:ext cx="365760" cy="0"/>
          </a:xfrm>
          <a:prstGeom prst="line">
            <a:avLst/>
          </a:prstGeom>
          <a:noFill/>
          <a:ln w="22225">
            <a:solidFill>
              <a:srgbClr val="5959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46" name="Shape 146"/>
          <p:cNvSpPr/>
          <p:nvPr/>
        </p:nvSpPr>
        <p:spPr>
          <a:xfrm>
            <a:off x="8732520" y="1143000"/>
            <a:ext cx="1691640" cy="2011680"/>
          </a:xfrm>
          <a:prstGeom prst="roundRect">
            <a:avLst>
              <a:gd name="adj" fmla="val 4000"/>
            </a:avLst>
          </a:prstGeom>
          <a:solidFill>
            <a:srgbClr val="EDF2F9"/>
          </a:solidFill>
          <a:ln w="15875">
            <a:solidFill>
              <a:srgbClr val="2E5FA3"/>
            </a:solidFill>
          </a:ln>
        </p:spPr>
        <p:txBody>
          <a:bodyPr wrap="square" lIns="54864" tIns="54864" rIns="54864" bIns="5486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47" name="TextBox 147"/>
          <p:cNvSpPr txBox="1"/>
          <p:nvPr/>
        </p:nvSpPr>
        <p:spPr>
          <a:xfrm>
            <a:off x="8732520" y="1197864"/>
            <a:ext cx="1691640" cy="237744"/>
          </a:xfrm>
          <a:prstGeom prst="rect">
            <a:avLst/>
          </a:prstGeom>
          <a:no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050" b="1" i="0" u="none" strike="noStrike" kern="1200" cap="none" spc="0" normalizeH="0" baseline="0" noProof="0" dirty="0">
                <a:ln>
                  <a:noFill/>
                </a:ln>
                <a:solidFill>
                  <a:srgbClr val="1A1A1A"/>
                </a:solidFill>
                <a:effectLst/>
                <a:uLnTx/>
                <a:uFillTx/>
                <a:latin typeface="Pretendard"/>
                <a:ea typeface="Pretendard"/>
                <a:cs typeface="Pretendard"/>
              </a:rPr>
              <a:t>역방향 판정</a:t>
            </a:r>
          </a:p>
        </p:txBody>
      </p:sp>
      <p:sp>
        <p:nvSpPr>
          <p:cNvPr id="148" name="TextBox 148"/>
          <p:cNvSpPr txBox="1"/>
          <p:nvPr/>
        </p:nvSpPr>
        <p:spPr>
          <a:xfrm>
            <a:off x="8805672" y="1435608"/>
            <a:ext cx="1545336" cy="603504"/>
          </a:xfrm>
          <a:prstGeom prst="rect">
            <a:avLst/>
          </a:prstGeom>
          <a:no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1A1A1A"/>
                </a:solidFill>
                <a:effectLst/>
                <a:uLnTx/>
                <a:uFillTx/>
                <a:latin typeface="Pretendard"/>
                <a:ea typeface="Pretendard"/>
                <a:cs typeface="Pretendard"/>
              </a:rPr>
              <a:t>결함 발생·상속 판정 반복</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1A1A1A"/>
                </a:solidFill>
                <a:effectLst/>
                <a:uLnTx/>
                <a:uFillTx/>
                <a:latin typeface="Pretendard"/>
                <a:ea typeface="Pretendard"/>
                <a:cs typeface="Pretendard"/>
              </a:rPr>
              <a:t>상속 → 출처 단계로 이동</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1A1A1A"/>
                </a:solidFill>
                <a:effectLst/>
                <a:uLnTx/>
                <a:uFillTx/>
                <a:latin typeface="Pretendard"/>
                <a:ea typeface="Pretendard"/>
                <a:cs typeface="Pretendard"/>
              </a:rPr>
              <a:t>발생 → s* 확정</a:t>
            </a:r>
          </a:p>
        </p:txBody>
      </p:sp>
      <p:sp>
        <p:nvSpPr>
          <p:cNvPr id="149" name="Line 149"/>
          <p:cNvSpPr/>
          <p:nvPr/>
        </p:nvSpPr>
        <p:spPr>
          <a:xfrm>
            <a:off x="8869680" y="2130552"/>
            <a:ext cx="1417320" cy="0"/>
          </a:xfrm>
          <a:prstGeom prst="line">
            <a:avLst/>
          </a:prstGeom>
          <a:noFill/>
          <a:ln w="6350">
            <a:solidFill>
              <a:srgbClr val="9DB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50" name="TextBox 150"/>
          <p:cNvSpPr txBox="1"/>
          <p:nvPr/>
        </p:nvSpPr>
        <p:spPr>
          <a:xfrm>
            <a:off x="8732520" y="2185416"/>
            <a:ext cx="1691640" cy="201168"/>
          </a:xfrm>
          <a:prstGeom prst="rect">
            <a:avLst/>
          </a:prstGeom>
          <a:no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1" i="0" u="none" strike="noStrike" kern="1200" cap="none" spc="0" normalizeH="0" baseline="0" noProof="0" dirty="0">
                <a:ln>
                  <a:noFill/>
                </a:ln>
                <a:solidFill>
                  <a:srgbClr val="1A1A1A"/>
                </a:solidFill>
                <a:effectLst/>
                <a:uLnTx/>
                <a:uFillTx/>
                <a:latin typeface="Pretendard"/>
                <a:ea typeface="Pretendard"/>
                <a:cs typeface="Pretendard"/>
              </a:rPr>
              <a:t>입력 범위</a:t>
            </a:r>
          </a:p>
        </p:txBody>
      </p:sp>
      <p:sp>
        <p:nvSpPr>
          <p:cNvPr id="151" name="Shape 151"/>
          <p:cNvSpPr/>
          <p:nvPr/>
        </p:nvSpPr>
        <p:spPr>
          <a:xfrm>
            <a:off x="8842248" y="2423160"/>
            <a:ext cx="1472184" cy="219456"/>
          </a:xfrm>
          <a:prstGeom prst="roundRect">
            <a:avLst>
              <a:gd name="adj" fmla="val 8000"/>
            </a:avLst>
          </a:prstGeom>
          <a:solidFill>
            <a:srgbClr val="F2F2F2"/>
          </a:solidFill>
          <a:ln w="6350">
            <a:solidFill>
              <a:srgbClr val="595959"/>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850" b="1" i="0" u="none" strike="noStrike" kern="1200" cap="none" spc="0" normalizeH="0" baseline="0" noProof="0" dirty="0">
                <a:ln>
                  <a:noFill/>
                </a:ln>
                <a:solidFill>
                  <a:srgbClr val="1A1A1A"/>
                </a:solidFill>
                <a:effectLst/>
                <a:uLnTx/>
                <a:uFillTx/>
                <a:latin typeface="Pretendard"/>
                <a:ea typeface="Pretendard"/>
                <a:cs typeface="Pretendard"/>
              </a:rPr>
              <a:t>L ≤ τ : 전체 로그</a:t>
            </a:r>
          </a:p>
        </p:txBody>
      </p:sp>
      <p:sp>
        <p:nvSpPr>
          <p:cNvPr id="152" name="Shape 152"/>
          <p:cNvSpPr/>
          <p:nvPr/>
        </p:nvSpPr>
        <p:spPr>
          <a:xfrm>
            <a:off x="8842248" y="2715768"/>
            <a:ext cx="1472184" cy="347472"/>
          </a:xfrm>
          <a:prstGeom prst="roundRect">
            <a:avLst>
              <a:gd name="adj" fmla="val 8000"/>
            </a:avLst>
          </a:prstGeom>
          <a:solidFill>
            <a:srgbClr val="FDF3E1"/>
          </a:solidFill>
          <a:ln w="6350">
            <a:solidFill>
              <a:srgbClr val="B7791F"/>
            </a:solidFill>
          </a:ln>
        </p:spPr>
        <p:txBody>
          <a:bodyPr wrap="square" lIns="0" tIns="0" r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ko-KR" altLang="en-US" sz="850" b="1" i="0" u="none" strike="noStrike" kern="1200" cap="none" spc="0" normalizeH="0" baseline="0" noProof="0" dirty="0">
                <a:ln>
                  <a:noFill/>
                </a:ln>
                <a:solidFill>
                  <a:srgbClr val="1A1A1A"/>
                </a:solidFill>
                <a:effectLst/>
                <a:uLnTx/>
                <a:uFillTx/>
                <a:latin typeface="Pretendard"/>
                <a:ea typeface="Pretendard"/>
                <a:cs typeface="Pretendard"/>
              </a:rPr>
              <a:t>L &gt; τ : 구간 k + S(k−1)</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srgbClr val="595959"/>
                </a:solidFill>
                <a:effectLst/>
                <a:uLnTx/>
                <a:uFillTx/>
                <a:latin typeface="Pretendard"/>
                <a:ea typeface="Pretendard"/>
                <a:cs typeface="Pretendard"/>
              </a:rPr>
              <a:t>경계 도달 시 이전 구간으로</a:t>
            </a:r>
          </a:p>
        </p:txBody>
      </p:sp>
      <p:sp>
        <p:nvSpPr>
          <p:cNvPr id="153" name="Line 153"/>
          <p:cNvSpPr/>
          <p:nvPr/>
        </p:nvSpPr>
        <p:spPr>
          <a:xfrm>
            <a:off x="10424160" y="2148840"/>
            <a:ext cx="274320" cy="0"/>
          </a:xfrm>
          <a:prstGeom prst="line">
            <a:avLst/>
          </a:prstGeom>
          <a:noFill/>
          <a:ln w="22225">
            <a:solidFill>
              <a:srgbClr val="5959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54" name="Shape 154"/>
          <p:cNvSpPr/>
          <p:nvPr/>
        </p:nvSpPr>
        <p:spPr>
          <a:xfrm>
            <a:off x="10698480" y="1143000"/>
            <a:ext cx="1051560" cy="2011680"/>
          </a:xfrm>
          <a:prstGeom prst="roundRect">
            <a:avLst>
              <a:gd name="adj" fmla="val 5000"/>
            </a:avLst>
          </a:prstGeom>
          <a:solidFill>
            <a:srgbClr val="FBEAE8"/>
          </a:solidFill>
          <a:ln w="15875">
            <a:solidFill>
              <a:srgbClr val="C0392B"/>
            </a:solidFill>
          </a:ln>
        </p:spPr>
        <p:txBody>
          <a:bodyPr wrap="square" lIns="36576" tIns="36576" rIns="36576" bIns="36576"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ko-KR" altLang="en-US" sz="1050" b="1" i="0" u="none" strike="noStrike" kern="1200" cap="none" spc="0" normalizeH="0" baseline="0" noProof="0" dirty="0">
                <a:ln>
                  <a:noFill/>
                </a:ln>
                <a:solidFill>
                  <a:srgbClr val="1A1A1A"/>
                </a:solidFill>
                <a:effectLst/>
                <a:uLnTx/>
                <a:uFillTx/>
                <a:latin typeface="Pretendard"/>
                <a:ea typeface="Pretendard"/>
                <a:cs typeface="Pretendard"/>
              </a:rPr>
              <a:t>결정적 오류</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ko-KR" altLang="en-US" sz="1050" b="1" i="0" u="none" strike="noStrike" kern="1200" cap="none" spc="0" normalizeH="0" baseline="0" noProof="0" dirty="0">
                <a:ln>
                  <a:noFill/>
                </a:ln>
                <a:solidFill>
                  <a:srgbClr val="1A1A1A"/>
                </a:solidFill>
                <a:effectLst/>
                <a:uLnTx/>
                <a:uFillTx/>
                <a:latin typeface="Pretendard"/>
                <a:ea typeface="Pretendard"/>
                <a:cs typeface="Pretendard"/>
              </a:rPr>
              <a:t>단계 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600" b="0" i="0" u="none" strike="noStrike" kern="1200" cap="none" spc="0" normalizeH="0" baseline="0" noProof="0" dirty="0">
                <a:ln>
                  <a:noFill/>
                </a:ln>
                <a:solidFill>
                  <a:srgbClr val="1A1A1A"/>
                </a:solidFill>
                <a:effectLst/>
                <a:uLnTx/>
                <a:uFillTx/>
                <a:latin typeface="Pretendard"/>
                <a:ea typeface="Pretendard"/>
                <a:cs typeface="Pretendard"/>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1A1A1A"/>
                </a:solidFill>
                <a:effectLst/>
                <a:uLnTx/>
                <a:uFillTx/>
                <a:latin typeface="Pretendard"/>
                <a:ea typeface="Pretendard"/>
                <a:cs typeface="Pretendard"/>
              </a:rPr>
              <a:t>에이전트·단계·</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1A1A1A"/>
                </a:solidFill>
                <a:effectLst/>
                <a:uLnTx/>
                <a:uFillTx/>
                <a:latin typeface="Pretendard"/>
                <a:ea typeface="Pretendard"/>
                <a:cs typeface="Pretendard"/>
              </a:rPr>
              <a:t>오류 사유</a:t>
            </a:r>
          </a:p>
        </p:txBody>
      </p:sp>
      <p:sp>
        <p:nvSpPr>
          <p:cNvPr id="155" name="Line 155"/>
          <p:cNvSpPr/>
          <p:nvPr/>
        </p:nvSpPr>
        <p:spPr>
          <a:xfrm>
            <a:off x="11224260" y="3154680"/>
            <a:ext cx="0" cy="457200"/>
          </a:xfrm>
          <a:prstGeom prst="line">
            <a:avLst/>
          </a:prstGeom>
          <a:noFill/>
          <a:ln w="22225">
            <a:solidFill>
              <a:srgbClr val="5959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56" name="Shape 156"/>
          <p:cNvSpPr/>
          <p:nvPr/>
        </p:nvSpPr>
        <p:spPr>
          <a:xfrm>
            <a:off x="7589520" y="3611880"/>
            <a:ext cx="4114800" cy="658368"/>
          </a:xfrm>
          <a:prstGeom prst="roundRect">
            <a:avLst>
              <a:gd name="adj" fmla="val 5000"/>
            </a:avLst>
          </a:prstGeom>
          <a:solidFill>
            <a:srgbClr val="EDF2F9"/>
          </a:solidFill>
          <a:ln w="15875">
            <a:solidFill>
              <a:srgbClr val="2E5FA3"/>
            </a:solidFill>
          </a:ln>
        </p:spPr>
        <p:txBody>
          <a:bodyPr wrap="square" lIns="45720" tIns="45720" rIns="45720" bIns="4572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ko-KR" altLang="en-US" sz="1050" b="1" i="0" u="none" strike="noStrike" kern="1200" cap="none" spc="0" normalizeH="0" baseline="0" noProof="0" dirty="0">
                <a:ln>
                  <a:noFill/>
                </a:ln>
                <a:solidFill>
                  <a:srgbClr val="1A1A1A"/>
                </a:solidFill>
                <a:effectLst/>
                <a:uLnTx/>
                <a:uFillTx/>
                <a:latin typeface="Pretendard"/>
                <a:ea typeface="Pretendard"/>
                <a:cs typeface="Pretendard"/>
              </a:rPr>
              <a:t>페르소나 역추출 및 공유 메모리 구축</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50" b="0" i="0" u="none" strike="noStrike" kern="1200" cap="none" spc="0" normalizeH="0" baseline="0" noProof="0" dirty="0">
                <a:ln>
                  <a:noFill/>
                </a:ln>
                <a:solidFill>
                  <a:srgbClr val="1A1A1A"/>
                </a:solidFill>
                <a:effectLst/>
                <a:uLnTx/>
                <a:uFillTx/>
                <a:latin typeface="Pretendard"/>
                <a:ea typeface="Pretendard"/>
                <a:cs typeface="Pretendard"/>
              </a:rPr>
              <a:t>s* 에이전트 페르소나 역추출 + s* 직전까지 궤적 요약</a:t>
            </a:r>
          </a:p>
        </p:txBody>
      </p:sp>
      <p:sp>
        <p:nvSpPr>
          <p:cNvPr id="157" name="Line 157"/>
          <p:cNvSpPr/>
          <p:nvPr/>
        </p:nvSpPr>
        <p:spPr>
          <a:xfrm flipH="1">
            <a:off x="7178040" y="3941064"/>
            <a:ext cx="411480" cy="0"/>
          </a:xfrm>
          <a:prstGeom prst="line">
            <a:avLst/>
          </a:prstGeom>
          <a:noFill/>
          <a:ln w="22225">
            <a:solidFill>
              <a:srgbClr val="5959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58" name="Shape 158"/>
          <p:cNvSpPr/>
          <p:nvPr/>
        </p:nvSpPr>
        <p:spPr>
          <a:xfrm>
            <a:off x="2377440" y="3611880"/>
            <a:ext cx="4800600" cy="658368"/>
          </a:xfrm>
          <a:prstGeom prst="roundRect">
            <a:avLst>
              <a:gd name="adj" fmla="val 3704"/>
            </a:avLst>
          </a:prstGeom>
          <a:solidFill>
            <a:srgbClr val="EDF2F9"/>
          </a:solidFill>
          <a:ln w="19050">
            <a:solidFill>
              <a:srgbClr val="1F3864"/>
            </a:solidFill>
          </a:ln>
        </p:spPr>
        <p:txBody>
          <a:bodyPr wrap="square" lIns="45720" tIns="45720" rIns="45720" bIns="4572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ko-KR" altLang="en-US" sz="1050" b="1" i="0" u="none" strike="noStrike" kern="1200" cap="none" spc="0" normalizeH="0" baseline="0" noProof="0" dirty="0">
                <a:ln>
                  <a:noFill/>
                </a:ln>
                <a:solidFill>
                  <a:srgbClr val="1A1A1A"/>
                </a:solidFill>
                <a:effectLst/>
                <a:uLnTx/>
                <a:uFillTx/>
                <a:latin typeface="Pretendard"/>
                <a:ea typeface="Pretendard"/>
                <a:cs typeface="Pretendard"/>
              </a:rPr>
              <a:t>오류 교정</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50" b="0" i="0" u="none" strike="noStrike" kern="1200" cap="none" spc="0" normalizeH="0" baseline="0" noProof="0" dirty="0">
                <a:ln>
                  <a:noFill/>
                </a:ln>
                <a:solidFill>
                  <a:srgbClr val="1A1A1A"/>
                </a:solidFill>
                <a:effectLst/>
                <a:uLnTx/>
                <a:uFillTx/>
                <a:latin typeface="Pretendard"/>
                <a:ea typeface="Pretendard"/>
                <a:cs typeface="Pretendard"/>
              </a:rPr>
              <a:t>[페르소나 + 공유 메모리 + 교정 지시]를 수리 에이전트에 주입하여 s*의 출력을 교정</a:t>
            </a:r>
          </a:p>
        </p:txBody>
      </p:sp>
      <p:sp>
        <p:nvSpPr>
          <p:cNvPr id="159" name="Line 159"/>
          <p:cNvSpPr/>
          <p:nvPr/>
        </p:nvSpPr>
        <p:spPr>
          <a:xfrm>
            <a:off x="4777740" y="4270248"/>
            <a:ext cx="0" cy="347472"/>
          </a:xfrm>
          <a:prstGeom prst="line">
            <a:avLst/>
          </a:prstGeom>
          <a:noFill/>
          <a:ln w="22225">
            <a:solidFill>
              <a:srgbClr val="5959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60" name="Shape 160"/>
          <p:cNvSpPr/>
          <p:nvPr/>
        </p:nvSpPr>
        <p:spPr>
          <a:xfrm>
            <a:off x="2377440" y="4617720"/>
            <a:ext cx="4480560" cy="658368"/>
          </a:xfrm>
          <a:prstGeom prst="roundRect">
            <a:avLst>
              <a:gd name="adj" fmla="val 5000"/>
            </a:avLst>
          </a:prstGeom>
          <a:solidFill>
            <a:srgbClr val="EDF2F9"/>
          </a:solidFill>
          <a:ln w="15875">
            <a:solidFill>
              <a:srgbClr val="2E5FA3"/>
            </a:solidFill>
          </a:ln>
        </p:spPr>
        <p:txBody>
          <a:bodyPr wrap="square" lIns="45720" tIns="45720" rIns="45720" bIns="4572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ko-KR" altLang="en-US" sz="1050" b="1" i="0" u="none" strike="noStrike" kern="1200" cap="none" spc="0" normalizeH="0" baseline="0" noProof="0" dirty="0">
                <a:ln>
                  <a:noFill/>
                </a:ln>
                <a:solidFill>
                  <a:srgbClr val="1A1A1A"/>
                </a:solidFill>
                <a:effectLst/>
                <a:uLnTx/>
                <a:uFillTx/>
                <a:latin typeface="Pretendard"/>
                <a:ea typeface="Pretendard"/>
                <a:cs typeface="Pretendard"/>
              </a:rPr>
              <a:t>하류 궤적 재생성 시스템 구축</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50" b="0" i="0" u="none" strike="noStrike" kern="1200" cap="none" spc="0" normalizeH="0" baseline="0" noProof="0" dirty="0">
                <a:ln>
                  <a:noFill/>
                </a:ln>
                <a:solidFill>
                  <a:srgbClr val="1A1A1A"/>
                </a:solidFill>
                <a:effectLst/>
                <a:uLnTx/>
                <a:uFillTx/>
                <a:latin typeface="Pretendard"/>
                <a:ea typeface="Pretendard"/>
                <a:cs typeface="Pretendard"/>
              </a:rPr>
              <a:t>실패 궤적 로그와 교정 결과로 하류 재생성용 멀티에이전트 시스템 정의</a:t>
            </a:r>
          </a:p>
        </p:txBody>
      </p:sp>
      <p:sp>
        <p:nvSpPr>
          <p:cNvPr id="161" name="Line 161"/>
          <p:cNvSpPr/>
          <p:nvPr/>
        </p:nvSpPr>
        <p:spPr>
          <a:xfrm>
            <a:off x="6858000" y="4946904"/>
            <a:ext cx="365760" cy="0"/>
          </a:xfrm>
          <a:prstGeom prst="line">
            <a:avLst/>
          </a:prstGeom>
          <a:noFill/>
          <a:ln w="22225">
            <a:solidFill>
              <a:srgbClr val="5959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62" name="Shape 162"/>
          <p:cNvSpPr/>
          <p:nvPr/>
        </p:nvSpPr>
        <p:spPr>
          <a:xfrm>
            <a:off x="7223760" y="4617720"/>
            <a:ext cx="4480560" cy="658368"/>
          </a:xfrm>
          <a:prstGeom prst="roundRect">
            <a:avLst>
              <a:gd name="adj" fmla="val 3704"/>
            </a:avLst>
          </a:prstGeom>
          <a:solidFill>
            <a:srgbClr val="EDF2F9"/>
          </a:solidFill>
          <a:ln w="19050">
            <a:solidFill>
              <a:srgbClr val="1F3864"/>
            </a:solidFill>
          </a:ln>
        </p:spPr>
        <p:txBody>
          <a:bodyPr wrap="square" lIns="45720" tIns="45720" rIns="45720" bIns="4572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ko-KR" altLang="en-US" sz="1050" b="1" i="0" u="none" strike="noStrike" kern="1200" cap="none" spc="0" normalizeH="0" baseline="0" noProof="0" dirty="0">
                <a:ln>
                  <a:noFill/>
                </a:ln>
                <a:solidFill>
                  <a:srgbClr val="1A1A1A"/>
                </a:solidFill>
                <a:effectLst/>
                <a:uLnTx/>
                <a:uFillTx/>
                <a:latin typeface="Pretendard"/>
                <a:ea typeface="Pretendard"/>
                <a:cs typeface="Pretendard"/>
              </a:rPr>
              <a:t>하류 전체 재생성</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50" b="0" i="0" u="none" strike="noStrike" kern="1200" cap="none" spc="0" normalizeH="0" baseline="0" noProof="0" dirty="0">
                <a:ln>
                  <a:noFill/>
                </a:ln>
                <a:solidFill>
                  <a:srgbClr val="1A1A1A"/>
                </a:solidFill>
                <a:effectLst/>
                <a:uLnTx/>
                <a:uFillTx/>
                <a:latin typeface="Pretendard"/>
                <a:ea typeface="Pretendard"/>
                <a:cs typeface="Pretendard"/>
              </a:rPr>
              <a:t>Orchestrator 기반 동적 에이전트 시스템이 교정된 s*를 입력으로 하류 궤적 재생성</a:t>
            </a:r>
          </a:p>
        </p:txBody>
      </p:sp>
      <p:sp>
        <p:nvSpPr>
          <p:cNvPr id="163" name="Line 163"/>
          <p:cNvSpPr/>
          <p:nvPr/>
        </p:nvSpPr>
        <p:spPr>
          <a:xfrm>
            <a:off x="7863840" y="5276088"/>
            <a:ext cx="0" cy="320040"/>
          </a:xfrm>
          <a:prstGeom prst="line">
            <a:avLst/>
          </a:prstGeom>
          <a:noFill/>
          <a:ln w="22225">
            <a:solidFill>
              <a:srgbClr val="5959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64" name="Shape 164"/>
          <p:cNvSpPr/>
          <p:nvPr/>
        </p:nvSpPr>
        <p:spPr>
          <a:xfrm>
            <a:off x="5943600" y="5596128"/>
            <a:ext cx="2560320" cy="731520"/>
          </a:xfrm>
          <a:prstGeom prst="roundRect">
            <a:avLst>
              <a:gd name="adj" fmla="val 5000"/>
            </a:avLst>
          </a:prstGeom>
          <a:solidFill>
            <a:srgbClr val="EDF2F9"/>
          </a:solidFill>
          <a:ln w="12700">
            <a:solidFill>
              <a:srgbClr val="2E5FA3"/>
            </a:solidFill>
          </a:ln>
        </p:spPr>
        <p:txBody>
          <a:bodyPr wrap="square" lIns="45720" tIns="45720" rIns="45720" bIns="4572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ko-KR" altLang="en-US" sz="1050" b="1" i="0" u="none" strike="noStrike" kern="1200" cap="none" spc="0" normalizeH="0" baseline="0" noProof="0" dirty="0">
                <a:ln>
                  <a:noFill/>
                </a:ln>
                <a:solidFill>
                  <a:srgbClr val="1A1A1A"/>
                </a:solidFill>
                <a:effectLst/>
                <a:uLnTx/>
                <a:uFillTx/>
                <a:latin typeface="Pretendard"/>
                <a:ea typeface="Pretendard"/>
                <a:cs typeface="Pretendard"/>
              </a:rPr>
              <a:t>검증 (Verifier)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50" b="0" i="0" u="none" strike="noStrike" kern="1200" cap="none" spc="0" normalizeH="0" baseline="0" noProof="0" dirty="0">
                <a:ln>
                  <a:noFill/>
                </a:ln>
                <a:solidFill>
                  <a:srgbClr val="1A1A1A"/>
                </a:solidFill>
                <a:effectLst/>
                <a:uLnTx/>
                <a:uFillTx/>
                <a:latin typeface="Pretendard"/>
                <a:ea typeface="Pretendard"/>
                <a:cs typeface="Pretendard"/>
              </a:rPr>
              <a:t>태스크 성공 조건 판정</a:t>
            </a:r>
          </a:p>
        </p:txBody>
      </p:sp>
      <p:sp>
        <p:nvSpPr>
          <p:cNvPr id="165" name="Line 165"/>
          <p:cNvSpPr/>
          <p:nvPr/>
        </p:nvSpPr>
        <p:spPr>
          <a:xfrm flipH="1">
            <a:off x="5486400" y="5961888"/>
            <a:ext cx="457200" cy="0"/>
          </a:xfrm>
          <a:prstGeom prst="line">
            <a:avLst/>
          </a:prstGeom>
          <a:noFill/>
          <a:ln w="22225">
            <a:solidFill>
              <a:srgbClr val="5959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66" name="Shape 166"/>
          <p:cNvSpPr/>
          <p:nvPr/>
        </p:nvSpPr>
        <p:spPr>
          <a:xfrm>
            <a:off x="2377440" y="5596128"/>
            <a:ext cx="3108960" cy="731520"/>
          </a:xfrm>
          <a:prstGeom prst="roundRect">
            <a:avLst>
              <a:gd name="adj" fmla="val 5882"/>
            </a:avLst>
          </a:prstGeom>
          <a:solidFill>
            <a:srgbClr val="E8F5EE"/>
          </a:solidFill>
          <a:ln w="12700">
            <a:solidFill>
              <a:srgbClr val="1E7A46"/>
            </a:solidFill>
          </a:ln>
        </p:spPr>
        <p:txBody>
          <a:bodyPr wrap="square" lIns="45720" tIns="45720" rIns="4572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050" b="1" i="0" u="none" strike="noStrike" kern="1200" cap="none" spc="0" normalizeH="0" baseline="0" noProof="0" dirty="0">
                <a:ln>
                  <a:noFill/>
                </a:ln>
                <a:solidFill>
                  <a:srgbClr val="1A1A1A"/>
                </a:solidFill>
                <a:effectLst/>
                <a:uLnTx/>
                <a:uFillTx/>
                <a:latin typeface="Pretendard"/>
                <a:ea typeface="Pretendard"/>
                <a:cs typeface="Pretendard"/>
              </a:rPr>
              <a:t>성공 판정: 수리 궤적 + 수리 리포트 출력</a:t>
            </a:r>
          </a:p>
        </p:txBody>
      </p:sp>
      <p:sp>
        <p:nvSpPr>
          <p:cNvPr id="167" name="Line 167"/>
          <p:cNvSpPr/>
          <p:nvPr/>
        </p:nvSpPr>
        <p:spPr>
          <a:xfrm>
            <a:off x="8503920" y="5961888"/>
            <a:ext cx="457200" cy="0"/>
          </a:xfrm>
          <a:prstGeom prst="line">
            <a:avLst/>
          </a:prstGeom>
          <a:noFill/>
          <a:ln w="22225">
            <a:solidFill>
              <a:srgbClr val="595959"/>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68" name="Shape 168"/>
          <p:cNvSpPr/>
          <p:nvPr/>
        </p:nvSpPr>
        <p:spPr>
          <a:xfrm>
            <a:off x="8961120" y="5596128"/>
            <a:ext cx="2743200" cy="731520"/>
          </a:xfrm>
          <a:prstGeom prst="roundRect">
            <a:avLst>
              <a:gd name="adj" fmla="val 5882"/>
            </a:avLst>
          </a:prstGeom>
          <a:solidFill>
            <a:srgbClr val="FBEAE8"/>
          </a:solidFill>
          <a:ln w="12700">
            <a:solidFill>
              <a:srgbClr val="C0392B"/>
            </a:solidFill>
          </a:ln>
        </p:spPr>
        <p:txBody>
          <a:bodyPr wrap="square" lIns="36576" tIns="36576" rIns="36576" bIns="36576"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000" b="1" i="0" u="none" strike="noStrike" kern="1200" cap="none" spc="0" normalizeH="0" baseline="0" noProof="0" dirty="0">
                <a:ln>
                  <a:noFill/>
                </a:ln>
                <a:solidFill>
                  <a:srgbClr val="1A1A1A"/>
                </a:solidFill>
                <a:effectLst/>
                <a:uLnTx/>
                <a:uFillTx/>
                <a:latin typeface="Pretendard"/>
                <a:ea typeface="Pretendard"/>
                <a:cs typeface="Pretendard"/>
              </a:rPr>
              <a:t>실패 판정: s*를 상속점으로 재분류,</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000" b="1" i="0" u="none" strike="noStrike" kern="1200" cap="none" spc="0" normalizeH="0" baseline="0" noProof="0" dirty="0">
                <a:ln>
                  <a:noFill/>
                </a:ln>
                <a:solidFill>
                  <a:srgbClr val="1A1A1A"/>
                </a:solidFill>
                <a:effectLst/>
                <a:uLnTx/>
                <a:uFillTx/>
                <a:latin typeface="Pretendard"/>
                <a:ea typeface="Pretendard"/>
                <a:cs typeface="Pretendard"/>
              </a:rPr>
              <a:t>역방향 판정 재개</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850" b="0" i="0" u="none" strike="noStrike" kern="1200" cap="none" spc="0" normalizeH="0" baseline="0" noProof="0" dirty="0">
                <a:ln>
                  <a:noFill/>
                </a:ln>
                <a:solidFill>
                  <a:srgbClr val="C0392B"/>
                </a:solidFill>
                <a:effectLst/>
                <a:uLnTx/>
                <a:uFillTx/>
                <a:latin typeface="Pretendard"/>
                <a:ea typeface="Pretendard"/>
                <a:cs typeface="Pretendard"/>
              </a:rPr>
              <a:t>(양방향 시 s*가 속한 구간 안에서 재개)</a:t>
            </a:r>
          </a:p>
        </p:txBody>
      </p:sp>
      <p:sp>
        <p:nvSpPr>
          <p:cNvPr id="169" name="Line 169"/>
          <p:cNvSpPr/>
          <p:nvPr/>
        </p:nvSpPr>
        <p:spPr>
          <a:xfrm>
            <a:off x="11704320" y="5961888"/>
            <a:ext cx="266090" cy="0"/>
          </a:xfrm>
          <a:prstGeom prst="line">
            <a:avLst/>
          </a:prstGeom>
          <a:noFill/>
          <a:ln w="22225">
            <a:solidFill>
              <a:srgbClr val="00000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70" name="Line 170"/>
          <p:cNvSpPr/>
          <p:nvPr/>
        </p:nvSpPr>
        <p:spPr>
          <a:xfrm flipV="1">
            <a:off x="11960352" y="886054"/>
            <a:ext cx="0" cy="5075834"/>
          </a:xfrm>
          <a:prstGeom prst="line">
            <a:avLst/>
          </a:prstGeom>
          <a:noFill/>
          <a:ln w="22225">
            <a:solidFill>
              <a:srgbClr val="00000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71" name="Line 171"/>
          <p:cNvSpPr/>
          <p:nvPr/>
        </p:nvSpPr>
        <p:spPr>
          <a:xfrm flipH="1">
            <a:off x="9568282" y="896112"/>
            <a:ext cx="2392070" cy="0"/>
          </a:xfrm>
          <a:prstGeom prst="line">
            <a:avLst/>
          </a:prstGeom>
          <a:noFill/>
          <a:ln w="22225">
            <a:solidFill>
              <a:srgbClr val="00000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72" name="Line 172"/>
          <p:cNvSpPr/>
          <p:nvPr/>
        </p:nvSpPr>
        <p:spPr>
          <a:xfrm>
            <a:off x="9578340" y="896112"/>
            <a:ext cx="0" cy="246888"/>
          </a:xfrm>
          <a:prstGeom prst="line">
            <a:avLst/>
          </a:prstGeom>
          <a:noFill/>
          <a:ln w="22225">
            <a:solidFill>
              <a:srgbClr val="000000"/>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Calibri" panose="020F0502020204030204"/>
              <a:ea typeface="맑은 고딕" panose="020B0503020000020004" pitchFamily="50" charset="-127"/>
              <a:cs typeface="+mn-cs"/>
            </a:endParaRPr>
          </a:p>
        </p:txBody>
      </p:sp>
      <p:sp>
        <p:nvSpPr>
          <p:cNvPr id="173" name="Phase 173"/>
          <p:cNvSpPr/>
          <p:nvPr/>
        </p:nvSpPr>
        <p:spPr>
          <a:xfrm>
            <a:off x="201168" y="786384"/>
            <a:ext cx="768096" cy="228600"/>
          </a:xfrm>
          <a:prstGeom prst="rect">
            <a:avLst/>
          </a:prstGeom>
          <a:solidFill>
            <a:srgbClr val="FFFFFF"/>
          </a:solidFill>
          <a:ln w="12700">
            <a:solidFill>
              <a:srgbClr val="000000"/>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200" b="1" i="0" u="none" strike="noStrike" kern="1200" cap="none" spc="0" normalizeH="0" baseline="0" noProof="0" dirty="0">
                <a:ln>
                  <a:noFill/>
                </a:ln>
                <a:solidFill>
                  <a:srgbClr val="000000"/>
                </a:solidFill>
                <a:effectLst/>
                <a:uLnTx/>
                <a:uFillTx/>
                <a:latin typeface="Pretendard"/>
                <a:ea typeface="Pretendard"/>
                <a:cs typeface="Pretendard"/>
              </a:rPr>
              <a:t>Phase 1</a:t>
            </a:r>
          </a:p>
        </p:txBody>
      </p:sp>
      <p:sp>
        <p:nvSpPr>
          <p:cNvPr id="174" name="Phase 174"/>
          <p:cNvSpPr/>
          <p:nvPr/>
        </p:nvSpPr>
        <p:spPr>
          <a:xfrm>
            <a:off x="201168" y="3410712"/>
            <a:ext cx="768096" cy="228600"/>
          </a:xfrm>
          <a:prstGeom prst="rect">
            <a:avLst/>
          </a:prstGeom>
          <a:solidFill>
            <a:srgbClr val="FFFFFF"/>
          </a:solidFill>
          <a:ln w="12700">
            <a:solidFill>
              <a:srgbClr val="000000"/>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200" b="1" i="0" u="none" strike="noStrike" kern="1200" cap="none" spc="0" normalizeH="0" baseline="0" noProof="0" dirty="0">
                <a:ln>
                  <a:noFill/>
                </a:ln>
                <a:solidFill>
                  <a:srgbClr val="000000"/>
                </a:solidFill>
                <a:effectLst/>
                <a:uLnTx/>
                <a:uFillTx/>
                <a:latin typeface="Pretendard"/>
                <a:ea typeface="Pretendard"/>
                <a:cs typeface="Pretendard"/>
              </a:rPr>
              <a:t>Phase 2</a:t>
            </a:r>
          </a:p>
        </p:txBody>
      </p:sp>
      <p:sp>
        <p:nvSpPr>
          <p:cNvPr id="175" name="Phase 175"/>
          <p:cNvSpPr/>
          <p:nvPr/>
        </p:nvSpPr>
        <p:spPr>
          <a:xfrm>
            <a:off x="201168" y="4416552"/>
            <a:ext cx="768096" cy="228600"/>
          </a:xfrm>
          <a:prstGeom prst="rect">
            <a:avLst/>
          </a:prstGeom>
          <a:solidFill>
            <a:srgbClr val="FFFFFF"/>
          </a:solidFill>
          <a:ln w="12700">
            <a:solidFill>
              <a:srgbClr val="000000"/>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200" b="1" i="0" u="none" strike="noStrike" kern="1200" cap="none" spc="0" normalizeH="0" baseline="0" noProof="0" dirty="0">
                <a:ln>
                  <a:noFill/>
                </a:ln>
                <a:solidFill>
                  <a:srgbClr val="000000"/>
                </a:solidFill>
                <a:effectLst/>
                <a:uLnTx/>
                <a:uFillTx/>
                <a:latin typeface="Pretendard"/>
                <a:ea typeface="Pretendard"/>
                <a:cs typeface="Pretendard"/>
              </a:rPr>
              <a:t>Phase 3</a:t>
            </a:r>
          </a:p>
        </p:txBody>
      </p:sp>
      <p:sp>
        <p:nvSpPr>
          <p:cNvPr id="176" name="Phase 176"/>
          <p:cNvSpPr/>
          <p:nvPr/>
        </p:nvSpPr>
        <p:spPr>
          <a:xfrm>
            <a:off x="201168" y="5422392"/>
            <a:ext cx="768096" cy="228600"/>
          </a:xfrm>
          <a:prstGeom prst="rect">
            <a:avLst/>
          </a:prstGeom>
          <a:solidFill>
            <a:srgbClr val="FFFFFF"/>
          </a:solidFill>
          <a:ln w="12700">
            <a:solidFill>
              <a:srgbClr val="000000"/>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200" b="1" i="0" u="none" strike="noStrike" kern="1200" cap="none" spc="0" normalizeH="0" baseline="0" noProof="0" dirty="0">
                <a:ln>
                  <a:noFill/>
                </a:ln>
                <a:solidFill>
                  <a:srgbClr val="000000"/>
                </a:solidFill>
                <a:effectLst/>
                <a:uLnTx/>
                <a:uFillTx/>
                <a:latin typeface="Pretendard"/>
                <a:ea typeface="Pretendard"/>
                <a:cs typeface="Pretendard"/>
              </a:rPr>
              <a:t>Phase 4</a:t>
            </a:r>
          </a:p>
        </p:txBody>
      </p:sp>
      <p:sp>
        <p:nvSpPr>
          <p:cNvPr id="177" name="Num 177"/>
          <p:cNvSpPr/>
          <p:nvPr/>
        </p:nvSpPr>
        <p:spPr>
          <a:xfrm>
            <a:off x="246888" y="978408"/>
            <a:ext cx="329184" cy="329184"/>
          </a:xfrm>
          <a:prstGeom prst="ellipse">
            <a:avLst/>
          </a:prstGeom>
          <a:solidFill>
            <a:srgbClr val="FF0000"/>
          </a:solid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300" b="1" i="0" u="none" strike="noStrike" kern="1200" cap="none" spc="0" normalizeH="0" baseline="0" noProof="0" dirty="0">
                <a:ln>
                  <a:noFill/>
                </a:ln>
                <a:solidFill>
                  <a:srgbClr val="FFFFFF"/>
                </a:solidFill>
                <a:effectLst/>
                <a:uLnTx/>
                <a:uFillTx/>
                <a:latin typeface="Pretendard"/>
                <a:ea typeface="Pretendard"/>
                <a:cs typeface="Pretendard"/>
              </a:rPr>
              <a:t>1</a:t>
            </a:r>
          </a:p>
        </p:txBody>
      </p:sp>
      <p:sp>
        <p:nvSpPr>
          <p:cNvPr id="178" name="Num 178"/>
          <p:cNvSpPr/>
          <p:nvPr/>
        </p:nvSpPr>
        <p:spPr>
          <a:xfrm>
            <a:off x="2029968" y="841248"/>
            <a:ext cx="329184" cy="329184"/>
          </a:xfrm>
          <a:prstGeom prst="ellipse">
            <a:avLst/>
          </a:prstGeom>
          <a:solidFill>
            <a:srgbClr val="FF0000"/>
          </a:solid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300" b="1" i="0" u="none" strike="noStrike" kern="1200" cap="none" spc="0" normalizeH="0" baseline="0" noProof="0" dirty="0">
                <a:ln>
                  <a:noFill/>
                </a:ln>
                <a:solidFill>
                  <a:srgbClr val="FFFFFF"/>
                </a:solidFill>
                <a:effectLst/>
                <a:uLnTx/>
                <a:uFillTx/>
                <a:latin typeface="Pretendard"/>
                <a:ea typeface="Pretendard"/>
                <a:cs typeface="Pretendard"/>
              </a:rPr>
              <a:t>2</a:t>
            </a:r>
          </a:p>
        </p:txBody>
      </p:sp>
      <p:sp>
        <p:nvSpPr>
          <p:cNvPr id="179" name="Num 179"/>
          <p:cNvSpPr/>
          <p:nvPr/>
        </p:nvSpPr>
        <p:spPr>
          <a:xfrm>
            <a:off x="7424928" y="3447288"/>
            <a:ext cx="329184" cy="329184"/>
          </a:xfrm>
          <a:prstGeom prst="ellipse">
            <a:avLst/>
          </a:prstGeom>
          <a:solidFill>
            <a:srgbClr val="FF0000"/>
          </a:solid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300" b="1" i="0" u="none" strike="noStrike" kern="1200" cap="none" spc="0" normalizeH="0" baseline="0" noProof="0" dirty="0">
                <a:ln>
                  <a:noFill/>
                </a:ln>
                <a:solidFill>
                  <a:srgbClr val="FFFFFF"/>
                </a:solidFill>
                <a:effectLst/>
                <a:uLnTx/>
                <a:uFillTx/>
                <a:latin typeface="Pretendard"/>
                <a:ea typeface="Pretendard"/>
                <a:cs typeface="Pretendard"/>
              </a:rPr>
              <a:t>3</a:t>
            </a:r>
          </a:p>
        </p:txBody>
      </p:sp>
      <p:sp>
        <p:nvSpPr>
          <p:cNvPr id="180" name="Num 180"/>
          <p:cNvSpPr/>
          <p:nvPr/>
        </p:nvSpPr>
        <p:spPr>
          <a:xfrm>
            <a:off x="2212848" y="3447288"/>
            <a:ext cx="329184" cy="329184"/>
          </a:xfrm>
          <a:prstGeom prst="ellipse">
            <a:avLst/>
          </a:prstGeom>
          <a:solidFill>
            <a:srgbClr val="FF0000"/>
          </a:solid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300" b="1" i="0" u="none" strike="noStrike" kern="1200" cap="none" spc="0" normalizeH="0" baseline="0" noProof="0" dirty="0">
                <a:ln>
                  <a:noFill/>
                </a:ln>
                <a:solidFill>
                  <a:srgbClr val="FFFFFF"/>
                </a:solidFill>
                <a:effectLst/>
                <a:uLnTx/>
                <a:uFillTx/>
                <a:latin typeface="Pretendard"/>
                <a:ea typeface="Pretendard"/>
                <a:cs typeface="Pretendard"/>
              </a:rPr>
              <a:t>4</a:t>
            </a:r>
          </a:p>
        </p:txBody>
      </p:sp>
      <p:sp>
        <p:nvSpPr>
          <p:cNvPr id="181" name="Num 181"/>
          <p:cNvSpPr/>
          <p:nvPr/>
        </p:nvSpPr>
        <p:spPr>
          <a:xfrm>
            <a:off x="2212848" y="4453128"/>
            <a:ext cx="329184" cy="329184"/>
          </a:xfrm>
          <a:prstGeom prst="ellipse">
            <a:avLst/>
          </a:prstGeom>
          <a:solidFill>
            <a:srgbClr val="FF0000"/>
          </a:solid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300" b="1" i="0" u="none" strike="noStrike" kern="1200" cap="none" spc="0" normalizeH="0" baseline="0" noProof="0" dirty="0">
                <a:ln>
                  <a:noFill/>
                </a:ln>
                <a:solidFill>
                  <a:srgbClr val="FFFFFF"/>
                </a:solidFill>
                <a:effectLst/>
                <a:uLnTx/>
                <a:uFillTx/>
                <a:latin typeface="Pretendard"/>
                <a:ea typeface="Pretendard"/>
                <a:cs typeface="Pretendard"/>
              </a:rPr>
              <a:t>5</a:t>
            </a:r>
          </a:p>
        </p:txBody>
      </p:sp>
      <p:sp>
        <p:nvSpPr>
          <p:cNvPr id="182" name="Num 182"/>
          <p:cNvSpPr/>
          <p:nvPr/>
        </p:nvSpPr>
        <p:spPr>
          <a:xfrm>
            <a:off x="7059168" y="4453128"/>
            <a:ext cx="329184" cy="329184"/>
          </a:xfrm>
          <a:prstGeom prst="ellipse">
            <a:avLst/>
          </a:prstGeom>
          <a:solidFill>
            <a:srgbClr val="FF0000"/>
          </a:solid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300" b="1" i="0" u="none" strike="noStrike" kern="1200" cap="none" spc="0" normalizeH="0" baseline="0" noProof="0" dirty="0">
                <a:ln>
                  <a:noFill/>
                </a:ln>
                <a:solidFill>
                  <a:srgbClr val="FFFFFF"/>
                </a:solidFill>
                <a:effectLst/>
                <a:uLnTx/>
                <a:uFillTx/>
                <a:latin typeface="Pretendard"/>
                <a:ea typeface="Pretendard"/>
                <a:cs typeface="Pretendard"/>
              </a:rPr>
              <a:t>6</a:t>
            </a:r>
          </a:p>
        </p:txBody>
      </p:sp>
      <p:sp>
        <p:nvSpPr>
          <p:cNvPr id="183" name="Num 183"/>
          <p:cNvSpPr/>
          <p:nvPr/>
        </p:nvSpPr>
        <p:spPr>
          <a:xfrm>
            <a:off x="5779008" y="5431536"/>
            <a:ext cx="329184" cy="329184"/>
          </a:xfrm>
          <a:prstGeom prst="ellipse">
            <a:avLst/>
          </a:prstGeom>
          <a:solidFill>
            <a:srgbClr val="FF0000"/>
          </a:solidFill>
          <a:ln>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300" b="1" i="0" u="none" strike="noStrike" kern="1200" cap="none" spc="0" normalizeH="0" baseline="0" noProof="0" dirty="0">
                <a:ln>
                  <a:noFill/>
                </a:ln>
                <a:solidFill>
                  <a:srgbClr val="FFFFFF"/>
                </a:solidFill>
                <a:effectLst/>
                <a:uLnTx/>
                <a:uFillTx/>
                <a:latin typeface="Pretendard"/>
                <a:ea typeface="Pretendard"/>
                <a:cs typeface="Pretendard"/>
              </a:rPr>
              <a:t>7</a:t>
            </a:r>
          </a:p>
        </p:txBody>
      </p:sp>
      <p:sp>
        <p:nvSpPr>
          <p:cNvPr id="184" name="TextBox page"/>
          <p:cNvSpPr txBox="1"/>
          <p:nvPr/>
        </p:nvSpPr>
        <p:spPr>
          <a:xfrm>
            <a:off x="11612880" y="6490734"/>
            <a:ext cx="51829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Pretendard"/>
                <a:ea typeface="Pretendard"/>
                <a:cs typeface="Pretendard"/>
              </a:rPr>
              <a:t>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0789920" cy="548640"/>
          </a:xfrm>
          <a:prstGeom prst="rect">
            <a:avLst/>
          </a:prstGeom>
          <a:noFill/>
          <a:ln/>
        </p:spPr>
        <p:txBody>
          <a:bodyPr wrap="square" rtlCol="0" anchor="ctr"/>
          <a:lstStyle/>
          <a:p>
            <a:pPr marL="0" indent="0">
              <a:buNone/>
            </a:pPr>
            <a:r>
              <a:rPr lang="en-US" sz="2500" b="1"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발명</a:t>
            </a:r>
            <a:r>
              <a:rPr lang="en-US" sz="25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2500" b="1"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배경</a:t>
            </a:r>
            <a:endParaRPr lang="en-US" sz="2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 name="Text 2"/>
          <p:cNvSpPr/>
          <p:nvPr/>
        </p:nvSpPr>
        <p:spPr>
          <a:xfrm>
            <a:off x="640080" y="1005840"/>
            <a:ext cx="10972800" cy="1188720"/>
          </a:xfrm>
          <a:prstGeom prst="rect">
            <a:avLst/>
          </a:prstGeom>
          <a:noFill/>
          <a:ln/>
        </p:spPr>
        <p:txBody>
          <a:bodyPr wrap="square" rtlCol="0" anchor="ctr"/>
          <a:lstStyle/>
          <a:p>
            <a:pPr marL="0" indent="0">
              <a:lnSpc>
                <a:spcPct val="115000"/>
              </a:lnSpc>
              <a:buNone/>
            </a:pPr>
            <a:r>
              <a:rPr lang="en-US" sz="1600" b="1" dirty="0">
                <a:latin typeface="Pretendard" panose="02000503000000020004" pitchFamily="50" charset="-127"/>
                <a:ea typeface="Pretendard" panose="02000503000000020004" pitchFamily="50" charset="-127"/>
                <a:cs typeface="Pretendard" panose="02000503000000020004" pitchFamily="50" charset="-127"/>
              </a:rPr>
              <a:t>LLM 멀티에이전트 시스템(MAS)의 확산과 신뢰성 문제
</a:t>
            </a:r>
            <a:r>
              <a:rPr lang="en-US" sz="1400" dirty="0">
                <a:latin typeface="Pretendard" panose="02000503000000020004" pitchFamily="50" charset="-127"/>
                <a:ea typeface="Pretendard" panose="02000503000000020004" pitchFamily="50" charset="-127"/>
                <a:cs typeface="Pretendard" panose="02000503000000020004" pitchFamily="50" charset="-127"/>
              </a:rPr>
              <a:t>다수의 LLM 에이전트가 역할을 분담·상호작용하며 복잡한 작업을 수행하는 MAS가 의료·금융·SW개발 등에 확산
순차적 상호작용 구조로 인해 한 단계의 오류가 이후 단계의 입력으로 전달·전파되어 전체 작업 실패를 유발
</a:t>
            </a:r>
          </a:p>
        </p:txBody>
      </p:sp>
      <p:sp>
        <p:nvSpPr>
          <p:cNvPr id="5" name="Text 3"/>
          <p:cNvSpPr/>
          <p:nvPr/>
        </p:nvSpPr>
        <p:spPr>
          <a:xfrm>
            <a:off x="640080" y="2423160"/>
            <a:ext cx="10972800" cy="1691640"/>
          </a:xfrm>
          <a:prstGeom prst="rect">
            <a:avLst/>
          </a:prstGeom>
          <a:noFill/>
          <a:ln/>
        </p:spPr>
        <p:txBody>
          <a:bodyPr wrap="square" rtlCol="0" anchor="ctr"/>
          <a:lstStyle/>
          <a:p>
            <a:pPr marL="0" indent="0">
              <a:lnSpc>
                <a:spcPct val="115000"/>
              </a:lnSpc>
              <a:buNone/>
            </a:pPr>
            <a:r>
              <a:rPr lang="en-US" sz="1600" b="1" dirty="0">
                <a:latin typeface="Pretendard" panose="02000503000000020004" pitchFamily="50" charset="-127"/>
                <a:ea typeface="Pretendard" panose="02000503000000020004" pitchFamily="50" charset="-127"/>
                <a:cs typeface="Pretendard" panose="02000503000000020004" pitchFamily="50" charset="-127"/>
              </a:rPr>
              <a:t>실패 이후 대응의 현재 수준
</a:t>
            </a:r>
            <a:r>
              <a:rPr lang="en-US" sz="1400" dirty="0">
                <a:latin typeface="Pretendard" panose="02000503000000020004" pitchFamily="50" charset="-127"/>
                <a:ea typeface="Pretendard" panose="02000503000000020004" pitchFamily="50" charset="-127"/>
                <a:cs typeface="Pretendard" panose="02000503000000020004" pitchFamily="50" charset="-127"/>
              </a:rPr>
              <a:t>실패 시 대응은 전체 작업 재실행(re-run) 또는 전문가의 수작업 로그 분석 → 시간·비용·API 호출 낭비
오류 원인 귀인(failure attribution)</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을 통해</a:t>
            </a:r>
            <a:r>
              <a:rPr lang="en-US" sz="1400" dirty="0" err="1">
                <a:latin typeface="Pretendard" panose="02000503000000020004" pitchFamily="50" charset="-127"/>
                <a:ea typeface="Pretendard" panose="02000503000000020004" pitchFamily="50" charset="-127"/>
                <a:cs typeface="Pretendard" panose="02000503000000020004" pitchFamily="50" charset="-127"/>
              </a:rPr>
              <a:t>실패</a:t>
            </a:r>
            <a:r>
              <a:rPr lang="en-US" sz="1400" dirty="0">
                <a:latin typeface="Pretendard" panose="02000503000000020004" pitchFamily="50" charset="-127"/>
                <a:ea typeface="Pretendard" panose="02000503000000020004" pitchFamily="50" charset="-127"/>
                <a:cs typeface="Pretendard" panose="02000503000000020004" pitchFamily="50" charset="-127"/>
              </a:rPr>
              <a:t> 원인 </a:t>
            </a:r>
            <a:r>
              <a:rPr lang="en-US" sz="1400" dirty="0" err="1">
                <a:latin typeface="Pretendard" panose="02000503000000020004" pitchFamily="50" charset="-127"/>
                <a:ea typeface="Pretendard" panose="02000503000000020004" pitchFamily="50" charset="-127"/>
                <a:cs typeface="Pretendard" panose="02000503000000020004" pitchFamily="50" charset="-127"/>
              </a:rPr>
              <a:t>단계·에이전트의</a:t>
            </a:r>
            <a:r>
              <a:rPr lang="en-US" sz="14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식별 연구가 활발하게 이루어지고 있으나</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r>
              <a:rPr lang="en-US" sz="1400" b="1" dirty="0" err="1">
                <a:latin typeface="Pretendard" panose="02000503000000020004" pitchFamily="50" charset="-127"/>
                <a:ea typeface="Pretendard" panose="02000503000000020004" pitchFamily="50" charset="-127"/>
                <a:cs typeface="Pretendard" panose="02000503000000020004" pitchFamily="50" charset="-127"/>
              </a:rPr>
              <a:t>식별된</a:t>
            </a:r>
            <a:r>
              <a:rPr lang="en-US" sz="1400" b="1" dirty="0">
                <a:latin typeface="Pretendard" panose="02000503000000020004" pitchFamily="50" charset="-127"/>
                <a:ea typeface="Pretendard" panose="02000503000000020004" pitchFamily="50" charset="-127"/>
                <a:cs typeface="Pretendard" panose="02000503000000020004" pitchFamily="50" charset="-127"/>
              </a:rPr>
              <a:t> 오류 지점으로부터 궤적을 수리하여 실패를 </a:t>
            </a:r>
            <a:r>
              <a:rPr lang="en-US" sz="1400" b="1" dirty="0" err="1">
                <a:latin typeface="Pretendard" panose="02000503000000020004" pitchFamily="50" charset="-127"/>
                <a:ea typeface="Pretendard" panose="02000503000000020004" pitchFamily="50" charset="-127"/>
                <a:cs typeface="Pretendard" panose="02000503000000020004" pitchFamily="50" charset="-127"/>
              </a:rPr>
              <a:t>성공으로</a:t>
            </a:r>
            <a:r>
              <a:rPr lang="en-US" sz="1400" b="1" dirty="0">
                <a:latin typeface="Pretendard" panose="02000503000000020004" pitchFamily="50" charset="-127"/>
                <a:ea typeface="Pretendard" panose="02000503000000020004" pitchFamily="50" charset="-127"/>
                <a:cs typeface="Pretendard" panose="02000503000000020004" pitchFamily="50" charset="-127"/>
              </a:rPr>
              <a:t> </a:t>
            </a:r>
            <a:r>
              <a:rPr lang="en-US" sz="1400" b="1" dirty="0" err="1">
                <a:latin typeface="Pretendard" panose="02000503000000020004" pitchFamily="50" charset="-127"/>
                <a:ea typeface="Pretendard" panose="02000503000000020004" pitchFamily="50" charset="-127"/>
                <a:cs typeface="Pretendard" panose="02000503000000020004" pitchFamily="50" charset="-127"/>
              </a:rPr>
              <a:t>전환하는</a:t>
            </a:r>
            <a:r>
              <a:rPr lang="en-US" sz="1400" b="1"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연구 부족</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4"/>
          <p:cNvSpPr/>
          <p:nvPr/>
        </p:nvSpPr>
        <p:spPr>
          <a:xfrm>
            <a:off x="822960" y="4663440"/>
            <a:ext cx="1737360" cy="731520"/>
          </a:xfrm>
          <a:prstGeom prst="roundRect">
            <a:avLst>
              <a:gd name="adj" fmla="val 6250"/>
            </a:avLst>
          </a:prstGeom>
          <a:solidFill>
            <a:srgbClr val="E8F5EE"/>
          </a:solidFill>
          <a:ln w="12700">
            <a:solidFill>
              <a:srgbClr val="1E7A46"/>
            </a:solidFill>
          </a:ln>
        </p:spPr>
        <p:txBody>
          <a:bodyPr wrap="square" lIns="54864" tIns="54864" rIns="54864" bIns="54864" rtlCol="0" anchor="ctr"/>
          <a:lstStyle/>
          <a:p>
            <a:pPr marL="0" indent="0" algn="ctr">
              <a:buNone/>
            </a:pPr>
            <a:r>
              <a:rPr lang="en-US" sz="12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Step 1</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a:p>
            <a:pPr marL="0" indent="0" algn="ctr">
              <a:buNone/>
            </a:pPr>
            <a:r>
              <a:rPr lang="en-US" sz="12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Agent A</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5"/>
          <p:cNvSpPr/>
          <p:nvPr/>
        </p:nvSpPr>
        <p:spPr>
          <a:xfrm>
            <a:off x="3017520" y="4663440"/>
            <a:ext cx="1737360" cy="731520"/>
          </a:xfrm>
          <a:prstGeom prst="roundRect">
            <a:avLst>
              <a:gd name="adj" fmla="val 6250"/>
            </a:avLst>
          </a:prstGeom>
          <a:solidFill>
            <a:srgbClr val="FBEAE8"/>
          </a:solidFill>
          <a:ln w="12700">
            <a:solidFill>
              <a:srgbClr val="C0392B"/>
            </a:solidFill>
          </a:ln>
        </p:spPr>
        <p:txBody>
          <a:bodyPr wrap="square" lIns="54864" tIns="54864" rIns="54864" bIns="54864" rtlCol="0" anchor="ctr"/>
          <a:lstStyle/>
          <a:p>
            <a:pPr marL="0" indent="0" algn="ctr">
              <a:buNone/>
            </a:pPr>
            <a:r>
              <a:rPr lang="en-US" sz="12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Step 2</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a:p>
            <a:pPr marL="0" indent="0" algn="ctr">
              <a:buNone/>
            </a:pPr>
            <a:r>
              <a:rPr lang="en-US" sz="12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Agent B  ✕</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6"/>
          <p:cNvSpPr/>
          <p:nvPr/>
        </p:nvSpPr>
        <p:spPr>
          <a:xfrm>
            <a:off x="5212080" y="4663440"/>
            <a:ext cx="1737360" cy="731520"/>
          </a:xfrm>
          <a:prstGeom prst="roundRect">
            <a:avLst>
              <a:gd name="adj" fmla="val 6250"/>
            </a:avLst>
          </a:prstGeom>
          <a:solidFill>
            <a:srgbClr val="FBEAE8"/>
          </a:solidFill>
          <a:ln w="12700">
            <a:solidFill>
              <a:srgbClr val="C0392B"/>
            </a:solidFill>
          </a:ln>
        </p:spPr>
        <p:txBody>
          <a:bodyPr wrap="square" lIns="54864" tIns="54864" rIns="54864" bIns="54864" rtlCol="0" anchor="ctr"/>
          <a:lstStyle/>
          <a:p>
            <a:pPr marL="0" indent="0" algn="ctr">
              <a:buNone/>
            </a:pPr>
            <a:r>
              <a:rPr lang="en-US" sz="12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Step 3</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a:p>
            <a:pPr marL="0" indent="0" algn="ctr">
              <a:buNone/>
            </a:pPr>
            <a:r>
              <a:rPr lang="en-US" sz="12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Agent C</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7"/>
          <p:cNvSpPr/>
          <p:nvPr/>
        </p:nvSpPr>
        <p:spPr>
          <a:xfrm>
            <a:off x="7406640" y="4663440"/>
            <a:ext cx="1737360" cy="731520"/>
          </a:xfrm>
          <a:prstGeom prst="roundRect">
            <a:avLst>
              <a:gd name="adj" fmla="val 6250"/>
            </a:avLst>
          </a:prstGeom>
          <a:solidFill>
            <a:srgbClr val="FBEAE8"/>
          </a:solidFill>
          <a:ln w="12700">
            <a:solidFill>
              <a:srgbClr val="C0392B"/>
            </a:solidFill>
          </a:ln>
        </p:spPr>
        <p:txBody>
          <a:bodyPr wrap="square" lIns="54864" tIns="54864" rIns="54864" bIns="54864" rtlCol="0" anchor="ctr"/>
          <a:lstStyle/>
          <a:p>
            <a:pPr marL="0" indent="0" algn="ctr">
              <a:buNone/>
            </a:pPr>
            <a:r>
              <a:rPr lang="en-US" sz="12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Step 4</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a:p>
            <a:pPr marL="0" indent="0" algn="ctr">
              <a:buNone/>
            </a:pPr>
            <a:r>
              <a:rPr lang="en-US" sz="12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Agent D</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 name="Text 8"/>
          <p:cNvSpPr/>
          <p:nvPr/>
        </p:nvSpPr>
        <p:spPr>
          <a:xfrm>
            <a:off x="9601200" y="4663440"/>
            <a:ext cx="1737360" cy="731520"/>
          </a:xfrm>
          <a:prstGeom prst="roundRect">
            <a:avLst>
              <a:gd name="adj" fmla="val 6250"/>
            </a:avLst>
          </a:prstGeom>
          <a:solidFill>
            <a:srgbClr val="C0392B"/>
          </a:solidFill>
          <a:ln w="12700">
            <a:solidFill>
              <a:srgbClr val="C0392B"/>
            </a:solidFill>
          </a:ln>
        </p:spPr>
        <p:txBody>
          <a:bodyPr wrap="square" lIns="54864" tIns="54864" rIns="54864" bIns="54864" rtlCol="0" anchor="ctr"/>
          <a:lstStyle/>
          <a:p>
            <a:pPr marL="0" indent="0" algn="ctr">
              <a:buNone/>
            </a:pPr>
            <a:r>
              <a:rPr lang="en-US" sz="12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Task 실패</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Shape 9"/>
          <p:cNvSpPr/>
          <p:nvPr/>
        </p:nvSpPr>
        <p:spPr>
          <a:xfrm>
            <a:off x="2560320" y="5029200"/>
            <a:ext cx="457200" cy="0"/>
          </a:xfrm>
          <a:prstGeom prst="line">
            <a:avLst/>
          </a:prstGeom>
          <a:noFill/>
          <a:ln w="22225">
            <a:solidFill>
              <a:srgbClr val="595959"/>
            </a:solidFill>
            <a:prstDash val="solid"/>
            <a:tailEnd type="triangle"/>
          </a:ln>
        </p:spPr>
        <p:txBody>
          <a:bodyPr/>
          <a:lstStyle/>
          <a:p>
            <a:endParaRPr/>
          </a:p>
        </p:txBody>
      </p:sp>
      <p:sp>
        <p:nvSpPr>
          <p:cNvPr id="12" name="Shape 10"/>
          <p:cNvSpPr/>
          <p:nvPr/>
        </p:nvSpPr>
        <p:spPr>
          <a:xfrm>
            <a:off x="4754880" y="5029200"/>
            <a:ext cx="457200" cy="0"/>
          </a:xfrm>
          <a:prstGeom prst="line">
            <a:avLst/>
          </a:prstGeom>
          <a:noFill/>
          <a:ln w="22225">
            <a:solidFill>
              <a:srgbClr val="595959"/>
            </a:solidFill>
            <a:prstDash val="solid"/>
            <a:tailEnd type="triangle"/>
          </a:ln>
        </p:spPr>
        <p:txBody>
          <a:bodyPr/>
          <a:lstStyle/>
          <a:p>
            <a:endParaRPr/>
          </a:p>
        </p:txBody>
      </p:sp>
      <p:sp>
        <p:nvSpPr>
          <p:cNvPr id="13" name="Shape 11"/>
          <p:cNvSpPr/>
          <p:nvPr/>
        </p:nvSpPr>
        <p:spPr>
          <a:xfrm>
            <a:off x="6949440" y="5029200"/>
            <a:ext cx="457200" cy="0"/>
          </a:xfrm>
          <a:prstGeom prst="line">
            <a:avLst/>
          </a:prstGeom>
          <a:noFill/>
          <a:ln w="22225">
            <a:solidFill>
              <a:srgbClr val="595959"/>
            </a:solidFill>
            <a:prstDash val="solid"/>
            <a:tailEnd type="triangle"/>
          </a:ln>
        </p:spPr>
        <p:txBody>
          <a:bodyPr/>
          <a:lstStyle/>
          <a:p>
            <a:endParaRPr/>
          </a:p>
        </p:txBody>
      </p:sp>
      <p:sp>
        <p:nvSpPr>
          <p:cNvPr id="14" name="Shape 12"/>
          <p:cNvSpPr/>
          <p:nvPr/>
        </p:nvSpPr>
        <p:spPr>
          <a:xfrm>
            <a:off x="9144000" y="5029200"/>
            <a:ext cx="457200" cy="0"/>
          </a:xfrm>
          <a:prstGeom prst="line">
            <a:avLst/>
          </a:prstGeom>
          <a:noFill/>
          <a:ln w="22225">
            <a:solidFill>
              <a:srgbClr val="595959"/>
            </a:solidFill>
            <a:prstDash val="solid"/>
            <a:tailEnd type="triangle"/>
          </a:ln>
        </p:spPr>
        <p:txBody>
          <a:bodyPr/>
          <a:lstStyle/>
          <a:p>
            <a:endParaRPr/>
          </a:p>
        </p:txBody>
      </p:sp>
      <p:sp>
        <p:nvSpPr>
          <p:cNvPr id="15" name="Text 13"/>
          <p:cNvSpPr/>
          <p:nvPr/>
        </p:nvSpPr>
        <p:spPr>
          <a:xfrm>
            <a:off x="822960" y="5577840"/>
            <a:ext cx="10515600" cy="365760"/>
          </a:xfrm>
          <a:prstGeom prst="rect">
            <a:avLst/>
          </a:prstGeom>
          <a:noFill/>
          <a:ln/>
        </p:spPr>
        <p:txBody>
          <a:bodyPr wrap="square" rtlCol="0" anchor="ctr"/>
          <a:lstStyle/>
          <a:p>
            <a:pPr marL="0" indent="0" algn="ctr">
              <a:buNone/>
            </a:pPr>
            <a:r>
              <a:rPr lang="en-US" sz="1200" i="1" dirty="0">
                <a:solidFill>
                  <a:srgbClr val="595959"/>
                </a:solidFill>
                <a:latin typeface="Pretendard" panose="02000503000000020004" pitchFamily="50" charset="-127"/>
                <a:ea typeface="Pretendard" panose="02000503000000020004" pitchFamily="50" charset="-127"/>
                <a:cs typeface="Pretendard" panose="02000503000000020004" pitchFamily="50" charset="-127"/>
              </a:rPr>
              <a:t>결정적 오류(Step 2)가 이후 단계로 전파되어 최종 실패 유발</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 name="TextBox 2">
            <a:extLst>
              <a:ext uri="{FF2B5EF4-FFF2-40B4-BE49-F238E27FC236}">
                <a16:creationId xmlns:a16="http://schemas.microsoft.com/office/drawing/2014/main" id="{BAC86EB0-D9A5-4578-8F9D-908168C7CDE4}"/>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2</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0789920" cy="548640"/>
          </a:xfrm>
          <a:prstGeom prst="rect">
            <a:avLst/>
          </a:prstGeom>
          <a:noFill/>
          <a:ln/>
        </p:spPr>
        <p:txBody>
          <a:bodyPr wrap="square" rtlCol="0" anchor="ctr"/>
          <a:lstStyle/>
          <a:p>
            <a:pPr marL="0" indent="0">
              <a:buNone/>
            </a:pPr>
            <a:r>
              <a:rPr lang="en-US" sz="2500" b="1" dirty="0" err="1">
                <a:latin typeface="Pretendard" panose="02000503000000020004" pitchFamily="50" charset="-127"/>
                <a:ea typeface="Pretendard" panose="02000503000000020004" pitchFamily="50" charset="-127"/>
                <a:cs typeface="Pretendard" panose="02000503000000020004" pitchFamily="50" charset="-127"/>
              </a:rPr>
              <a:t>발명</a:t>
            </a:r>
            <a:r>
              <a:rPr lang="en-US" sz="2500" b="1" dirty="0">
                <a:latin typeface="Pretendard" panose="02000503000000020004" pitchFamily="50" charset="-127"/>
                <a:ea typeface="Pretendard" panose="02000503000000020004" pitchFamily="50" charset="-127"/>
                <a:cs typeface="Pretendard" panose="02000503000000020004" pitchFamily="50" charset="-127"/>
              </a:rPr>
              <a:t> </a:t>
            </a:r>
            <a:r>
              <a:rPr lang="en-US" sz="2500" b="1" dirty="0" err="1">
                <a:latin typeface="Pretendard" panose="02000503000000020004" pitchFamily="50" charset="-127"/>
                <a:ea typeface="Pretendard" panose="02000503000000020004" pitchFamily="50" charset="-127"/>
                <a:cs typeface="Pretendard" panose="02000503000000020004" pitchFamily="50" charset="-127"/>
              </a:rPr>
              <a:t>배경</a:t>
            </a:r>
            <a:endParaRPr lang="en-US" sz="2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 name="Text 2"/>
          <p:cNvSpPr/>
          <p:nvPr/>
        </p:nvSpPr>
        <p:spPr>
          <a:xfrm>
            <a:off x="640080" y="1005840"/>
            <a:ext cx="11155680" cy="1691640"/>
          </a:xfrm>
          <a:prstGeom prst="rect">
            <a:avLst/>
          </a:prstGeom>
          <a:noFill/>
          <a:ln/>
        </p:spPr>
        <p:txBody>
          <a:bodyPr wrap="square" rtlCol="0" anchor="ctr"/>
          <a:lstStyle/>
          <a:p>
            <a:pPr marL="0" indent="0">
              <a:lnSpc>
                <a:spcPct val="118000"/>
              </a:lnSpc>
              <a:buNone/>
            </a:pPr>
            <a:r>
              <a:rPr lang="en-US" sz="1600" b="1" dirty="0">
                <a:latin typeface="Pretendard" panose="02000503000000020004" pitchFamily="50" charset="-127"/>
                <a:ea typeface="Pretendard" panose="02000503000000020004" pitchFamily="50" charset="-127"/>
                <a:cs typeface="Pretendard" panose="02000503000000020004" pitchFamily="50" charset="-127"/>
              </a:rPr>
              <a:t>본 발명이 다루는 대상: MAS 실행 로그(궤적)
</a:t>
            </a:r>
            <a:r>
              <a:rPr lang="en-US" sz="1400" dirty="0">
                <a:latin typeface="Pretendard" panose="02000503000000020004" pitchFamily="50" charset="-127"/>
                <a:ea typeface="Pretendard" panose="02000503000000020004" pitchFamily="50" charset="-127"/>
                <a:cs typeface="Pretendard" panose="02000503000000020004" pitchFamily="50" charset="-127"/>
              </a:rPr>
              <a:t>MAS의 실행 과정은 각 에이전트의 출력이 step 단위로 기록된 상호작용 로그(궤적, trajectory)로 남음
각 step = </a:t>
            </a:r>
            <a:r>
              <a:rPr lang="en-US" sz="1400" dirty="0" err="1">
                <a:latin typeface="Pretendard" panose="02000503000000020004" pitchFamily="50" charset="-127"/>
                <a:ea typeface="Pretendard" panose="02000503000000020004" pitchFamily="50" charset="-127"/>
                <a:cs typeface="Pretendard" panose="02000503000000020004" pitchFamily="50" charset="-127"/>
              </a:rPr>
              <a:t>에이전트명</a:t>
            </a:r>
            <a:r>
              <a:rPr lang="en-US" sz="1400" dirty="0">
                <a:latin typeface="Pretendard" panose="02000503000000020004" pitchFamily="50" charset="-127"/>
                <a:ea typeface="Pretendard" panose="02000503000000020004" pitchFamily="50" charset="-127"/>
                <a:cs typeface="Pretendard" panose="02000503000000020004" pitchFamily="50" charset="-127"/>
              </a:rPr>
              <a:t>, 해당 에이전트의 </a:t>
            </a:r>
            <a:r>
              <a:rPr lang="en-US" sz="1400" dirty="0" err="1">
                <a:latin typeface="Pretendard" panose="02000503000000020004" pitchFamily="50" charset="-127"/>
                <a:ea typeface="Pretendard" panose="02000503000000020004" pitchFamily="50" charset="-127"/>
                <a:cs typeface="Pretendard" panose="02000503000000020004" pitchFamily="50" charset="-127"/>
              </a:rPr>
              <a:t>출력</a:t>
            </a:r>
            <a:r>
              <a:rPr lang="en-US" sz="14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결과</a:t>
            </a:r>
            <a:r>
              <a:rPr lang="en-US" sz="1400" dirty="0">
                <a:latin typeface="Pretendard" panose="02000503000000020004" pitchFamily="50" charset="-127"/>
                <a:ea typeface="Pretendard" panose="02000503000000020004" pitchFamily="50" charset="-127"/>
                <a:cs typeface="Pretendard" panose="02000503000000020004" pitchFamily="50" charset="-127"/>
              </a:rPr>
              <a:t>
</a:t>
            </a:r>
            <a:r>
              <a:rPr lang="en-US" sz="1400" b="1" dirty="0">
                <a:latin typeface="Pretendard" panose="02000503000000020004" pitchFamily="50" charset="-127"/>
                <a:ea typeface="Pretendard" panose="02000503000000020004" pitchFamily="50" charset="-127"/>
                <a:cs typeface="Pretendard" panose="02000503000000020004" pitchFamily="50" charset="-127"/>
              </a:rPr>
              <a:t>본 발명은 원 시스템의 내부 구성(코드·프롬프트·설정)에 접근하지 않고, 이 로그만을 입력으로 동작</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 name="Text 3"/>
          <p:cNvSpPr/>
          <p:nvPr/>
        </p:nvSpPr>
        <p:spPr>
          <a:xfrm>
            <a:off x="731520" y="2834640"/>
            <a:ext cx="5486400" cy="320040"/>
          </a:xfrm>
          <a:prstGeom prst="rect">
            <a:avLst/>
          </a:prstGeom>
          <a:noFill/>
          <a:ln/>
        </p:spPr>
        <p:txBody>
          <a:bodyPr wrap="square" rtlCol="0" anchor="ctr"/>
          <a:lstStyle/>
          <a:p>
            <a:pPr marL="0" indent="0">
              <a:buNone/>
            </a:pPr>
            <a:r>
              <a:rPr lang="en-US" sz="1300" b="1" dirty="0">
                <a:latin typeface="Pretendard" panose="02000503000000020004" pitchFamily="50" charset="-127"/>
                <a:ea typeface="Pretendard" panose="02000503000000020004" pitchFamily="50" charset="-127"/>
                <a:cs typeface="Pretendard" panose="02000503000000020004" pitchFamily="50" charset="-127"/>
              </a:rPr>
              <a:t>실패 궤적(로그)의 구조 예시</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4"/>
          <p:cNvSpPr/>
          <p:nvPr/>
        </p:nvSpPr>
        <p:spPr>
          <a:xfrm>
            <a:off x="731520" y="3200400"/>
            <a:ext cx="914400" cy="347472"/>
          </a:xfrm>
          <a:prstGeom prst="rect">
            <a:avLst/>
          </a:prstGeom>
          <a:solidFill>
            <a:srgbClr val="1F3864"/>
          </a:solidFill>
          <a:ln/>
        </p:spPr>
        <p:txBody>
          <a:bodyPr wrap="square" rtlCol="0" anchor="ctr"/>
          <a:lstStyle/>
          <a:p>
            <a:pPr marL="0" indent="0" algn="ctr">
              <a:buNone/>
            </a:pPr>
            <a:r>
              <a:rPr lang="en-US" sz="1150" b="1" dirty="0">
                <a:solidFill>
                  <a:schemeClr val="bg1"/>
                </a:solidFill>
                <a:latin typeface="Pretendard" panose="02000503000000020004" pitchFamily="50" charset="-127"/>
                <a:ea typeface="Pretendard" panose="02000503000000020004" pitchFamily="50" charset="-127"/>
                <a:cs typeface="Pretendard" panose="02000503000000020004" pitchFamily="50" charset="-127"/>
              </a:rPr>
              <a:t>Step</a:t>
            </a:r>
            <a:endParaRPr lang="en-US" sz="1150" dirty="0">
              <a:solidFill>
                <a:schemeClr val="bg1"/>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5"/>
          <p:cNvSpPr/>
          <p:nvPr/>
        </p:nvSpPr>
        <p:spPr>
          <a:xfrm>
            <a:off x="1691640" y="3200400"/>
            <a:ext cx="1828800" cy="347472"/>
          </a:xfrm>
          <a:prstGeom prst="rect">
            <a:avLst/>
          </a:prstGeom>
          <a:solidFill>
            <a:srgbClr val="1F3864"/>
          </a:solidFill>
          <a:ln/>
        </p:spPr>
        <p:txBody>
          <a:bodyPr wrap="square" rtlCol="0" anchor="ctr"/>
          <a:lstStyle/>
          <a:p>
            <a:pPr marL="0" indent="0" algn="ctr">
              <a:buNone/>
            </a:pPr>
            <a:r>
              <a:rPr lang="en-US" sz="1150" b="1" dirty="0">
                <a:solidFill>
                  <a:schemeClr val="bg1"/>
                </a:solidFill>
                <a:latin typeface="Pretendard" panose="02000503000000020004" pitchFamily="50" charset="-127"/>
                <a:ea typeface="Pretendard" panose="02000503000000020004" pitchFamily="50" charset="-127"/>
                <a:cs typeface="Pretendard" panose="02000503000000020004" pitchFamily="50" charset="-127"/>
              </a:rPr>
              <a:t>Agent</a:t>
            </a:r>
            <a:endParaRPr lang="en-US" sz="1150" dirty="0">
              <a:solidFill>
                <a:schemeClr val="bg1"/>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6"/>
          <p:cNvSpPr/>
          <p:nvPr/>
        </p:nvSpPr>
        <p:spPr>
          <a:xfrm>
            <a:off x="3566160" y="3200400"/>
            <a:ext cx="7863840" cy="347472"/>
          </a:xfrm>
          <a:prstGeom prst="rect">
            <a:avLst/>
          </a:prstGeom>
          <a:solidFill>
            <a:srgbClr val="1F3864"/>
          </a:solidFill>
          <a:ln/>
        </p:spPr>
        <p:txBody>
          <a:bodyPr wrap="square" rtlCol="0" anchor="ctr"/>
          <a:lstStyle/>
          <a:p>
            <a:pPr marL="0" indent="0" algn="ctr">
              <a:buNone/>
            </a:pPr>
            <a:r>
              <a:rPr lang="en-US" sz="1150" b="1" dirty="0">
                <a:solidFill>
                  <a:schemeClr val="bg1"/>
                </a:solidFill>
                <a:latin typeface="Pretendard" panose="02000503000000020004" pitchFamily="50" charset="-127"/>
                <a:ea typeface="Pretendard" panose="02000503000000020004" pitchFamily="50" charset="-127"/>
                <a:cs typeface="Pretendard" panose="02000503000000020004" pitchFamily="50" charset="-127"/>
              </a:rPr>
              <a:t>출력 내용 (Content)</a:t>
            </a:r>
            <a:endParaRPr lang="en-US" sz="1150" dirty="0">
              <a:solidFill>
                <a:schemeClr val="bg1"/>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7"/>
          <p:cNvSpPr/>
          <p:nvPr/>
        </p:nvSpPr>
        <p:spPr>
          <a:xfrm>
            <a:off x="731520" y="3566160"/>
            <a:ext cx="914400" cy="402336"/>
          </a:xfrm>
          <a:prstGeom prst="rect">
            <a:avLst/>
          </a:prstGeom>
          <a:solidFill>
            <a:srgbClr val="FFFFFF"/>
          </a:solidFill>
          <a:ln/>
        </p:spPr>
        <p:txBody>
          <a:bodyPr wrap="square" lIns="36576" tIns="36576" rIns="36576" bIns="36576" rtlCol="0" anchor="ctr"/>
          <a:lstStyle/>
          <a:p>
            <a:pPr marL="0" indent="0" algn="ctr">
              <a:buNone/>
            </a:pPr>
            <a:r>
              <a:rPr lang="en-US" sz="1100" dirty="0">
                <a:latin typeface="Pretendard" panose="02000503000000020004" pitchFamily="50" charset="-127"/>
                <a:ea typeface="Pretendard" panose="02000503000000020004" pitchFamily="50" charset="-127"/>
                <a:cs typeface="Pretendard" panose="02000503000000020004" pitchFamily="50" charset="-127"/>
              </a:rPr>
              <a:t>1</a:t>
            </a:r>
          </a:p>
        </p:txBody>
      </p:sp>
      <p:sp>
        <p:nvSpPr>
          <p:cNvPr id="10" name="Text 8"/>
          <p:cNvSpPr/>
          <p:nvPr/>
        </p:nvSpPr>
        <p:spPr>
          <a:xfrm>
            <a:off x="1691640" y="3566160"/>
            <a:ext cx="1828800" cy="402336"/>
          </a:xfrm>
          <a:prstGeom prst="rect">
            <a:avLst/>
          </a:prstGeom>
          <a:solidFill>
            <a:srgbClr val="FFFFFF"/>
          </a:solidFill>
          <a:ln/>
        </p:spPr>
        <p:txBody>
          <a:bodyPr wrap="square" lIns="36576" tIns="36576" rIns="36576" bIns="36576" rtlCol="0" anchor="ctr"/>
          <a:lstStyle/>
          <a:p>
            <a:pPr marL="0" indent="0" algn="ctr">
              <a:buNone/>
            </a:pPr>
            <a:r>
              <a:rPr lang="en-US" sz="1100" b="1" dirty="0">
                <a:latin typeface="Pretendard" panose="02000503000000020004" pitchFamily="50" charset="-127"/>
                <a:ea typeface="Pretendard" panose="02000503000000020004" pitchFamily="50" charset="-127"/>
                <a:cs typeface="Pretendard" panose="02000503000000020004" pitchFamily="50" charset="-127"/>
              </a:rPr>
              <a:t>Orchestrator</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Text 9"/>
          <p:cNvSpPr/>
          <p:nvPr/>
        </p:nvSpPr>
        <p:spPr>
          <a:xfrm>
            <a:off x="3566160" y="3566160"/>
            <a:ext cx="7863840" cy="402336"/>
          </a:xfrm>
          <a:prstGeom prst="rect">
            <a:avLst/>
          </a:prstGeom>
          <a:solidFill>
            <a:srgbClr val="FFFFFF"/>
          </a:solidFill>
          <a:ln/>
        </p:spPr>
        <p:txBody>
          <a:bodyPr wrap="square" lIns="73152" tIns="73152" rIns="73152" bIns="73152" rtlCol="0" anchor="ctr"/>
          <a:lstStyle/>
          <a:p>
            <a:pPr marL="0" indent="0">
              <a:buNone/>
            </a:pPr>
            <a:r>
              <a:rPr lang="en-US" sz="1100" dirty="0">
                <a:latin typeface="Pretendard" panose="02000503000000020004" pitchFamily="50" charset="-127"/>
                <a:ea typeface="Pretendard" panose="02000503000000020004" pitchFamily="50" charset="-127"/>
                <a:cs typeface="Pretendard" panose="02000503000000020004" pitchFamily="50" charset="-127"/>
              </a:rPr>
              <a:t>"NYSE 도보 5분 내 무술 도장을 찾아라" — 하위 작업 계획 수립</a:t>
            </a:r>
          </a:p>
        </p:txBody>
      </p:sp>
      <p:sp>
        <p:nvSpPr>
          <p:cNvPr id="12" name="Text 10"/>
          <p:cNvSpPr/>
          <p:nvPr/>
        </p:nvSpPr>
        <p:spPr>
          <a:xfrm>
            <a:off x="731520" y="3986784"/>
            <a:ext cx="914400" cy="402336"/>
          </a:xfrm>
          <a:prstGeom prst="rect">
            <a:avLst/>
          </a:prstGeom>
          <a:solidFill>
            <a:srgbClr val="F5F8FC"/>
          </a:solidFill>
          <a:ln/>
        </p:spPr>
        <p:txBody>
          <a:bodyPr wrap="square" lIns="36576" tIns="36576" rIns="36576" bIns="36576" rtlCol="0" anchor="ctr"/>
          <a:lstStyle/>
          <a:p>
            <a:pPr marL="0" indent="0" algn="ctr">
              <a:buNone/>
            </a:pPr>
            <a:r>
              <a:rPr lang="en-US" sz="1100" dirty="0">
                <a:latin typeface="Pretendard" panose="02000503000000020004" pitchFamily="50" charset="-127"/>
                <a:ea typeface="Pretendard" panose="02000503000000020004" pitchFamily="50" charset="-127"/>
                <a:cs typeface="Pretendard" panose="02000503000000020004" pitchFamily="50" charset="-127"/>
              </a:rPr>
              <a:t>2</a:t>
            </a:r>
          </a:p>
        </p:txBody>
      </p:sp>
      <p:sp>
        <p:nvSpPr>
          <p:cNvPr id="13" name="Text 11"/>
          <p:cNvSpPr/>
          <p:nvPr/>
        </p:nvSpPr>
        <p:spPr>
          <a:xfrm>
            <a:off x="1691640" y="3986784"/>
            <a:ext cx="1828800" cy="402336"/>
          </a:xfrm>
          <a:prstGeom prst="rect">
            <a:avLst/>
          </a:prstGeom>
          <a:solidFill>
            <a:srgbClr val="F5F8FC"/>
          </a:solidFill>
          <a:ln/>
        </p:spPr>
        <p:txBody>
          <a:bodyPr wrap="square" lIns="36576" tIns="36576" rIns="36576" bIns="36576" rtlCol="0" anchor="ctr"/>
          <a:lstStyle/>
          <a:p>
            <a:pPr marL="0" indent="0" algn="ctr">
              <a:buNone/>
            </a:pPr>
            <a:r>
              <a:rPr lang="en-US" sz="1100" b="1" dirty="0">
                <a:latin typeface="Pretendard" panose="02000503000000020004" pitchFamily="50" charset="-127"/>
                <a:ea typeface="Pretendard" panose="02000503000000020004" pitchFamily="50" charset="-127"/>
                <a:cs typeface="Pretendard" panose="02000503000000020004" pitchFamily="50" charset="-127"/>
              </a:rPr>
              <a:t>WebSurfer</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Text 12"/>
          <p:cNvSpPr/>
          <p:nvPr/>
        </p:nvSpPr>
        <p:spPr>
          <a:xfrm>
            <a:off x="3566160" y="3986784"/>
            <a:ext cx="7863840" cy="402336"/>
          </a:xfrm>
          <a:prstGeom prst="rect">
            <a:avLst/>
          </a:prstGeom>
          <a:solidFill>
            <a:srgbClr val="F5F8FC"/>
          </a:solidFill>
          <a:ln/>
        </p:spPr>
        <p:txBody>
          <a:bodyPr wrap="square" lIns="73152" tIns="73152" rIns="73152" bIns="73152" rtlCol="0" anchor="ctr"/>
          <a:lstStyle/>
          <a:p>
            <a:pPr marL="0" indent="0">
              <a:buNone/>
            </a:pPr>
            <a:r>
              <a:rPr lang="en-US" sz="1100" dirty="0">
                <a:latin typeface="Pretendard" panose="02000503000000020004" pitchFamily="50" charset="-127"/>
                <a:ea typeface="Pretendard" panose="02000503000000020004" pitchFamily="50" charset="-127"/>
                <a:cs typeface="Pretendard" panose="02000503000000020004" pitchFamily="50" charset="-127"/>
              </a:rPr>
              <a:t>검색 실행, 후보 결과 목록 반환</a:t>
            </a:r>
          </a:p>
        </p:txBody>
      </p:sp>
      <p:sp>
        <p:nvSpPr>
          <p:cNvPr id="15" name="Text 13"/>
          <p:cNvSpPr/>
          <p:nvPr/>
        </p:nvSpPr>
        <p:spPr>
          <a:xfrm>
            <a:off x="731520" y="4407408"/>
            <a:ext cx="914400" cy="402336"/>
          </a:xfrm>
          <a:prstGeom prst="rect">
            <a:avLst/>
          </a:prstGeom>
          <a:solidFill>
            <a:srgbClr val="FBEAE8"/>
          </a:solidFill>
          <a:ln/>
        </p:spPr>
        <p:txBody>
          <a:bodyPr wrap="square" lIns="36576" tIns="36576" rIns="36576" bIns="36576" rtlCol="0" anchor="ctr"/>
          <a:lstStyle/>
          <a:p>
            <a:pPr marL="0" indent="0" algn="ctr">
              <a:buNone/>
            </a:pPr>
            <a:r>
              <a:rPr lang="en-US" sz="1100" dirty="0">
                <a:latin typeface="Pretendard" panose="02000503000000020004" pitchFamily="50" charset="-127"/>
                <a:ea typeface="Pretendard" panose="02000503000000020004" pitchFamily="50" charset="-127"/>
                <a:cs typeface="Pretendard" panose="02000503000000020004" pitchFamily="50" charset="-127"/>
              </a:rPr>
              <a:t>3</a:t>
            </a:r>
          </a:p>
        </p:txBody>
      </p:sp>
      <p:sp>
        <p:nvSpPr>
          <p:cNvPr id="16" name="Text 14"/>
          <p:cNvSpPr/>
          <p:nvPr/>
        </p:nvSpPr>
        <p:spPr>
          <a:xfrm>
            <a:off x="1691640" y="4407408"/>
            <a:ext cx="1828800" cy="402336"/>
          </a:xfrm>
          <a:prstGeom prst="rect">
            <a:avLst/>
          </a:prstGeom>
          <a:solidFill>
            <a:srgbClr val="FBEAE8"/>
          </a:solidFill>
          <a:ln/>
        </p:spPr>
        <p:txBody>
          <a:bodyPr wrap="square" lIns="36576" tIns="36576" rIns="36576" bIns="36576" rtlCol="0" anchor="ctr"/>
          <a:lstStyle/>
          <a:p>
            <a:pPr marL="0" indent="0" algn="ctr">
              <a:buNone/>
            </a:pPr>
            <a:r>
              <a:rPr lang="en-US" sz="1100" b="1" dirty="0">
                <a:latin typeface="Pretendard" panose="02000503000000020004" pitchFamily="50" charset="-127"/>
                <a:ea typeface="Pretendard" panose="02000503000000020004" pitchFamily="50" charset="-127"/>
                <a:cs typeface="Pretendard" panose="02000503000000020004" pitchFamily="50" charset="-127"/>
              </a:rPr>
              <a:t>WebSurfer</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7" name="Text 15"/>
          <p:cNvSpPr/>
          <p:nvPr/>
        </p:nvSpPr>
        <p:spPr>
          <a:xfrm>
            <a:off x="3566160" y="4407408"/>
            <a:ext cx="7863840" cy="402336"/>
          </a:xfrm>
          <a:prstGeom prst="rect">
            <a:avLst/>
          </a:prstGeom>
          <a:solidFill>
            <a:srgbClr val="FBEAE8"/>
          </a:solidFill>
          <a:ln/>
        </p:spPr>
        <p:txBody>
          <a:bodyPr wrap="square" lIns="73152" tIns="73152" rIns="73152" bIns="73152" rtlCol="0" anchor="ctr"/>
          <a:lstStyle/>
          <a:p>
            <a:pPr marL="0" indent="0">
              <a:buNone/>
            </a:pPr>
            <a:r>
              <a:rPr lang="en-US" sz="1100" b="1" dirty="0">
                <a:solidFill>
                  <a:srgbClr val="FF0000"/>
                </a:solidFill>
                <a:latin typeface="Pretendard" panose="02000503000000020004" pitchFamily="50" charset="-127"/>
                <a:ea typeface="Pretendard" panose="02000503000000020004" pitchFamily="50" charset="-127"/>
                <a:cs typeface="Pretendard" panose="02000503000000020004" pitchFamily="50" charset="-127"/>
              </a:rPr>
              <a:t>관련 없는 링크 클릭, 잘못된 정보 추출  ← </a:t>
            </a:r>
            <a:r>
              <a:rPr lang="en-US" sz="1100" b="1" dirty="0" err="1">
                <a:solidFill>
                  <a:srgbClr val="FF0000"/>
                </a:solidFill>
                <a:latin typeface="Pretendard" panose="02000503000000020004" pitchFamily="50" charset="-127"/>
                <a:ea typeface="Pretendard" panose="02000503000000020004" pitchFamily="50" charset="-127"/>
                <a:cs typeface="Pretendard" panose="02000503000000020004" pitchFamily="50" charset="-127"/>
              </a:rPr>
              <a:t>결정적</a:t>
            </a:r>
            <a:r>
              <a:rPr lang="en-US" sz="1100" b="1" dirty="0">
                <a:solidFill>
                  <a:srgbClr val="FF0000"/>
                </a:solidFill>
                <a:latin typeface="Pretendard" panose="02000503000000020004" pitchFamily="50" charset="-127"/>
                <a:ea typeface="Pretendard" panose="02000503000000020004" pitchFamily="50" charset="-127"/>
                <a:cs typeface="Pretendard" panose="02000503000000020004" pitchFamily="50" charset="-127"/>
              </a:rPr>
              <a:t> </a:t>
            </a:r>
            <a:r>
              <a:rPr lang="en-US" sz="1100" b="1" dirty="0" err="1">
                <a:solidFill>
                  <a:srgbClr val="FF0000"/>
                </a:solidFill>
                <a:latin typeface="Pretendard" panose="02000503000000020004" pitchFamily="50" charset="-127"/>
                <a:ea typeface="Pretendard" panose="02000503000000020004" pitchFamily="50" charset="-127"/>
                <a:cs typeface="Pretendard" panose="02000503000000020004" pitchFamily="50" charset="-127"/>
              </a:rPr>
              <a:t>오류</a:t>
            </a:r>
            <a:r>
              <a:rPr lang="en-US" sz="1100" b="1" dirty="0">
                <a:solidFill>
                  <a:srgbClr val="FF0000"/>
                </a:solidFill>
                <a:latin typeface="Pretendard" panose="02000503000000020004" pitchFamily="50" charset="-127"/>
                <a:ea typeface="Pretendard" panose="02000503000000020004" pitchFamily="50" charset="-127"/>
                <a:cs typeface="Pretendard" panose="02000503000000020004" pitchFamily="50" charset="-127"/>
              </a:rPr>
              <a:t>(Decisive Error)</a:t>
            </a:r>
          </a:p>
        </p:txBody>
      </p:sp>
      <p:sp>
        <p:nvSpPr>
          <p:cNvPr id="18" name="Text 16"/>
          <p:cNvSpPr/>
          <p:nvPr/>
        </p:nvSpPr>
        <p:spPr>
          <a:xfrm>
            <a:off x="731520" y="4828032"/>
            <a:ext cx="914400" cy="402336"/>
          </a:xfrm>
          <a:prstGeom prst="rect">
            <a:avLst/>
          </a:prstGeom>
          <a:solidFill>
            <a:srgbClr val="FBEAE8"/>
          </a:solidFill>
          <a:ln/>
        </p:spPr>
        <p:txBody>
          <a:bodyPr wrap="square" lIns="36576" tIns="36576" rIns="36576" bIns="36576" rtlCol="0" anchor="ctr"/>
          <a:lstStyle/>
          <a:p>
            <a:pPr marL="0" indent="0" algn="ctr">
              <a:buNone/>
            </a:pPr>
            <a:r>
              <a:rPr lang="en-US" sz="1100" dirty="0">
                <a:latin typeface="Pretendard" panose="02000503000000020004" pitchFamily="50" charset="-127"/>
                <a:ea typeface="Pretendard" panose="02000503000000020004" pitchFamily="50" charset="-127"/>
                <a:cs typeface="Pretendard" panose="02000503000000020004" pitchFamily="50" charset="-127"/>
              </a:rPr>
              <a:t>4</a:t>
            </a:r>
          </a:p>
        </p:txBody>
      </p:sp>
      <p:sp>
        <p:nvSpPr>
          <p:cNvPr id="19" name="Text 17"/>
          <p:cNvSpPr/>
          <p:nvPr/>
        </p:nvSpPr>
        <p:spPr>
          <a:xfrm>
            <a:off x="1691640" y="4828032"/>
            <a:ext cx="1828800" cy="402336"/>
          </a:xfrm>
          <a:prstGeom prst="rect">
            <a:avLst/>
          </a:prstGeom>
          <a:solidFill>
            <a:srgbClr val="FBEAE8"/>
          </a:solidFill>
          <a:ln/>
        </p:spPr>
        <p:txBody>
          <a:bodyPr wrap="square" lIns="36576" tIns="36576" rIns="36576" bIns="36576" rtlCol="0" anchor="ctr"/>
          <a:lstStyle/>
          <a:p>
            <a:pPr marL="0" indent="0" algn="ctr">
              <a:buNone/>
            </a:pPr>
            <a:r>
              <a:rPr lang="en-US" sz="1100" b="1" dirty="0">
                <a:latin typeface="Pretendard" panose="02000503000000020004" pitchFamily="50" charset="-127"/>
                <a:ea typeface="Pretendard" panose="02000503000000020004" pitchFamily="50" charset="-127"/>
                <a:cs typeface="Pretendard" panose="02000503000000020004" pitchFamily="50" charset="-127"/>
              </a:rPr>
              <a:t>Orchestrator</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0" name="Text 18"/>
          <p:cNvSpPr/>
          <p:nvPr/>
        </p:nvSpPr>
        <p:spPr>
          <a:xfrm>
            <a:off x="3566160" y="4828032"/>
            <a:ext cx="7863840" cy="402336"/>
          </a:xfrm>
          <a:prstGeom prst="rect">
            <a:avLst/>
          </a:prstGeom>
          <a:solidFill>
            <a:srgbClr val="FBEAE8"/>
          </a:solidFill>
          <a:ln/>
        </p:spPr>
        <p:txBody>
          <a:bodyPr wrap="square" lIns="73152" tIns="73152" rIns="73152" bIns="73152" rtlCol="0" anchor="ctr"/>
          <a:lstStyle/>
          <a:p>
            <a:pPr marL="0" indent="0">
              <a:buNone/>
            </a:pPr>
            <a:r>
              <a:rPr lang="en-US" sz="1100" dirty="0">
                <a:latin typeface="Pretendard" panose="02000503000000020004" pitchFamily="50" charset="-127"/>
                <a:ea typeface="Pretendard" panose="02000503000000020004" pitchFamily="50" charset="-127"/>
                <a:cs typeface="Pretendard" panose="02000503000000020004" pitchFamily="50" charset="-127"/>
              </a:rPr>
              <a:t>잘못된 정보를 근거로 다음 지시 생성</a:t>
            </a:r>
          </a:p>
        </p:txBody>
      </p:sp>
      <p:sp>
        <p:nvSpPr>
          <p:cNvPr id="21" name="Text 19"/>
          <p:cNvSpPr/>
          <p:nvPr/>
        </p:nvSpPr>
        <p:spPr>
          <a:xfrm>
            <a:off x="731520" y="5248656"/>
            <a:ext cx="914400" cy="402336"/>
          </a:xfrm>
          <a:prstGeom prst="rect">
            <a:avLst/>
          </a:prstGeom>
          <a:solidFill>
            <a:srgbClr val="FBEAE8"/>
          </a:solidFill>
          <a:ln/>
        </p:spPr>
        <p:txBody>
          <a:bodyPr wrap="square" lIns="36576" tIns="36576" rIns="36576" bIns="36576" rtlCol="0" anchor="ctr"/>
          <a:lstStyle/>
          <a:p>
            <a:pPr marL="0" indent="0" algn="ctr">
              <a:buNone/>
            </a:pPr>
            <a:r>
              <a:rPr lang="en-US" sz="1100" dirty="0">
                <a:latin typeface="Pretendard" panose="02000503000000020004" pitchFamily="50" charset="-127"/>
                <a:ea typeface="Pretendard" panose="02000503000000020004" pitchFamily="50" charset="-127"/>
                <a:cs typeface="Pretendard" panose="02000503000000020004" pitchFamily="50" charset="-127"/>
              </a:rPr>
              <a:t>5</a:t>
            </a:r>
          </a:p>
        </p:txBody>
      </p:sp>
      <p:sp>
        <p:nvSpPr>
          <p:cNvPr id="22" name="Text 20"/>
          <p:cNvSpPr/>
          <p:nvPr/>
        </p:nvSpPr>
        <p:spPr>
          <a:xfrm>
            <a:off x="1691640" y="5248656"/>
            <a:ext cx="1828800" cy="402336"/>
          </a:xfrm>
          <a:prstGeom prst="rect">
            <a:avLst/>
          </a:prstGeom>
          <a:solidFill>
            <a:srgbClr val="FBEAE8"/>
          </a:solidFill>
          <a:ln/>
        </p:spPr>
        <p:txBody>
          <a:bodyPr wrap="square" lIns="36576" tIns="36576" rIns="36576" bIns="36576" rtlCol="0" anchor="ctr"/>
          <a:lstStyle/>
          <a:p>
            <a:pPr marL="0" indent="0" algn="ctr">
              <a:buNone/>
            </a:pPr>
            <a:r>
              <a:rPr lang="en-US" sz="1100" b="1" dirty="0">
                <a:latin typeface="Pretendard" panose="02000503000000020004" pitchFamily="50" charset="-127"/>
                <a:ea typeface="Pretendard" panose="02000503000000020004" pitchFamily="50" charset="-127"/>
                <a:cs typeface="Pretendard" panose="02000503000000020004" pitchFamily="50" charset="-127"/>
              </a:rPr>
              <a:t>Assistant</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3" name="Text 21"/>
          <p:cNvSpPr/>
          <p:nvPr/>
        </p:nvSpPr>
        <p:spPr>
          <a:xfrm>
            <a:off x="3566160" y="5248656"/>
            <a:ext cx="7863840" cy="402336"/>
          </a:xfrm>
          <a:prstGeom prst="rect">
            <a:avLst/>
          </a:prstGeom>
          <a:solidFill>
            <a:srgbClr val="FBEAE8"/>
          </a:solidFill>
          <a:ln/>
        </p:spPr>
        <p:txBody>
          <a:bodyPr wrap="square" lIns="73152" tIns="73152" rIns="73152" bIns="73152" rtlCol="0" anchor="ctr"/>
          <a:lstStyle/>
          <a:p>
            <a:pPr marL="0" indent="0">
              <a:buNone/>
            </a:pPr>
            <a:r>
              <a:rPr lang="en-US" sz="1100" dirty="0">
                <a:latin typeface="Pretendard" panose="02000503000000020004" pitchFamily="50" charset="-127"/>
                <a:ea typeface="Pretendard" panose="02000503000000020004" pitchFamily="50" charset="-127"/>
                <a:cs typeface="Pretendard" panose="02000503000000020004" pitchFamily="50" charset="-127"/>
              </a:rPr>
              <a:t>오염된 지시 기반 최종 답변 작성 → Task 실패</a:t>
            </a:r>
          </a:p>
        </p:txBody>
      </p:sp>
      <p:sp>
        <p:nvSpPr>
          <p:cNvPr id="24" name="Text 22"/>
          <p:cNvSpPr/>
          <p:nvPr/>
        </p:nvSpPr>
        <p:spPr>
          <a:xfrm>
            <a:off x="640080" y="5806440"/>
            <a:ext cx="11155680" cy="777240"/>
          </a:xfrm>
          <a:prstGeom prst="rect">
            <a:avLst/>
          </a:prstGeom>
          <a:noFill/>
          <a:ln/>
        </p:spPr>
        <p:txBody>
          <a:bodyPr wrap="square" rtlCol="0" anchor="ctr"/>
          <a:lstStyle/>
          <a:p>
            <a:pPr marL="0" indent="0">
              <a:lnSpc>
                <a:spcPct val="115000"/>
              </a:lnSpc>
              <a:buNone/>
            </a:pPr>
            <a:r>
              <a:rPr lang="en-US" sz="1350" b="1" dirty="0">
                <a:latin typeface="Pretendard" panose="02000503000000020004" pitchFamily="50" charset="-127"/>
                <a:ea typeface="Pretendard" panose="02000503000000020004" pitchFamily="50" charset="-127"/>
                <a:cs typeface="Pretendard" panose="02000503000000020004" pitchFamily="50" charset="-127"/>
              </a:rPr>
              <a:t>→ 이 로그에는 각 에이전트의 역할·말투·형식과 작업의 진행 상태가 모두 담겨 있음</a:t>
            </a:r>
            <a:endParaRPr lang="en-US" sz="1350" dirty="0">
              <a:latin typeface="Pretendard" panose="02000503000000020004" pitchFamily="50" charset="-127"/>
              <a:ea typeface="Pretendard" panose="02000503000000020004" pitchFamily="50" charset="-127"/>
              <a:cs typeface="Pretendard" panose="02000503000000020004" pitchFamily="50" charset="-127"/>
            </a:endParaRPr>
          </a:p>
          <a:p>
            <a:pPr marL="0" indent="0">
              <a:lnSpc>
                <a:spcPct val="115000"/>
              </a:lnSpc>
              <a:buNone/>
            </a:pPr>
            <a:r>
              <a:rPr lang="en-US" sz="1350" b="1" dirty="0">
                <a:latin typeface="Pretendard" panose="02000503000000020004" pitchFamily="50" charset="-127"/>
                <a:ea typeface="Pretendard" panose="02000503000000020004" pitchFamily="50" charset="-127"/>
                <a:cs typeface="Pretendard" panose="02000503000000020004" pitchFamily="50" charset="-127"/>
              </a:rPr>
              <a:t>→ 본 발명: 로그의 역방향 추적으로 오류 지점을 찾고(귀인), 로그로부터 수리 조직을 유도(수리)</a:t>
            </a:r>
            <a:r>
              <a:rPr lang="ko-KR" altLang="en-US" sz="1350" b="1" dirty="0">
                <a:latin typeface="Pretendard" panose="02000503000000020004" pitchFamily="50" charset="-127"/>
                <a:ea typeface="Pretendard" panose="02000503000000020004" pitchFamily="50" charset="-127"/>
                <a:cs typeface="Pretendard" panose="02000503000000020004" pitchFamily="50" charset="-127"/>
              </a:rPr>
              <a:t> </a:t>
            </a:r>
            <a:endParaRPr lang="en-US" sz="13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 name="TextBox 24">
            <a:extLst>
              <a:ext uri="{FF2B5EF4-FFF2-40B4-BE49-F238E27FC236}">
                <a16:creationId xmlns:a16="http://schemas.microsoft.com/office/drawing/2014/main" id="{4E91F67A-C454-4716-83AB-406167C39BD7}"/>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3</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0789920" cy="548640"/>
          </a:xfrm>
          <a:prstGeom prst="rect">
            <a:avLst/>
          </a:prstGeom>
          <a:noFill/>
          <a:ln/>
        </p:spPr>
        <p:txBody>
          <a:bodyPr wrap="square" rtlCol="0" anchor="ctr"/>
          <a:lstStyle/>
          <a:p>
            <a:pPr marL="0" indent="0">
              <a:buNone/>
            </a:pPr>
            <a:r>
              <a:rPr lang="en-US" sz="25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관련 </a:t>
            </a:r>
            <a:r>
              <a:rPr lang="en-US" sz="2500" b="1"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연구</a:t>
            </a:r>
            <a:r>
              <a:rPr lang="en-US" sz="25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2500" b="1"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동향</a:t>
            </a:r>
            <a:endParaRPr lang="en-US" sz="2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 name="Text 2"/>
          <p:cNvSpPr/>
          <p:nvPr/>
        </p:nvSpPr>
        <p:spPr>
          <a:xfrm>
            <a:off x="640080" y="1097280"/>
            <a:ext cx="10972800" cy="384048"/>
          </a:xfrm>
          <a:prstGeom prst="rect">
            <a:avLst/>
          </a:prstGeom>
          <a:noFill/>
          <a:ln/>
        </p:spPr>
        <p:txBody>
          <a:bodyPr wrap="square" rtlCol="0" anchor="ctr"/>
          <a:lstStyle/>
          <a:p>
            <a:pPr marL="0" indent="0">
              <a:buNone/>
            </a:pPr>
            <a:r>
              <a:rPr lang="en-US" sz="1600" b="1" dirty="0">
                <a:latin typeface="Pretendard" panose="02000503000000020004" pitchFamily="50" charset="-127"/>
                <a:ea typeface="Pretendard" panose="02000503000000020004" pitchFamily="50" charset="-127"/>
                <a:cs typeface="Pretendard" panose="02000503000000020004" pitchFamily="50" charset="-127"/>
              </a:rPr>
              <a:t>Who&amp;When: LLM MAS의 자동 오류 귀인</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 name="Text 3"/>
          <p:cNvSpPr/>
          <p:nvPr/>
        </p:nvSpPr>
        <p:spPr>
          <a:xfrm>
            <a:off x="640080" y="1481328"/>
            <a:ext cx="10972800" cy="292608"/>
          </a:xfrm>
          <a:prstGeom prst="rect">
            <a:avLst/>
          </a:prstGeom>
          <a:noFill/>
          <a:ln/>
        </p:spPr>
        <p:txBody>
          <a:bodyPr wrap="square" rtlCol="0" anchor="ctr"/>
          <a:lstStyle/>
          <a:p>
            <a:pPr marL="0" indent="0">
              <a:buNone/>
            </a:pPr>
            <a:r>
              <a:rPr lang="en-US" sz="1150" i="1" dirty="0">
                <a:solidFill>
                  <a:srgbClr val="595959"/>
                </a:solidFill>
                <a:latin typeface="Pretendard" panose="02000503000000020004" pitchFamily="50" charset="-127"/>
                <a:ea typeface="Pretendard" panose="02000503000000020004" pitchFamily="50" charset="-127"/>
                <a:cs typeface="Pretendard" panose="02000503000000020004" pitchFamily="50" charset="-127"/>
              </a:rPr>
              <a:t>Which Agent Causes Task Failures and When?, ICML 2025</a:t>
            </a:r>
            <a:endParaRPr lang="en-US" sz="11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4"/>
          <p:cNvSpPr/>
          <p:nvPr/>
        </p:nvSpPr>
        <p:spPr>
          <a:xfrm>
            <a:off x="868680" y="1810512"/>
            <a:ext cx="10698480" cy="1051560"/>
          </a:xfrm>
          <a:prstGeom prst="rect">
            <a:avLst/>
          </a:prstGeom>
          <a:noFill/>
          <a:ln/>
        </p:spPr>
        <p:txBody>
          <a:bodyPr wrap="square" rtlCol="0" anchor="ctr"/>
          <a:lstStyle/>
          <a:p>
            <a:pPr marL="342900" indent="-342900">
              <a:lnSpc>
                <a:spcPct val="115000"/>
              </a:lnSpc>
              <a:buSzPct val="100000"/>
              <a:buChar char="•"/>
            </a:pPr>
            <a:r>
              <a:rPr lang="en-US" sz="13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특정 단계의 행동 수정 시 실패가 성공으로 전환되는 가장 이른 단계를 '결정적 오류'로 정의</a:t>
            </a:r>
            <a:endParaRPr lang="en-US" sz="1350" dirty="0">
              <a:latin typeface="Pretendard" panose="02000503000000020004" pitchFamily="50" charset="-127"/>
              <a:ea typeface="Pretendard" panose="02000503000000020004" pitchFamily="50" charset="-127"/>
              <a:cs typeface="Pretendard" panose="02000503000000020004" pitchFamily="50" charset="-127"/>
            </a:endParaRPr>
          </a:p>
          <a:p>
            <a:pPr marL="342900" indent="-342900">
              <a:lnSpc>
                <a:spcPct val="115000"/>
              </a:lnSpc>
              <a:buSzPct val="100000"/>
              <a:buChar char="•"/>
            </a:pPr>
            <a:r>
              <a:rPr lang="en-US" sz="13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실행 로그 기반 전역 분석·순차 분석으로 결정적 오류 단계·에이전트를 자동 식별</a:t>
            </a:r>
            <a:endParaRPr lang="en-US" sz="13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5"/>
          <p:cNvSpPr/>
          <p:nvPr/>
        </p:nvSpPr>
        <p:spPr>
          <a:xfrm>
            <a:off x="640080" y="3063240"/>
            <a:ext cx="10972800" cy="384048"/>
          </a:xfrm>
          <a:prstGeom prst="rect">
            <a:avLst/>
          </a:prstGeom>
          <a:noFill/>
          <a:ln/>
        </p:spPr>
        <p:txBody>
          <a:bodyPr wrap="square" rtlCol="0" anchor="ctr"/>
          <a:lstStyle/>
          <a:p>
            <a:pPr marL="0" indent="0">
              <a:buNone/>
            </a:pPr>
            <a:r>
              <a:rPr lang="en-US" sz="1600" b="1" dirty="0">
                <a:latin typeface="Pretendard" panose="02000503000000020004" pitchFamily="50" charset="-127"/>
                <a:ea typeface="Pretendard" panose="02000503000000020004" pitchFamily="50" charset="-127"/>
                <a:cs typeface="Pretendard" panose="02000503000000020004" pitchFamily="50" charset="-127"/>
              </a:rPr>
              <a:t>AgenTracer: </a:t>
            </a:r>
            <a:r>
              <a:rPr lang="en-US" sz="1600" b="1" dirty="0" err="1">
                <a:latin typeface="Pretendard" panose="02000503000000020004" pitchFamily="50" charset="-127"/>
                <a:ea typeface="Pretendard" panose="02000503000000020004" pitchFamily="50" charset="-127"/>
                <a:cs typeface="Pretendard" panose="02000503000000020004" pitchFamily="50" charset="-127"/>
              </a:rPr>
              <a:t>재생</a:t>
            </a:r>
            <a:r>
              <a:rPr lang="en-US" sz="1600" b="1" dirty="0">
                <a:latin typeface="Pretendard" panose="02000503000000020004" pitchFamily="50" charset="-127"/>
                <a:ea typeface="Pretendard" panose="02000503000000020004" pitchFamily="50" charset="-127"/>
                <a:cs typeface="Pretendard" panose="02000503000000020004" pitchFamily="50" charset="-127"/>
              </a:rPr>
              <a:t> 기반 귀인 및 자기교정 피드백</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6"/>
          <p:cNvSpPr/>
          <p:nvPr/>
        </p:nvSpPr>
        <p:spPr>
          <a:xfrm>
            <a:off x="640080" y="3447288"/>
            <a:ext cx="10972800" cy="292608"/>
          </a:xfrm>
          <a:prstGeom prst="rect">
            <a:avLst/>
          </a:prstGeom>
          <a:noFill/>
          <a:ln/>
        </p:spPr>
        <p:txBody>
          <a:bodyPr wrap="square" rtlCol="0" anchor="ctr"/>
          <a:lstStyle/>
          <a:p>
            <a:pPr marL="0" indent="0">
              <a:buNone/>
            </a:pPr>
            <a:r>
              <a:rPr lang="en-US" sz="1150" i="1" dirty="0">
                <a:solidFill>
                  <a:srgbClr val="595959"/>
                </a:solidFill>
                <a:latin typeface="Pretendard" panose="02000503000000020004" pitchFamily="50" charset="-127"/>
                <a:ea typeface="Pretendard" panose="02000503000000020004" pitchFamily="50" charset="-127"/>
                <a:cs typeface="Pretendard" panose="02000503000000020004" pitchFamily="50" charset="-127"/>
              </a:rPr>
              <a:t>AgenTracer: Who is Inducing Failure in the LLM Agentic Systems?, arXiv 2509.03312</a:t>
            </a:r>
            <a:endParaRPr lang="en-US" sz="11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7"/>
          <p:cNvSpPr/>
          <p:nvPr/>
        </p:nvSpPr>
        <p:spPr>
          <a:xfrm>
            <a:off x="868680" y="3776472"/>
            <a:ext cx="10698480" cy="1051560"/>
          </a:xfrm>
          <a:prstGeom prst="rect">
            <a:avLst/>
          </a:prstGeom>
          <a:noFill/>
          <a:ln/>
        </p:spPr>
        <p:txBody>
          <a:bodyPr wrap="square" rtlCol="0" anchor="ctr"/>
          <a:lstStyle/>
          <a:p>
            <a:pPr marL="342900" indent="-342900">
              <a:lnSpc>
                <a:spcPct val="115000"/>
              </a:lnSpc>
              <a:buSzPct val="100000"/>
              <a:buChar char="•"/>
            </a:pPr>
            <a:r>
              <a:rPr lang="en-US" sz="13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반사실적 재생(counterfactual replay)과 오류 주입으로 실패 궤적을 자동 주석하여 귀인 모델을 학습</a:t>
            </a:r>
            <a:endParaRPr lang="en-US" sz="1350" dirty="0">
              <a:latin typeface="Pretendard" panose="02000503000000020004" pitchFamily="50" charset="-127"/>
              <a:ea typeface="Pretendard" panose="02000503000000020004" pitchFamily="50" charset="-127"/>
              <a:cs typeface="Pretendard" panose="02000503000000020004" pitchFamily="50" charset="-127"/>
            </a:endParaRPr>
          </a:p>
          <a:p>
            <a:pPr marL="342900" indent="-342900">
              <a:lnSpc>
                <a:spcPct val="115000"/>
              </a:lnSpc>
              <a:buSzPct val="100000"/>
              <a:buChar char="•"/>
            </a:pPr>
            <a:r>
              <a:rPr lang="en-US" sz="13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귀인 결과를 MetaGPT 등 기존 MAS에 피드백으로 제공하여 4.8~14.2% 성능 향상을 시연</a:t>
            </a:r>
            <a:endParaRPr lang="en-US" sz="13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 name="Text 8"/>
          <p:cNvSpPr/>
          <p:nvPr/>
        </p:nvSpPr>
        <p:spPr>
          <a:xfrm>
            <a:off x="640080" y="5257800"/>
            <a:ext cx="10972800" cy="457200"/>
          </a:xfrm>
          <a:prstGeom prst="rect">
            <a:avLst/>
          </a:prstGeom>
          <a:noFill/>
          <a:ln/>
        </p:spPr>
        <p:txBody>
          <a:bodyPr wrap="square" rtlCol="0" anchor="ctr"/>
          <a:lstStyle/>
          <a:p>
            <a:pPr marL="0" indent="0">
              <a:buNone/>
            </a:pPr>
            <a:r>
              <a:rPr lang="en-US" sz="145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귀인의 자동화는 빠르게 성숙 중이나, 두 연구 모두 '어디가 틀렸는가'의 식별에 초점</a:t>
            </a:r>
            <a:endParaRPr lang="en-US" sz="14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TextBox 10">
            <a:extLst>
              <a:ext uri="{FF2B5EF4-FFF2-40B4-BE49-F238E27FC236}">
                <a16:creationId xmlns:a16="http://schemas.microsoft.com/office/drawing/2014/main" id="{4A40B0D3-26BC-4C0B-9102-877C49A8BBA6}"/>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4</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0789920" cy="548640"/>
          </a:xfrm>
          <a:prstGeom prst="rect">
            <a:avLst/>
          </a:prstGeom>
          <a:noFill/>
          <a:ln/>
        </p:spPr>
        <p:txBody>
          <a:bodyPr wrap="square" rtlCol="0" anchor="ctr"/>
          <a:lstStyle/>
          <a:p>
            <a:pPr marL="0" indent="0">
              <a:buNone/>
            </a:pPr>
            <a:r>
              <a:rPr lang="en-US" sz="2500" b="1" dirty="0">
                <a:latin typeface="Pretendard" panose="02000503000000020004" pitchFamily="50" charset="-127"/>
                <a:ea typeface="Pretendard" panose="02000503000000020004" pitchFamily="50" charset="-127"/>
                <a:cs typeface="Pretendard" panose="02000503000000020004" pitchFamily="50" charset="-127"/>
              </a:rPr>
              <a:t>관련 </a:t>
            </a:r>
            <a:r>
              <a:rPr lang="en-US" sz="2500" b="1" dirty="0" err="1">
                <a:latin typeface="Pretendard" panose="02000503000000020004" pitchFamily="50" charset="-127"/>
                <a:ea typeface="Pretendard" panose="02000503000000020004" pitchFamily="50" charset="-127"/>
                <a:cs typeface="Pretendard" panose="02000503000000020004" pitchFamily="50" charset="-127"/>
              </a:rPr>
              <a:t>연구</a:t>
            </a:r>
            <a:r>
              <a:rPr lang="en-US" sz="2500" b="1" dirty="0">
                <a:latin typeface="Pretendard" panose="02000503000000020004" pitchFamily="50" charset="-127"/>
                <a:ea typeface="Pretendard" panose="02000503000000020004" pitchFamily="50" charset="-127"/>
                <a:cs typeface="Pretendard" panose="02000503000000020004" pitchFamily="50" charset="-127"/>
              </a:rPr>
              <a:t> </a:t>
            </a:r>
            <a:r>
              <a:rPr lang="en-US" sz="2500" b="1" dirty="0" err="1">
                <a:latin typeface="Pretendard" panose="02000503000000020004" pitchFamily="50" charset="-127"/>
                <a:ea typeface="Pretendard" panose="02000503000000020004" pitchFamily="50" charset="-127"/>
                <a:cs typeface="Pretendard" panose="02000503000000020004" pitchFamily="50" charset="-127"/>
              </a:rPr>
              <a:t>동향</a:t>
            </a:r>
            <a:endParaRPr lang="en-US" sz="2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 name="Text 2"/>
          <p:cNvSpPr/>
          <p:nvPr/>
        </p:nvSpPr>
        <p:spPr>
          <a:xfrm>
            <a:off x="640080" y="1097280"/>
            <a:ext cx="10972800" cy="384048"/>
          </a:xfrm>
          <a:prstGeom prst="rect">
            <a:avLst/>
          </a:prstGeom>
          <a:noFill/>
          <a:ln/>
        </p:spPr>
        <p:txBody>
          <a:bodyPr wrap="square" rtlCol="0" anchor="ctr"/>
          <a:lstStyle/>
          <a:p>
            <a:pPr marL="0" indent="0">
              <a:buNone/>
            </a:pPr>
            <a:r>
              <a:rPr lang="en-US" sz="1600" b="1" dirty="0">
                <a:latin typeface="Pretendard" panose="02000503000000020004" pitchFamily="50" charset="-127"/>
                <a:ea typeface="Pretendard" panose="02000503000000020004" pitchFamily="50" charset="-127"/>
                <a:cs typeface="Pretendard" panose="02000503000000020004" pitchFamily="50" charset="-127"/>
              </a:rPr>
              <a:t>DoVer: 개입 주도 자동 디버깅 (핵심 선행기술)</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 name="Text 3"/>
          <p:cNvSpPr/>
          <p:nvPr/>
        </p:nvSpPr>
        <p:spPr>
          <a:xfrm>
            <a:off x="640080" y="1481328"/>
            <a:ext cx="10972800" cy="292608"/>
          </a:xfrm>
          <a:prstGeom prst="rect">
            <a:avLst/>
          </a:prstGeom>
          <a:noFill/>
          <a:ln/>
        </p:spPr>
        <p:txBody>
          <a:bodyPr wrap="square" rtlCol="0" anchor="ctr"/>
          <a:lstStyle/>
          <a:p>
            <a:pPr marL="0" indent="0">
              <a:buNone/>
            </a:pPr>
            <a:r>
              <a:rPr lang="en-US" sz="1150" i="1" dirty="0">
                <a:latin typeface="Pretendard" panose="02000503000000020004" pitchFamily="50" charset="-127"/>
                <a:ea typeface="Pretendard" panose="02000503000000020004" pitchFamily="50" charset="-127"/>
                <a:cs typeface="Pretendard" panose="02000503000000020004" pitchFamily="50" charset="-127"/>
              </a:rPr>
              <a:t>DoVer: Intervention-Driven Auto Debugging for LLM Multi-Agent Systems, arXiv 2512.06749 (Microsoft·CAS)</a:t>
            </a:r>
            <a:endParaRPr lang="en-US" sz="11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4"/>
          <p:cNvSpPr/>
          <p:nvPr/>
        </p:nvSpPr>
        <p:spPr>
          <a:xfrm>
            <a:off x="868680" y="1810512"/>
            <a:ext cx="10698480" cy="1097280"/>
          </a:xfrm>
          <a:prstGeom prst="rect">
            <a:avLst/>
          </a:prstGeom>
          <a:noFill/>
          <a:ln/>
        </p:spPr>
        <p:txBody>
          <a:bodyPr wrap="square" rtlCol="0" anchor="ctr"/>
          <a:lstStyle/>
          <a:p>
            <a:pPr marL="342900" indent="-342900">
              <a:lnSpc>
                <a:spcPct val="115000"/>
              </a:lnSpc>
              <a:buSzPct val="100000"/>
              <a:buChar char="•"/>
            </a:pPr>
            <a:r>
              <a:rPr lang="en-US" sz="1350" dirty="0">
                <a:latin typeface="Pretendard" panose="02000503000000020004" pitchFamily="50" charset="-127"/>
                <a:ea typeface="Pretendard" panose="02000503000000020004" pitchFamily="50" charset="-127"/>
                <a:cs typeface="Pretendard" panose="02000503000000020004" pitchFamily="50" charset="-127"/>
              </a:rPr>
              <a:t>귀인 결과를 '검증할 가설'로 간주 → 지목 위치(메시지·계획·도구 호출)에 단일 표적 편집 후 재실행</a:t>
            </a:r>
          </a:p>
          <a:p>
            <a:pPr marL="342900" indent="-342900">
              <a:lnSpc>
                <a:spcPct val="115000"/>
              </a:lnSpc>
              <a:buSzPct val="100000"/>
              <a:buChar char="•"/>
            </a:pPr>
            <a:r>
              <a:rPr lang="en-US" sz="1350" dirty="0">
                <a:latin typeface="Pretendard" panose="02000503000000020004" pitchFamily="50" charset="-127"/>
                <a:ea typeface="Pretendard" panose="02000503000000020004" pitchFamily="50" charset="-127"/>
                <a:cs typeface="Pretendard" panose="02000503000000020004" pitchFamily="50" charset="-127"/>
              </a:rPr>
              <a:t>마일스톤/유틸리티 향상으로 판정, 실패 시행의 18~28%를 성공으로 전환 (Magnetic-One, GAIA·AssistantBench)</a:t>
            </a:r>
          </a:p>
        </p:txBody>
      </p:sp>
      <p:sp>
        <p:nvSpPr>
          <p:cNvPr id="7" name="Text 5"/>
          <p:cNvSpPr/>
          <p:nvPr/>
        </p:nvSpPr>
        <p:spPr>
          <a:xfrm>
            <a:off x="640080" y="3108960"/>
            <a:ext cx="10972800" cy="384048"/>
          </a:xfrm>
          <a:prstGeom prst="rect">
            <a:avLst/>
          </a:prstGeom>
          <a:noFill/>
          <a:ln/>
        </p:spPr>
        <p:txBody>
          <a:bodyPr wrap="square" rtlCol="0" anchor="ctr"/>
          <a:lstStyle/>
          <a:p>
            <a:pPr marL="0" indent="0">
              <a:buNone/>
            </a:pPr>
            <a:r>
              <a:rPr lang="en-US" sz="1600" b="1" dirty="0">
                <a:latin typeface="Pretendard" panose="02000503000000020004" pitchFamily="50" charset="-127"/>
                <a:ea typeface="Pretendard" panose="02000503000000020004" pitchFamily="50" charset="-127"/>
                <a:cs typeface="Pretendard" panose="02000503000000020004" pitchFamily="50" charset="-127"/>
              </a:rPr>
              <a:t>CausalFlow: 반사실적 최소 편집 수리</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6"/>
          <p:cNvSpPr/>
          <p:nvPr/>
        </p:nvSpPr>
        <p:spPr>
          <a:xfrm>
            <a:off x="640080" y="3493008"/>
            <a:ext cx="10972800" cy="292608"/>
          </a:xfrm>
          <a:prstGeom prst="rect">
            <a:avLst/>
          </a:prstGeom>
          <a:noFill/>
          <a:ln/>
        </p:spPr>
        <p:txBody>
          <a:bodyPr wrap="square" rtlCol="0" anchor="ctr"/>
          <a:lstStyle/>
          <a:p>
            <a:pPr marL="0" indent="0">
              <a:buNone/>
            </a:pPr>
            <a:r>
              <a:rPr lang="en-US" sz="1150" i="1" dirty="0">
                <a:latin typeface="Pretendard" panose="02000503000000020004" pitchFamily="50" charset="-127"/>
                <a:ea typeface="Pretendard" panose="02000503000000020004" pitchFamily="50" charset="-127"/>
                <a:cs typeface="Pretendard" panose="02000503000000020004" pitchFamily="50" charset="-127"/>
              </a:rPr>
              <a:t>CausalFlow: Causal Attribution and Counterfactual Repair for LLM Agent Failures, arXiv 2605.25338</a:t>
            </a:r>
            <a:endParaRPr lang="en-US" sz="11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7"/>
          <p:cNvSpPr/>
          <p:nvPr/>
        </p:nvSpPr>
        <p:spPr>
          <a:xfrm>
            <a:off x="868680" y="3822192"/>
            <a:ext cx="10698480" cy="1097280"/>
          </a:xfrm>
          <a:prstGeom prst="rect">
            <a:avLst/>
          </a:prstGeom>
          <a:noFill/>
          <a:ln/>
        </p:spPr>
        <p:txBody>
          <a:bodyPr wrap="square" rtlCol="0" anchor="ctr"/>
          <a:lstStyle/>
          <a:p>
            <a:pPr marL="342900" indent="-342900">
              <a:lnSpc>
                <a:spcPct val="115000"/>
              </a:lnSpc>
              <a:buSzPct val="100000"/>
              <a:buChar char="•"/>
            </a:pPr>
            <a:r>
              <a:rPr lang="en-US" sz="1350" dirty="0">
                <a:latin typeface="Pretendard" panose="02000503000000020004" pitchFamily="50" charset="-127"/>
                <a:ea typeface="Pretendard" panose="02000503000000020004" pitchFamily="50" charset="-127"/>
                <a:cs typeface="Pretendard" panose="02000503000000020004" pitchFamily="50" charset="-127"/>
              </a:rPr>
              <a:t>단계별 반사실적 개입으로 인과 책임 점수(CRS)를 산출하여 실패 유발 단계를 식별</a:t>
            </a:r>
          </a:p>
          <a:p>
            <a:pPr marL="342900" indent="-342900">
              <a:lnSpc>
                <a:spcPct val="115000"/>
              </a:lnSpc>
              <a:buSzPct val="100000"/>
              <a:buChar char="•"/>
            </a:pPr>
            <a:r>
              <a:rPr lang="en-US" sz="1350" dirty="0">
                <a:latin typeface="Pretendard" panose="02000503000000020004" pitchFamily="50" charset="-127"/>
                <a:ea typeface="Pretendard" panose="02000503000000020004" pitchFamily="50" charset="-127"/>
                <a:cs typeface="Pretendard" panose="02000503000000020004" pitchFamily="50" charset="-127"/>
              </a:rPr>
              <a:t>최종 결과를 실패→성공으로 뒤집는 최소 편집 수리(minimal edit)를 생성, 테스트타임 복구에 활용</a:t>
            </a:r>
          </a:p>
        </p:txBody>
      </p:sp>
      <p:sp>
        <p:nvSpPr>
          <p:cNvPr id="10" name="Text 8"/>
          <p:cNvSpPr/>
          <p:nvPr/>
        </p:nvSpPr>
        <p:spPr>
          <a:xfrm>
            <a:off x="640080" y="5440680"/>
            <a:ext cx="11155680" cy="502920"/>
          </a:xfrm>
          <a:prstGeom prst="rect">
            <a:avLst/>
          </a:prstGeom>
          <a:noFill/>
          <a:ln/>
        </p:spPr>
        <p:txBody>
          <a:bodyPr wrap="square" rtlCol="0" anchor="ctr"/>
          <a:lstStyle/>
          <a:p>
            <a:pPr marL="0" indent="0">
              <a:buNone/>
            </a:pPr>
            <a:r>
              <a:rPr lang="en-US" sz="1450" b="1" dirty="0">
                <a:latin typeface="Pretendard" panose="02000503000000020004" pitchFamily="50" charset="-127"/>
                <a:ea typeface="Pretendard" panose="02000503000000020004" pitchFamily="50" charset="-127"/>
                <a:cs typeface="Pretendard" panose="02000503000000020004" pitchFamily="50" charset="-127"/>
              </a:rPr>
              <a:t>→ '귀인 지점에 개입하여 재실행'이라는 상위 개념은 </a:t>
            </a:r>
            <a:r>
              <a:rPr lang="en-US" sz="1450" b="1" dirty="0" err="1">
                <a:latin typeface="Pretendard" panose="02000503000000020004" pitchFamily="50" charset="-127"/>
                <a:ea typeface="Pretendard" panose="02000503000000020004" pitchFamily="50" charset="-127"/>
                <a:cs typeface="Pretendard" panose="02000503000000020004" pitchFamily="50" charset="-127"/>
              </a:rPr>
              <a:t>이미</a:t>
            </a:r>
            <a:r>
              <a:rPr lang="en-US" sz="1450" b="1" dirty="0">
                <a:latin typeface="Pretendard" panose="02000503000000020004" pitchFamily="50" charset="-127"/>
                <a:ea typeface="Pretendard" panose="02000503000000020004" pitchFamily="50" charset="-127"/>
                <a:cs typeface="Pretendard" panose="02000503000000020004" pitchFamily="50" charset="-127"/>
              </a:rPr>
              <a:t> </a:t>
            </a:r>
            <a:r>
              <a:rPr lang="en-US" sz="1450" b="1" dirty="0" err="1">
                <a:latin typeface="Pretendard" panose="02000503000000020004" pitchFamily="50" charset="-127"/>
                <a:ea typeface="Pretendard" panose="02000503000000020004" pitchFamily="50" charset="-127"/>
                <a:cs typeface="Pretendard" panose="02000503000000020004" pitchFamily="50" charset="-127"/>
              </a:rPr>
              <a:t>공개</a:t>
            </a:r>
            <a:r>
              <a:rPr lang="ko-KR" altLang="en-US" sz="1450" b="1" dirty="0">
                <a:latin typeface="Pretendard" panose="02000503000000020004" pitchFamily="50" charset="-127"/>
                <a:ea typeface="Pretendard" panose="02000503000000020004" pitchFamily="50" charset="-127"/>
                <a:cs typeface="Pretendard" panose="02000503000000020004" pitchFamily="50" charset="-127"/>
              </a:rPr>
              <a:t>되어 있으며</a:t>
            </a:r>
            <a:r>
              <a:rPr lang="en-US" altLang="ko-KR" sz="1450" b="1" dirty="0">
                <a:latin typeface="Pretendard" panose="02000503000000020004" pitchFamily="50" charset="-127"/>
                <a:ea typeface="Pretendard" panose="02000503000000020004" pitchFamily="50" charset="-127"/>
                <a:cs typeface="Pretendard" panose="02000503000000020004" pitchFamily="50" charset="-127"/>
              </a:rPr>
              <a:t>,</a:t>
            </a:r>
            <a:r>
              <a:rPr lang="en-US" sz="1450" b="1" dirty="0">
                <a:latin typeface="Pretendard" panose="02000503000000020004" pitchFamily="50" charset="-127"/>
                <a:ea typeface="Pretendard" panose="02000503000000020004" pitchFamily="50" charset="-127"/>
                <a:cs typeface="Pretendard" panose="02000503000000020004" pitchFamily="50" charset="-127"/>
              </a:rPr>
              <a:t> 본 발명은 </a:t>
            </a:r>
            <a:r>
              <a:rPr lang="en-US" sz="1450" b="1" dirty="0" err="1">
                <a:latin typeface="Pretendard" panose="02000503000000020004" pitchFamily="50" charset="-127"/>
                <a:ea typeface="Pretendard" panose="02000503000000020004" pitchFamily="50" charset="-127"/>
                <a:cs typeface="Pretendard" panose="02000503000000020004" pitchFamily="50" charset="-127"/>
              </a:rPr>
              <a:t>수리</a:t>
            </a:r>
            <a:r>
              <a:rPr lang="en-US" sz="1450" b="1" dirty="0">
                <a:latin typeface="Pretendard" panose="02000503000000020004" pitchFamily="50" charset="-127"/>
                <a:ea typeface="Pretendard" panose="02000503000000020004" pitchFamily="50" charset="-127"/>
                <a:cs typeface="Pretendard" panose="02000503000000020004" pitchFamily="50" charset="-127"/>
              </a:rPr>
              <a:t> </a:t>
            </a:r>
            <a:r>
              <a:rPr lang="en-US" sz="1450" b="1" dirty="0" err="1">
                <a:latin typeface="Pretendard" panose="02000503000000020004" pitchFamily="50" charset="-127"/>
                <a:ea typeface="Pretendard" panose="02000503000000020004" pitchFamily="50" charset="-127"/>
                <a:cs typeface="Pretendard" panose="02000503000000020004" pitchFamily="50" charset="-127"/>
              </a:rPr>
              <a:t>방식에서</a:t>
            </a:r>
            <a:r>
              <a:rPr lang="en-US" sz="1450" b="1" dirty="0">
                <a:latin typeface="Pretendard" panose="02000503000000020004" pitchFamily="50" charset="-127"/>
                <a:ea typeface="Pretendard" panose="02000503000000020004" pitchFamily="50" charset="-127"/>
                <a:cs typeface="Pretendard" panose="02000503000000020004" pitchFamily="50" charset="-127"/>
              </a:rPr>
              <a:t> 차별화</a:t>
            </a:r>
            <a:endParaRPr lang="en-US" sz="14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TextBox 10">
            <a:extLst>
              <a:ext uri="{FF2B5EF4-FFF2-40B4-BE49-F238E27FC236}">
                <a16:creationId xmlns:a16="http://schemas.microsoft.com/office/drawing/2014/main" id="{C467ED5E-33B0-48FE-822A-477F15874E34}"/>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5</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49C0D-C0E1-9AB0-99E2-2AA5A56FCB5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B44E2E5-E480-202C-EFC6-C8C3F7EDF5DA}"/>
              </a:ext>
            </a:extLst>
          </p:cNvPr>
          <p:cNvSpPr/>
          <p:nvPr/>
        </p:nvSpPr>
        <p:spPr>
          <a:xfrm>
            <a:off x="502920" y="274320"/>
            <a:ext cx="10789920" cy="548640"/>
          </a:xfrm>
          <a:prstGeom prst="rect">
            <a:avLst/>
          </a:prstGeom>
          <a:noFill/>
          <a:ln/>
        </p:spPr>
        <p:txBody>
          <a:bodyPr wrap="square" rtlCol="0" anchor="ctr"/>
          <a:lstStyle/>
          <a:p>
            <a:pPr marL="0" indent="0">
              <a:buNone/>
            </a:pPr>
            <a:r>
              <a:rPr lang="en-US" sz="2500" b="1" dirty="0">
                <a:latin typeface="Pretendard" panose="02000503000000020004" pitchFamily="50" charset="-127"/>
                <a:ea typeface="Pretendard" panose="02000503000000020004" pitchFamily="50" charset="-127"/>
                <a:cs typeface="Pretendard" panose="02000503000000020004" pitchFamily="50" charset="-127"/>
              </a:rPr>
              <a:t>관련 </a:t>
            </a:r>
            <a:r>
              <a:rPr lang="en-US" sz="2500" b="1" dirty="0" err="1">
                <a:latin typeface="Pretendard" panose="02000503000000020004" pitchFamily="50" charset="-127"/>
                <a:ea typeface="Pretendard" panose="02000503000000020004" pitchFamily="50" charset="-127"/>
                <a:cs typeface="Pretendard" panose="02000503000000020004" pitchFamily="50" charset="-127"/>
              </a:rPr>
              <a:t>연구</a:t>
            </a:r>
            <a:r>
              <a:rPr lang="en-US" sz="2500" b="1" dirty="0">
                <a:latin typeface="Pretendard" panose="02000503000000020004" pitchFamily="50" charset="-127"/>
                <a:ea typeface="Pretendard" panose="02000503000000020004" pitchFamily="50" charset="-127"/>
                <a:cs typeface="Pretendard" panose="02000503000000020004" pitchFamily="50" charset="-127"/>
              </a:rPr>
              <a:t> </a:t>
            </a:r>
            <a:r>
              <a:rPr lang="en-US" sz="2500" b="1" dirty="0" err="1">
                <a:latin typeface="Pretendard" panose="02000503000000020004" pitchFamily="50" charset="-127"/>
                <a:ea typeface="Pretendard" panose="02000503000000020004" pitchFamily="50" charset="-127"/>
                <a:cs typeface="Pretendard" panose="02000503000000020004" pitchFamily="50" charset="-127"/>
              </a:rPr>
              <a:t>동향</a:t>
            </a:r>
            <a:endParaRPr lang="en-US" sz="2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 name="Text 2">
            <a:extLst>
              <a:ext uri="{FF2B5EF4-FFF2-40B4-BE49-F238E27FC236}">
                <a16:creationId xmlns:a16="http://schemas.microsoft.com/office/drawing/2014/main" id="{62F73F93-4DA0-14BC-C714-43E4932BF352}"/>
              </a:ext>
            </a:extLst>
          </p:cNvPr>
          <p:cNvSpPr/>
          <p:nvPr/>
        </p:nvSpPr>
        <p:spPr>
          <a:xfrm>
            <a:off x="640080" y="1097280"/>
            <a:ext cx="10972800" cy="384048"/>
          </a:xfrm>
          <a:prstGeom prst="rect">
            <a:avLst/>
          </a:prstGeom>
          <a:noFill/>
          <a:ln/>
        </p:spPr>
        <p:txBody>
          <a:bodyPr wrap="square" rtlCol="0" anchor="ctr"/>
          <a:lstStyle/>
          <a:p>
            <a:r>
              <a:rPr lang="ko-KR" altLang="ko-KR" sz="1600" b="1" dirty="0">
                <a:latin typeface="Pretendard" panose="02000503000000020004" pitchFamily="50" charset="-127"/>
                <a:ea typeface="Pretendard" panose="02000503000000020004" pitchFamily="50" charset="-127"/>
                <a:cs typeface="Pretendard" panose="02000503000000020004" pitchFamily="50" charset="-127"/>
              </a:rPr>
              <a:t>CHIEF: 계층적 인과 그래프 기반 귀인</a:t>
            </a:r>
            <a:endParaRPr lang="en-US" sz="16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 name="Text 3">
            <a:extLst>
              <a:ext uri="{FF2B5EF4-FFF2-40B4-BE49-F238E27FC236}">
                <a16:creationId xmlns:a16="http://schemas.microsoft.com/office/drawing/2014/main" id="{EE832451-ACD2-3A39-C343-024A20A8314C}"/>
              </a:ext>
            </a:extLst>
          </p:cNvPr>
          <p:cNvSpPr/>
          <p:nvPr/>
        </p:nvSpPr>
        <p:spPr>
          <a:xfrm>
            <a:off x="640080" y="1481328"/>
            <a:ext cx="10972800" cy="292608"/>
          </a:xfrm>
          <a:prstGeom prst="rect">
            <a:avLst/>
          </a:prstGeom>
          <a:noFill/>
          <a:ln/>
        </p:spPr>
        <p:txBody>
          <a:bodyPr wrap="square" rtlCol="0" anchor="ctr"/>
          <a:lstStyle/>
          <a:p>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From</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Flat</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Logs</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to</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Causal</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Graphs</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Hierarchical</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Failure</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Attribution</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for</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LLM-</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based</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Multi-Agent</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Systems,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arXiv</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2602.23701 (2026, 중국과학원)</a:t>
            </a:r>
          </a:p>
        </p:txBody>
      </p:sp>
      <p:sp>
        <p:nvSpPr>
          <p:cNvPr id="6" name="Text 4">
            <a:extLst>
              <a:ext uri="{FF2B5EF4-FFF2-40B4-BE49-F238E27FC236}">
                <a16:creationId xmlns:a16="http://schemas.microsoft.com/office/drawing/2014/main" id="{52657285-F86C-0A47-65E7-1D9CAB8FC94F}"/>
              </a:ext>
            </a:extLst>
          </p:cNvPr>
          <p:cNvSpPr/>
          <p:nvPr/>
        </p:nvSpPr>
        <p:spPr>
          <a:xfrm>
            <a:off x="868680" y="1810512"/>
            <a:ext cx="10698480" cy="1097280"/>
          </a:xfrm>
          <a:prstGeom prst="rect">
            <a:avLst/>
          </a:prstGeom>
          <a:noFill/>
          <a:ln/>
        </p:spPr>
        <p:txBody>
          <a:bodyPr wrap="square" rtlCol="0" anchor="ctr"/>
          <a:lstStyle/>
          <a:p>
            <a:pPr marL="342900" indent="-342900">
              <a:lnSpc>
                <a:spcPct val="115000"/>
              </a:lnSpc>
              <a:buSzPct val="100000"/>
              <a:buFontTx/>
              <a:buChar char="•"/>
            </a:pPr>
            <a:r>
              <a:rPr lang="ko-KR" altLang="ko-KR" sz="1350" dirty="0">
                <a:latin typeface="Pretendard" panose="02000503000000020004" pitchFamily="50" charset="-127"/>
                <a:ea typeface="Pretendard" panose="02000503000000020004" pitchFamily="50" charset="-127"/>
                <a:cs typeface="Pretendard" panose="02000503000000020004" pitchFamily="50" charset="-127"/>
              </a:rPr>
              <a:t>실행 로그를 계층적 인과 그래프로 변환하고, 가상 오라클 기반 </a:t>
            </a:r>
            <a:r>
              <a:rPr lang="ko-KR" altLang="ko-KR" sz="1350" dirty="0" err="1">
                <a:latin typeface="Pretendard" panose="02000503000000020004" pitchFamily="50" charset="-127"/>
                <a:ea typeface="Pretendard" panose="02000503000000020004" pitchFamily="50" charset="-127"/>
                <a:cs typeface="Pretendard" panose="02000503000000020004" pitchFamily="50" charset="-127"/>
              </a:rPr>
              <a:t>역추적</a:t>
            </a:r>
            <a:r>
              <a:rPr lang="ko-KR" altLang="ko-KR" sz="1350" dirty="0">
                <a:latin typeface="Pretendard" panose="02000503000000020004" pitchFamily="50" charset="-127"/>
                <a:ea typeface="Pretendard" panose="02000503000000020004" pitchFamily="50" charset="-127"/>
                <a:cs typeface="Pretendard" panose="02000503000000020004" pitchFamily="50" charset="-127"/>
              </a:rPr>
              <a:t>(</a:t>
            </a:r>
            <a:r>
              <a:rPr lang="ko-KR" altLang="ko-KR" sz="1350" dirty="0" err="1">
                <a:latin typeface="Pretendard" panose="02000503000000020004" pitchFamily="50" charset="-127"/>
                <a:ea typeface="Pretendard" panose="02000503000000020004" pitchFamily="50" charset="-127"/>
                <a:cs typeface="Pretendard" panose="02000503000000020004" pitchFamily="50" charset="-127"/>
              </a:rPr>
              <a:t>backtracking</a:t>
            </a:r>
            <a:r>
              <a:rPr lang="ko-KR" altLang="ko-KR" sz="1350" dirty="0">
                <a:latin typeface="Pretendard" panose="02000503000000020004" pitchFamily="50" charset="-127"/>
                <a:ea typeface="Pretendard" panose="02000503000000020004" pitchFamily="50" charset="-127"/>
                <a:cs typeface="Pretendard" panose="02000503000000020004" pitchFamily="50" charset="-127"/>
              </a:rPr>
              <a:t>)으로 진짜 근본 원인과 전파된 증상을 구분</a:t>
            </a:r>
            <a:endParaRPr lang="en-US" sz="1350" dirty="0">
              <a:latin typeface="Pretendard" panose="02000503000000020004" pitchFamily="50" charset="-127"/>
              <a:ea typeface="Pretendard" panose="02000503000000020004" pitchFamily="50" charset="-127"/>
              <a:cs typeface="Pretendard" panose="02000503000000020004" pitchFamily="50" charset="-127"/>
            </a:endParaRPr>
          </a:p>
          <a:p>
            <a:pPr marL="342900" indent="-342900">
              <a:lnSpc>
                <a:spcPct val="115000"/>
              </a:lnSpc>
              <a:buSzPct val="100000"/>
              <a:buFontTx/>
              <a:buChar char="•"/>
            </a:pPr>
            <a:r>
              <a:rPr lang="ko-KR" altLang="ko-KR" sz="1350" dirty="0">
                <a:latin typeface="Pretendard" panose="02000503000000020004" pitchFamily="50" charset="-127"/>
                <a:ea typeface="Pretendard" panose="02000503000000020004" pitchFamily="50" charset="-127"/>
                <a:cs typeface="Pretendard" panose="02000503000000020004" pitchFamily="50" charset="-127"/>
              </a:rPr>
              <a:t>그래프 </a:t>
            </a:r>
            <a:r>
              <a:rPr lang="ko-KR" altLang="ko-KR" sz="1350" dirty="0" err="1">
                <a:latin typeface="Pretendard" panose="02000503000000020004" pitchFamily="50" charset="-127"/>
                <a:ea typeface="Pretendard" panose="02000503000000020004" pitchFamily="50" charset="-127"/>
                <a:cs typeface="Pretendard" panose="02000503000000020004" pitchFamily="50" charset="-127"/>
              </a:rPr>
              <a:t>구성·오라클</a:t>
            </a:r>
            <a:r>
              <a:rPr lang="ko-KR" altLang="ko-KR" sz="1350" dirty="0">
                <a:latin typeface="Pretendard" panose="02000503000000020004" pitchFamily="50" charset="-127"/>
                <a:ea typeface="Pretendard" panose="02000503000000020004" pitchFamily="50" charset="-127"/>
                <a:cs typeface="Pretendard" panose="02000503000000020004" pitchFamily="50" charset="-127"/>
              </a:rPr>
              <a:t> 합성이 필요하며, </a:t>
            </a:r>
            <a:r>
              <a:rPr lang="ko-KR" altLang="ko-KR" sz="1350" b="1" dirty="0">
                <a:latin typeface="Pretendard" panose="02000503000000020004" pitchFamily="50" charset="-127"/>
                <a:ea typeface="Pretendard" panose="02000503000000020004" pitchFamily="50" charset="-127"/>
                <a:cs typeface="Pretendard" panose="02000503000000020004" pitchFamily="50" charset="-127"/>
              </a:rPr>
              <a:t>귀인에서 종료 </a:t>
            </a:r>
            <a:r>
              <a:rPr lang="ko-KR" altLang="ko-KR" sz="1350" dirty="0">
                <a:latin typeface="Pretendard" panose="02000503000000020004" pitchFamily="50" charset="-127"/>
                <a:ea typeface="Pretendard" panose="02000503000000020004" pitchFamily="50" charset="-127"/>
                <a:cs typeface="Pretendard" panose="02000503000000020004" pitchFamily="50" charset="-127"/>
              </a:rPr>
              <a:t>— 수리 기능 없음</a:t>
            </a:r>
          </a:p>
        </p:txBody>
      </p:sp>
      <p:sp>
        <p:nvSpPr>
          <p:cNvPr id="7" name="Text 5">
            <a:extLst>
              <a:ext uri="{FF2B5EF4-FFF2-40B4-BE49-F238E27FC236}">
                <a16:creationId xmlns:a16="http://schemas.microsoft.com/office/drawing/2014/main" id="{55273555-B82B-7DB6-E7EB-398A960375E6}"/>
              </a:ext>
            </a:extLst>
          </p:cNvPr>
          <p:cNvSpPr/>
          <p:nvPr/>
        </p:nvSpPr>
        <p:spPr>
          <a:xfrm>
            <a:off x="640080" y="3108960"/>
            <a:ext cx="10972800" cy="384048"/>
          </a:xfrm>
          <a:prstGeom prst="rect">
            <a:avLst/>
          </a:prstGeom>
          <a:noFill/>
          <a:ln/>
        </p:spPr>
        <p:txBody>
          <a:bodyPr wrap="square" rtlCol="0" anchor="ctr"/>
          <a:lstStyle/>
          <a:p>
            <a:r>
              <a:rPr lang="ko-KR" altLang="ko-KR" sz="1600" b="1" dirty="0">
                <a:latin typeface="Pretendard" panose="02000503000000020004" pitchFamily="50" charset="-127"/>
                <a:ea typeface="Pretendard" panose="02000503000000020004" pitchFamily="50" charset="-127"/>
                <a:cs typeface="Pretendard" panose="02000503000000020004" pitchFamily="50" charset="-127"/>
              </a:rPr>
              <a:t>TOOLPRO: 재실행 시 부작용 방지</a:t>
            </a:r>
            <a:endParaRPr lang="en-US" sz="16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6">
            <a:extLst>
              <a:ext uri="{FF2B5EF4-FFF2-40B4-BE49-F238E27FC236}">
                <a16:creationId xmlns:a16="http://schemas.microsoft.com/office/drawing/2014/main" id="{50DDDC4D-7EE6-99B4-D81B-091B6F533907}"/>
              </a:ext>
            </a:extLst>
          </p:cNvPr>
          <p:cNvSpPr/>
          <p:nvPr/>
        </p:nvSpPr>
        <p:spPr>
          <a:xfrm>
            <a:off x="640080" y="3493008"/>
            <a:ext cx="10972800" cy="292608"/>
          </a:xfrm>
          <a:prstGeom prst="rect">
            <a:avLst/>
          </a:prstGeom>
          <a:noFill/>
          <a:ln/>
        </p:spPr>
        <p:txBody>
          <a:bodyPr wrap="square" rtlCol="0" anchor="ctr"/>
          <a:lstStyle/>
          <a:p>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Beyond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Static</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Endpoints</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Tool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Programs</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as</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an</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Interface</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for</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Flexible</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Agentic</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Web</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Services, </a:t>
            </a:r>
            <a:r>
              <a:rPr lang="ko-KR" altLang="ko-KR" sz="1150" i="1" dirty="0" err="1">
                <a:latin typeface="Pretendard" panose="02000503000000020004" pitchFamily="50" charset="-127"/>
                <a:ea typeface="Pretendard" panose="02000503000000020004" pitchFamily="50" charset="-127"/>
                <a:cs typeface="Pretendard" panose="02000503000000020004" pitchFamily="50" charset="-127"/>
              </a:rPr>
              <a:t>arXiv</a:t>
            </a:r>
            <a:r>
              <a:rPr lang="ko-KR" altLang="ko-KR" sz="1150" i="1" dirty="0">
                <a:latin typeface="Pretendard" panose="02000503000000020004" pitchFamily="50" charset="-127"/>
                <a:ea typeface="Pretendard" panose="02000503000000020004" pitchFamily="50" charset="-127"/>
                <a:cs typeface="Pretendard" panose="02000503000000020004" pitchFamily="50" charset="-127"/>
              </a:rPr>
              <a:t> 2606.19992 (2026)</a:t>
            </a:r>
          </a:p>
        </p:txBody>
      </p:sp>
      <p:sp>
        <p:nvSpPr>
          <p:cNvPr id="9" name="Text 7">
            <a:extLst>
              <a:ext uri="{FF2B5EF4-FFF2-40B4-BE49-F238E27FC236}">
                <a16:creationId xmlns:a16="http://schemas.microsoft.com/office/drawing/2014/main" id="{B7B7A158-02C3-880A-5473-34C01E8A9DE7}"/>
              </a:ext>
            </a:extLst>
          </p:cNvPr>
          <p:cNvSpPr/>
          <p:nvPr/>
        </p:nvSpPr>
        <p:spPr>
          <a:xfrm>
            <a:off x="868680" y="3822192"/>
            <a:ext cx="10698480" cy="1097280"/>
          </a:xfrm>
          <a:prstGeom prst="rect">
            <a:avLst/>
          </a:prstGeom>
          <a:noFill/>
          <a:ln/>
        </p:spPr>
        <p:txBody>
          <a:bodyPr wrap="square" rtlCol="0" anchor="ctr"/>
          <a:lstStyle/>
          <a:p>
            <a:pPr marL="342900" indent="-342900">
              <a:lnSpc>
                <a:spcPct val="115000"/>
              </a:lnSpc>
              <a:buSzPct val="100000"/>
              <a:buFontTx/>
              <a:buChar char="•"/>
            </a:pPr>
            <a:r>
              <a:rPr lang="ko-KR" altLang="ko-KR" sz="1350" b="1" dirty="0">
                <a:latin typeface="Pretendard" panose="02000503000000020004" pitchFamily="50" charset="-127"/>
                <a:ea typeface="Pretendard" panose="02000503000000020004" pitchFamily="50" charset="-127"/>
                <a:cs typeface="Pretendard" panose="02000503000000020004" pitchFamily="50" charset="-127"/>
              </a:rPr>
              <a:t>오류 귀인 연구가 아니라, </a:t>
            </a:r>
            <a:r>
              <a:rPr lang="ko-KR" altLang="ko-KR" sz="1350" b="1" dirty="0" err="1">
                <a:latin typeface="Pretendard" panose="02000503000000020004" pitchFamily="50" charset="-127"/>
                <a:ea typeface="Pretendard" panose="02000503000000020004" pitchFamily="50" charset="-127"/>
                <a:cs typeface="Pretendard" panose="02000503000000020004" pitchFamily="50" charset="-127"/>
              </a:rPr>
              <a:t>Agentic</a:t>
            </a:r>
            <a:r>
              <a:rPr lang="ko-KR" altLang="ko-KR" sz="1350" b="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350" b="1" dirty="0" err="1">
                <a:latin typeface="Pretendard" panose="02000503000000020004" pitchFamily="50" charset="-127"/>
                <a:ea typeface="Pretendard" panose="02000503000000020004" pitchFamily="50" charset="-127"/>
                <a:cs typeface="Pretendard" panose="02000503000000020004" pitchFamily="50" charset="-127"/>
              </a:rPr>
              <a:t>Web</a:t>
            </a:r>
            <a:r>
              <a:rPr lang="ko-KR" altLang="ko-KR" sz="1350" b="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350" b="1" dirty="0" err="1">
                <a:latin typeface="Pretendard" panose="02000503000000020004" pitchFamily="50" charset="-127"/>
                <a:ea typeface="Pretendard" panose="02000503000000020004" pitchFamily="50" charset="-127"/>
                <a:cs typeface="Pretendard" panose="02000503000000020004" pitchFamily="50" charset="-127"/>
              </a:rPr>
              <a:t>Service를</a:t>
            </a:r>
            <a:r>
              <a:rPr lang="ko-KR" altLang="ko-KR" sz="1350" b="1" dirty="0">
                <a:latin typeface="Pretendard" panose="02000503000000020004" pitchFamily="50" charset="-127"/>
                <a:ea typeface="Pretendard" panose="02000503000000020004" pitchFamily="50" charset="-127"/>
                <a:cs typeface="Pretendard" panose="02000503000000020004" pitchFamily="50" charset="-127"/>
              </a:rPr>
              <a:t> 위한 Tool </a:t>
            </a:r>
            <a:r>
              <a:rPr lang="ko-KR" altLang="ko-KR" sz="1350" b="1" dirty="0" err="1">
                <a:latin typeface="Pretendard" panose="02000503000000020004" pitchFamily="50" charset="-127"/>
                <a:ea typeface="Pretendard" panose="02000503000000020004" pitchFamily="50" charset="-127"/>
                <a:cs typeface="Pretendard" panose="02000503000000020004" pitchFamily="50" charset="-127"/>
              </a:rPr>
              <a:t>Program</a:t>
            </a:r>
            <a:r>
              <a:rPr lang="ko-KR" altLang="ko-KR" sz="1350" b="1" dirty="0">
                <a:latin typeface="Pretendard" panose="02000503000000020004" pitchFamily="50" charset="-127"/>
                <a:ea typeface="Pretendard" panose="02000503000000020004" pitchFamily="50" charset="-127"/>
                <a:cs typeface="Pretendard" panose="02000503000000020004" pitchFamily="50" charset="-127"/>
              </a:rPr>
              <a:t> 인터페이스 설계 연구</a:t>
            </a:r>
          </a:p>
          <a:p>
            <a:pPr marL="342900" indent="-342900">
              <a:lnSpc>
                <a:spcPct val="115000"/>
              </a:lnSpc>
              <a:buSzPct val="100000"/>
              <a:buFontTx/>
              <a:buChar char="•"/>
            </a:pPr>
            <a:r>
              <a:rPr lang="ko-KR" altLang="ko-KR" sz="1350" dirty="0">
                <a:latin typeface="Pretendard" panose="02000503000000020004" pitchFamily="50" charset="-127"/>
                <a:ea typeface="Pretendard" panose="02000503000000020004" pitchFamily="50" charset="-127"/>
                <a:cs typeface="Pretendard" panose="02000503000000020004" pitchFamily="50" charset="-127"/>
              </a:rPr>
              <a:t>그중 재실행 시 부작용 중복을 막는 </a:t>
            </a:r>
            <a:r>
              <a:rPr lang="ko-KR" altLang="ko-KR" sz="1350" dirty="0" err="1">
                <a:latin typeface="Pretendard" panose="02000503000000020004" pitchFamily="50" charset="-127"/>
                <a:ea typeface="Pretendard" panose="02000503000000020004" pitchFamily="50" charset="-127"/>
                <a:cs typeface="Pretendard" panose="02000503000000020004" pitchFamily="50" charset="-127"/>
              </a:rPr>
              <a:t>Effect-Aware</a:t>
            </a:r>
            <a:r>
              <a:rPr lang="ko-KR" altLang="ko-KR" sz="1350"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350" dirty="0" err="1">
                <a:latin typeface="Pretendard" panose="02000503000000020004" pitchFamily="50" charset="-127"/>
                <a:ea typeface="Pretendard" panose="02000503000000020004" pitchFamily="50" charset="-127"/>
                <a:cs typeface="Pretendard" panose="02000503000000020004" pitchFamily="50" charset="-127"/>
              </a:rPr>
              <a:t>Replay</a:t>
            </a:r>
            <a:r>
              <a:rPr lang="ko-KR" altLang="ko-KR" sz="1350" dirty="0">
                <a:latin typeface="Pretendard" panose="02000503000000020004" pitchFamily="50" charset="-127"/>
                <a:ea typeface="Pretendard" panose="02000503000000020004" pitchFamily="50" charset="-127"/>
                <a:cs typeface="Pretendard" panose="02000503000000020004" pitchFamily="50" charset="-127"/>
              </a:rPr>
              <a:t>(읽기는 재실행, 쓰기는 완료된 결과 재사용) 기법이 본 발명과 겹침</a:t>
            </a:r>
            <a:endParaRPr lang="en-US" sz="1350" dirty="0">
              <a:latin typeface="Pretendard" panose="02000503000000020004" pitchFamily="50" charset="-127"/>
              <a:ea typeface="Pretendard" panose="02000503000000020004" pitchFamily="50" charset="-127"/>
              <a:cs typeface="Pretendard" panose="02000503000000020004" pitchFamily="50" charset="-127"/>
            </a:endParaRPr>
          </a:p>
          <a:p>
            <a:pPr marL="342900" indent="-342900">
              <a:lnSpc>
                <a:spcPct val="115000"/>
              </a:lnSpc>
              <a:buSzPct val="100000"/>
              <a:buFontTx/>
              <a:buChar char="•"/>
            </a:pPr>
            <a:r>
              <a:rPr lang="ko-KR" altLang="ko-KR" sz="1350" b="1" dirty="0">
                <a:latin typeface="Pretendard" panose="02000503000000020004" pitchFamily="50" charset="-127"/>
                <a:ea typeface="Pretendard" panose="02000503000000020004" pitchFamily="50" charset="-127"/>
                <a:cs typeface="Pretendard" panose="02000503000000020004" pitchFamily="50" charset="-127"/>
              </a:rPr>
              <a:t>구조화된 Tool </a:t>
            </a:r>
            <a:r>
              <a:rPr lang="ko-KR" altLang="ko-KR" sz="1350" b="1" dirty="0" err="1">
                <a:latin typeface="Pretendard" panose="02000503000000020004" pitchFamily="50" charset="-127"/>
                <a:ea typeface="Pretendard" panose="02000503000000020004" pitchFamily="50" charset="-127"/>
                <a:cs typeface="Pretendard" panose="02000503000000020004" pitchFamily="50" charset="-127"/>
              </a:rPr>
              <a:t>Program</a:t>
            </a:r>
            <a:r>
              <a:rPr lang="ko-KR" altLang="ko-KR" sz="1350" dirty="0">
                <a:latin typeface="Pretendard" panose="02000503000000020004" pitchFamily="50" charset="-127"/>
                <a:ea typeface="Pretendard" panose="02000503000000020004" pitchFamily="50" charset="-127"/>
                <a:cs typeface="Pretendard" panose="02000503000000020004" pitchFamily="50" charset="-127"/>
              </a:rPr>
              <a:t>(API 타입이 코드에 명시)에서만 동작, 비구조화 자연어 로그에는 적용 불가</a:t>
            </a:r>
          </a:p>
        </p:txBody>
      </p:sp>
      <p:sp>
        <p:nvSpPr>
          <p:cNvPr id="10" name="Text 8">
            <a:extLst>
              <a:ext uri="{FF2B5EF4-FFF2-40B4-BE49-F238E27FC236}">
                <a16:creationId xmlns:a16="http://schemas.microsoft.com/office/drawing/2014/main" id="{B0C8A3CD-A52A-071B-3765-947C3912571E}"/>
              </a:ext>
            </a:extLst>
          </p:cNvPr>
          <p:cNvSpPr/>
          <p:nvPr/>
        </p:nvSpPr>
        <p:spPr>
          <a:xfrm>
            <a:off x="640080" y="5492934"/>
            <a:ext cx="11456126" cy="502920"/>
          </a:xfrm>
          <a:prstGeom prst="rect">
            <a:avLst/>
          </a:prstGeom>
          <a:noFill/>
          <a:ln/>
        </p:spPr>
        <p:txBody>
          <a:bodyPr wrap="square" rtlCol="0" anchor="ctr"/>
          <a:lstStyle/>
          <a:p>
            <a:r>
              <a:rPr lang="en-US" sz="1450" b="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450" b="1" dirty="0">
                <a:latin typeface="Pretendard" panose="02000503000000020004" pitchFamily="50" charset="-127"/>
                <a:ea typeface="Pretendard" panose="02000503000000020004" pitchFamily="50" charset="-127"/>
                <a:cs typeface="Pretendard" panose="02000503000000020004" pitchFamily="50" charset="-127"/>
              </a:rPr>
              <a:t>귀인의 정교화(CHIEF)와 재실행 안전성(TOOLPRO) 모두 연구</a:t>
            </a:r>
            <a:r>
              <a:rPr lang="ko-KR" altLang="en-US" sz="1450" b="1" dirty="0">
                <a:latin typeface="Pretendard" panose="02000503000000020004" pitchFamily="50" charset="-127"/>
                <a:ea typeface="Pretendard" panose="02000503000000020004" pitchFamily="50" charset="-127"/>
                <a:cs typeface="Pretendard" panose="02000503000000020004" pitchFamily="50" charset="-127"/>
              </a:rPr>
              <a:t>되었으</a:t>
            </a:r>
            <a:r>
              <a:rPr lang="ko-KR" altLang="ko-KR" sz="1450" b="1" dirty="0">
                <a:latin typeface="Pretendard" panose="02000503000000020004" pitchFamily="50" charset="-127"/>
                <a:ea typeface="Pretendard" panose="02000503000000020004" pitchFamily="50" charset="-127"/>
                <a:cs typeface="Pretendard" panose="02000503000000020004" pitchFamily="50" charset="-127"/>
              </a:rPr>
              <a:t>나, 로그만으로 귀인부터 수리까지 전체를 수행하는 통합 시스템은 부재</a:t>
            </a:r>
            <a:endParaRPr lang="en-US" sz="145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TextBox 10">
            <a:extLst>
              <a:ext uri="{FF2B5EF4-FFF2-40B4-BE49-F238E27FC236}">
                <a16:creationId xmlns:a16="http://schemas.microsoft.com/office/drawing/2014/main" id="{C8FC3CA7-2EDA-4343-9037-D77CD06843A4}"/>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6</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extLst>
      <p:ext uri="{BB962C8B-B14F-4D97-AF65-F5344CB8AC3E}">
        <p14:creationId xmlns:p14="http://schemas.microsoft.com/office/powerpoint/2010/main" val="1010801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0789920" cy="548640"/>
          </a:xfrm>
          <a:prstGeom prst="rect">
            <a:avLst/>
          </a:prstGeom>
          <a:noFill/>
          <a:ln/>
        </p:spPr>
        <p:txBody>
          <a:bodyPr wrap="square" rtlCol="0" anchor="ctr"/>
          <a:lstStyle/>
          <a:p>
            <a:pPr marL="0" indent="0">
              <a:buNone/>
            </a:pPr>
            <a:r>
              <a:rPr lang="en-US" sz="2500" b="1" dirty="0">
                <a:latin typeface="Pretendard" panose="02000503000000020004" pitchFamily="50" charset="-127"/>
                <a:ea typeface="Pretendard" panose="02000503000000020004" pitchFamily="50" charset="-127"/>
                <a:cs typeface="Pretendard" panose="02000503000000020004" pitchFamily="50" charset="-127"/>
              </a:rPr>
              <a:t>선행기술의 한계</a:t>
            </a:r>
            <a:endParaRPr lang="en-US" sz="2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 name="Text 2"/>
          <p:cNvSpPr/>
          <p:nvPr/>
        </p:nvSpPr>
        <p:spPr>
          <a:xfrm>
            <a:off x="640080" y="1234440"/>
            <a:ext cx="5349240" cy="2148840"/>
          </a:xfrm>
          <a:prstGeom prst="roundRect">
            <a:avLst>
              <a:gd name="adj" fmla="val 2128"/>
            </a:avLst>
          </a:prstGeom>
          <a:solidFill>
            <a:srgbClr val="FFFFFF"/>
          </a:solidFill>
          <a:ln w="15875">
            <a:solidFill>
              <a:srgbClr val="C0392B"/>
            </a:solidFill>
          </a:ln>
        </p:spPr>
        <p:txBody>
          <a:bodyPr wrap="square" lIns="54864" tIns="54864" rIns="54864" bIns="54864" rtlCol="0" anchor="ctr"/>
          <a:lstStyle/>
          <a:p>
            <a:pPr marL="0" indent="0" algn="ctr">
              <a:buNone/>
            </a:pP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 name="Text 3"/>
          <p:cNvSpPr/>
          <p:nvPr/>
        </p:nvSpPr>
        <p:spPr>
          <a:xfrm>
            <a:off x="822960" y="1371600"/>
            <a:ext cx="4983480" cy="411480"/>
          </a:xfrm>
          <a:prstGeom prst="rect">
            <a:avLst/>
          </a:prstGeom>
          <a:noFill/>
          <a:ln/>
        </p:spPr>
        <p:txBody>
          <a:bodyPr wrap="square" rtlCol="0" anchor="ctr"/>
          <a:lstStyle/>
          <a:p>
            <a:pPr marL="0" indent="0">
              <a:buNone/>
            </a:pP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①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기존 </a:t>
            </a:r>
            <a:r>
              <a:rPr lang="en-US" altLang="ko-KR" sz="1400" b="1" dirty="0" err="1">
                <a:latin typeface="Pretendard" panose="02000503000000020004" pitchFamily="50" charset="-127"/>
                <a:ea typeface="Pretendard" panose="02000503000000020004" pitchFamily="50" charset="-127"/>
                <a:cs typeface="Pretendard" panose="02000503000000020004" pitchFamily="50" charset="-127"/>
              </a:rPr>
              <a:t>수리</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400" b="1" dirty="0" err="1">
                <a:latin typeface="Pretendard" panose="02000503000000020004" pitchFamily="50" charset="-127"/>
                <a:ea typeface="Pretendard" panose="02000503000000020004" pitchFamily="50" charset="-127"/>
                <a:cs typeface="Pretendard" panose="02000503000000020004" pitchFamily="50" charset="-127"/>
              </a:rPr>
              <a:t>전용</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400" b="1" dirty="0" err="1">
                <a:latin typeface="Pretendard" panose="02000503000000020004" pitchFamily="50" charset="-127"/>
                <a:ea typeface="Pretendard" panose="02000503000000020004" pitchFamily="50" charset="-127"/>
                <a:cs typeface="Pretendard" panose="02000503000000020004" pitchFamily="50" charset="-127"/>
              </a:rPr>
              <a:t>조직의</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한계</a:t>
            </a:r>
            <a:endParaRPr lang="en-US" altLang="ko-KR"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4"/>
          <p:cNvSpPr/>
          <p:nvPr/>
        </p:nvSpPr>
        <p:spPr>
          <a:xfrm>
            <a:off x="822960" y="1801368"/>
            <a:ext cx="4983480" cy="1508760"/>
          </a:xfrm>
          <a:prstGeom prst="rect">
            <a:avLst/>
          </a:prstGeom>
          <a:noFill/>
          <a:ln/>
        </p:spPr>
        <p:txBody>
          <a:bodyPr wrap="square" rtlCol="0" anchor="ctr"/>
          <a:lstStyle/>
          <a:p>
            <a:pPr marL="0" indent="0">
              <a:lnSpc>
                <a:spcPct val="112000"/>
              </a:lnSpc>
              <a:buNone/>
            </a:pP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DoVer는</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단일</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개입만</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수행</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a:p>
            <a:pPr marL="0" indent="0">
              <a:lnSpc>
                <a:spcPct val="112000"/>
              </a:lnSpc>
              <a:buNone/>
            </a:pP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판정</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불능</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(inconclusive)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사례가</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29~67%에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달함</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a:p>
            <a:pPr marL="0" indent="0">
              <a:lnSpc>
                <a:spcPct val="112000"/>
              </a:lnSpc>
              <a:buNone/>
            </a:pP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DoVer</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는 원 실행 시스템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체크포인트가 있어야 함</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블랙박스 및 비동기 환경 적용 불가함</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5"/>
          <p:cNvSpPr/>
          <p:nvPr/>
        </p:nvSpPr>
        <p:spPr>
          <a:xfrm>
            <a:off x="6263640" y="1234440"/>
            <a:ext cx="5349240" cy="2148840"/>
          </a:xfrm>
          <a:prstGeom prst="roundRect">
            <a:avLst>
              <a:gd name="adj" fmla="val 2128"/>
            </a:avLst>
          </a:prstGeom>
          <a:solidFill>
            <a:srgbClr val="FFFFFF"/>
          </a:solidFill>
          <a:ln w="15875">
            <a:solidFill>
              <a:srgbClr val="C0392B"/>
            </a:solidFill>
          </a:ln>
        </p:spPr>
        <p:txBody>
          <a:bodyPr wrap="square" lIns="54864" tIns="54864" rIns="54864" bIns="54864" rtlCol="0" anchor="ctr"/>
          <a:lstStyle/>
          <a:p>
            <a:pPr marL="0" indent="0" algn="ctr">
              <a:buNone/>
            </a:pP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6"/>
          <p:cNvSpPr/>
          <p:nvPr/>
        </p:nvSpPr>
        <p:spPr>
          <a:xfrm>
            <a:off x="6446520" y="1371600"/>
            <a:ext cx="4983480" cy="411480"/>
          </a:xfrm>
          <a:prstGeom prst="rect">
            <a:avLst/>
          </a:prstGeom>
          <a:noFill/>
          <a:ln/>
        </p:spPr>
        <p:txBody>
          <a:bodyPr wrap="square" rtlCol="0" anchor="ctr"/>
          <a:lstStyle/>
          <a:p>
            <a:pPr marL="0" indent="0">
              <a:buNone/>
            </a:pP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② 근본 원인 추적의 부재</a:t>
            </a:r>
            <a:endParaRPr lang="en-US" altLang="ko-KR"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7"/>
          <p:cNvSpPr/>
          <p:nvPr/>
        </p:nvSpPr>
        <p:spPr>
          <a:xfrm>
            <a:off x="6446520" y="1801368"/>
            <a:ext cx="4983480" cy="1508760"/>
          </a:xfrm>
          <a:prstGeom prst="rect">
            <a:avLst/>
          </a:prstGeom>
          <a:noFill/>
          <a:ln/>
        </p:spPr>
        <p:txBody>
          <a:bodyPr wrap="square" rtlCol="0" anchor="ctr"/>
          <a:lstStyle/>
          <a:p>
            <a:pPr marL="0" indent="0">
              <a:lnSpc>
                <a:spcPct val="112000"/>
              </a:lnSpc>
              <a:buNone/>
            </a:pP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단일</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지점</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(step)에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편집</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1회를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가하는</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방식</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a:p>
            <a:pPr marL="0" indent="0">
              <a:lnSpc>
                <a:spcPct val="112000"/>
              </a:lnSpc>
              <a:buNone/>
            </a:pP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지목 지점이 발생점인지 상속점인지 구분하지 않아, 전파된 증상만 교정하고 근본 원인은 방치될 수 있음</a:t>
            </a:r>
          </a:p>
        </p:txBody>
      </p:sp>
      <p:sp>
        <p:nvSpPr>
          <p:cNvPr id="10" name="Text 8"/>
          <p:cNvSpPr/>
          <p:nvPr/>
        </p:nvSpPr>
        <p:spPr>
          <a:xfrm>
            <a:off x="640080" y="3657600"/>
            <a:ext cx="5349240" cy="2148840"/>
          </a:xfrm>
          <a:prstGeom prst="roundRect">
            <a:avLst>
              <a:gd name="adj" fmla="val 2128"/>
            </a:avLst>
          </a:prstGeom>
          <a:solidFill>
            <a:srgbClr val="FFFFFF"/>
          </a:solidFill>
          <a:ln w="15875">
            <a:solidFill>
              <a:srgbClr val="C0392B"/>
            </a:solidFill>
          </a:ln>
        </p:spPr>
        <p:txBody>
          <a:bodyPr wrap="square" lIns="54864" tIns="54864" rIns="54864" bIns="54864" rtlCol="0" anchor="ctr"/>
          <a:lstStyle/>
          <a:p>
            <a:pPr marL="0" indent="0" algn="ctr">
              <a:buNone/>
            </a:pP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Text 9"/>
          <p:cNvSpPr/>
          <p:nvPr/>
        </p:nvSpPr>
        <p:spPr>
          <a:xfrm>
            <a:off x="822960" y="3794760"/>
            <a:ext cx="4983480" cy="411480"/>
          </a:xfrm>
          <a:prstGeom prst="rect">
            <a:avLst/>
          </a:prstGeom>
          <a:noFill/>
          <a:ln/>
        </p:spPr>
        <p:txBody>
          <a:bodyPr wrap="square" rtlCol="0" anchor="ctr"/>
          <a:lstStyle/>
          <a:p>
            <a:pPr marL="0" indent="0">
              <a:buNone/>
            </a:pPr>
            <a:r>
              <a:rPr lang="en-US" sz="1500" b="1" dirty="0">
                <a:latin typeface="Pretendard" panose="02000503000000020004" pitchFamily="50" charset="-127"/>
                <a:ea typeface="Pretendard" panose="02000503000000020004" pitchFamily="50" charset="-127"/>
                <a:cs typeface="Pretendard" panose="02000503000000020004" pitchFamily="50" charset="-127"/>
              </a:rPr>
              <a:t>③ 재실행 부작용(side-effect) 미고려</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 name="Text 10"/>
          <p:cNvSpPr/>
          <p:nvPr/>
        </p:nvSpPr>
        <p:spPr>
          <a:xfrm>
            <a:off x="822960" y="4224528"/>
            <a:ext cx="4983480" cy="1508760"/>
          </a:xfrm>
          <a:prstGeom prst="rect">
            <a:avLst/>
          </a:prstGeom>
          <a:noFill/>
          <a:ln/>
        </p:spPr>
        <p:txBody>
          <a:bodyPr wrap="square" rtlCol="0" anchor="ctr"/>
          <a:lstStyle/>
          <a:p>
            <a:pPr marL="0" indent="0">
              <a:lnSpc>
                <a:spcPct val="112000"/>
              </a:lnSpc>
              <a:buNone/>
            </a:pPr>
            <a:r>
              <a:rPr lang="en-US" sz="1180" dirty="0">
                <a:latin typeface="Pretendard" panose="02000503000000020004" pitchFamily="50" charset="-127"/>
                <a:ea typeface="Pretendard" panose="02000503000000020004" pitchFamily="50" charset="-127"/>
                <a:cs typeface="Pretendard" panose="02000503000000020004" pitchFamily="50" charset="-127"/>
              </a:rPr>
              <a:t>재실행 시 도구 호출 이중 실행(이메일 재발송 등) 문제는</a:t>
            </a:r>
          </a:p>
          <a:p>
            <a:pPr marL="0" indent="0">
              <a:lnSpc>
                <a:spcPct val="112000"/>
              </a:lnSpc>
              <a:buNone/>
            </a:pPr>
            <a:r>
              <a:rPr lang="en-US" sz="1180" dirty="0">
                <a:latin typeface="Pretendard" panose="02000503000000020004" pitchFamily="50" charset="-127"/>
                <a:ea typeface="Pretendard" panose="02000503000000020004" pitchFamily="50" charset="-127"/>
                <a:cs typeface="Pretendard" panose="02000503000000020004" pitchFamily="50" charset="-127"/>
              </a:rPr>
              <a:t>LangGraph·CrewAI·Google ADK 등 주요 프레임워크의</a:t>
            </a:r>
          </a:p>
          <a:p>
            <a:pPr marL="0" indent="0">
              <a:lnSpc>
                <a:spcPct val="112000"/>
              </a:lnSpc>
              <a:buNone/>
            </a:pPr>
            <a:r>
              <a:rPr lang="en-US" sz="1180" dirty="0">
                <a:latin typeface="Pretendard" panose="02000503000000020004" pitchFamily="50" charset="-127"/>
                <a:ea typeface="Pretendard" panose="02000503000000020004" pitchFamily="50" charset="-127"/>
                <a:cs typeface="Pretendard" panose="02000503000000020004" pitchFamily="50" charset="-127"/>
              </a:rPr>
              <a:t>공통 미해결 문제로 보고됨</a:t>
            </a:r>
          </a:p>
        </p:txBody>
      </p:sp>
      <p:sp>
        <p:nvSpPr>
          <p:cNvPr id="16" name="Text 14"/>
          <p:cNvSpPr/>
          <p:nvPr/>
        </p:nvSpPr>
        <p:spPr>
          <a:xfrm>
            <a:off x="640080" y="6172200"/>
            <a:ext cx="10972800" cy="411480"/>
          </a:xfrm>
          <a:prstGeom prst="rect">
            <a:avLst/>
          </a:prstGeom>
          <a:noFill/>
          <a:ln/>
        </p:spPr>
        <p:txBody>
          <a:bodyPr wrap="square" rtlCol="0" anchor="ctr"/>
          <a:lstStyle/>
          <a:p>
            <a:pPr marL="0" indent="0" algn="ctr">
              <a:buNone/>
            </a:pPr>
            <a:r>
              <a:rPr lang="en-US" sz="1400" b="1"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블랙박스</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및 다양한 시스템에서 </a:t>
            </a:r>
            <a:r>
              <a:rPr lang="en-US" sz="1400" b="1" dirty="0" err="1">
                <a:latin typeface="Pretendard" panose="02000503000000020004" pitchFamily="50" charset="-127"/>
                <a:ea typeface="Pretendard" panose="02000503000000020004" pitchFamily="50" charset="-127"/>
                <a:cs typeface="Pretendard" panose="02000503000000020004" pitchFamily="50" charset="-127"/>
              </a:rPr>
              <a:t>실패한</a:t>
            </a:r>
            <a:r>
              <a:rPr lang="en-US" sz="1400" b="1" dirty="0">
                <a:latin typeface="Pretendard" panose="02000503000000020004" pitchFamily="50" charset="-127"/>
                <a:ea typeface="Pretendard" panose="02000503000000020004" pitchFamily="50" charset="-127"/>
                <a:cs typeface="Pretendard" panose="02000503000000020004" pitchFamily="50" charset="-127"/>
              </a:rPr>
              <a:t> 궤적 </a:t>
            </a:r>
            <a:r>
              <a:rPr lang="en-US" sz="1400" b="1" dirty="0" err="1">
                <a:latin typeface="Pretendard" panose="02000503000000020004" pitchFamily="50" charset="-127"/>
                <a:ea typeface="Pretendard" panose="02000503000000020004" pitchFamily="50" charset="-127"/>
                <a:cs typeface="Pretendard" panose="02000503000000020004" pitchFamily="50" charset="-127"/>
              </a:rPr>
              <a:t>자체로부터</a:t>
            </a:r>
            <a:r>
              <a:rPr lang="en-US" sz="1400" b="1" dirty="0">
                <a:latin typeface="Pretendard" panose="02000503000000020004" pitchFamily="50" charset="-127"/>
                <a:ea typeface="Pretendard" panose="02000503000000020004" pitchFamily="50" charset="-127"/>
                <a:cs typeface="Pretendard" panose="02000503000000020004" pitchFamily="50" charset="-127"/>
              </a:rPr>
              <a:t> </a:t>
            </a:r>
            <a:r>
              <a:rPr lang="en-US" sz="1400" b="1" dirty="0" err="1">
                <a:latin typeface="Pretendard" panose="02000503000000020004" pitchFamily="50" charset="-127"/>
                <a:ea typeface="Pretendard" panose="02000503000000020004" pitchFamily="50" charset="-127"/>
                <a:cs typeface="Pretendard" panose="02000503000000020004" pitchFamily="50" charset="-127"/>
              </a:rPr>
              <a:t>수리</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할 수 있는 구조 필요</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0" name="Text 2">
            <a:extLst>
              <a:ext uri="{FF2B5EF4-FFF2-40B4-BE49-F238E27FC236}">
                <a16:creationId xmlns:a16="http://schemas.microsoft.com/office/drawing/2014/main" id="{3057E8FB-DA55-B57C-C9E6-B0EE0DFBC1C3}"/>
              </a:ext>
            </a:extLst>
          </p:cNvPr>
          <p:cNvSpPr/>
          <p:nvPr/>
        </p:nvSpPr>
        <p:spPr>
          <a:xfrm>
            <a:off x="6263640" y="3658471"/>
            <a:ext cx="5349240" cy="2148840"/>
          </a:xfrm>
          <a:prstGeom prst="roundRect">
            <a:avLst>
              <a:gd name="adj" fmla="val 2128"/>
            </a:avLst>
          </a:prstGeom>
          <a:solidFill>
            <a:srgbClr val="FFFFFF"/>
          </a:solidFill>
          <a:ln w="15875">
            <a:solidFill>
              <a:srgbClr val="C0392B"/>
            </a:solidFill>
          </a:ln>
        </p:spPr>
        <p:txBody>
          <a:bodyPr wrap="square" lIns="54864" tIns="54864" rIns="54864" bIns="54864" rtlCol="0" anchor="ctr"/>
          <a:lstStyle/>
          <a:p>
            <a:pPr marL="0" indent="0" algn="ctr">
              <a:buNone/>
            </a:pP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2" name="Text 3">
            <a:extLst>
              <a:ext uri="{FF2B5EF4-FFF2-40B4-BE49-F238E27FC236}">
                <a16:creationId xmlns:a16="http://schemas.microsoft.com/office/drawing/2014/main" id="{490314FF-EE4F-5D05-2F25-2E06CFB35569}"/>
              </a:ext>
            </a:extLst>
          </p:cNvPr>
          <p:cNvSpPr/>
          <p:nvPr/>
        </p:nvSpPr>
        <p:spPr>
          <a:xfrm>
            <a:off x="6446520" y="3795631"/>
            <a:ext cx="4983480" cy="411480"/>
          </a:xfrm>
          <a:prstGeom prst="rect">
            <a:avLst/>
          </a:prstGeom>
          <a:noFill/>
          <a:ln/>
        </p:spPr>
        <p:txBody>
          <a:bodyPr wrap="square" rtlCol="0" anchor="ctr"/>
          <a:lstStyle/>
          <a:p>
            <a:r>
              <a:rPr lang="ko-KR" altLang="ko-KR" sz="1400" b="1" dirty="0">
                <a:latin typeface="Pretendard" panose="02000503000000020004" pitchFamily="50" charset="-127"/>
                <a:ea typeface="Pretendard" panose="02000503000000020004" pitchFamily="50" charset="-127"/>
                <a:cs typeface="Pretendard" panose="02000503000000020004" pitchFamily="50" charset="-127"/>
              </a:rPr>
              <a:t>④</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400" b="1" dirty="0">
                <a:latin typeface="Pretendard" panose="02000503000000020004" pitchFamily="50" charset="-127"/>
                <a:ea typeface="Pretendard" panose="02000503000000020004" pitchFamily="50" charset="-127"/>
                <a:cs typeface="Pretendard" panose="02000503000000020004" pitchFamily="50" charset="-127"/>
              </a:rPr>
              <a:t>요소 기술의 단편적 접근</a:t>
            </a:r>
            <a:endParaRPr lang="en-US" altLang="ko-KR" sz="14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6" name="Text 10">
            <a:extLst>
              <a:ext uri="{FF2B5EF4-FFF2-40B4-BE49-F238E27FC236}">
                <a16:creationId xmlns:a16="http://schemas.microsoft.com/office/drawing/2014/main" id="{908C9AE4-34BC-1AB6-A01B-C5039C3FB3AE}"/>
              </a:ext>
            </a:extLst>
          </p:cNvPr>
          <p:cNvSpPr/>
          <p:nvPr/>
        </p:nvSpPr>
        <p:spPr>
          <a:xfrm>
            <a:off x="6446520" y="4228882"/>
            <a:ext cx="4983480" cy="1508760"/>
          </a:xfrm>
          <a:prstGeom prst="rect">
            <a:avLst/>
          </a:prstGeom>
          <a:noFill/>
          <a:ln/>
        </p:spPr>
        <p:txBody>
          <a:bodyPr wrap="square" rtlCol="0" anchor="ctr"/>
          <a:lstStyle/>
          <a:p>
            <a:pPr>
              <a:lnSpc>
                <a:spcPct val="112000"/>
              </a:lnSpc>
            </a:pPr>
            <a:r>
              <a:rPr lang="ko-KR" altLang="ko-KR" sz="1180" dirty="0" err="1">
                <a:latin typeface="Pretendard" panose="02000503000000020004" pitchFamily="50" charset="-127"/>
                <a:ea typeface="Pretendard" panose="02000503000000020004" pitchFamily="50" charset="-127"/>
                <a:cs typeface="Pretendard" panose="02000503000000020004" pitchFamily="50" charset="-127"/>
              </a:rPr>
              <a:t>CHIEF는</a:t>
            </a:r>
            <a:r>
              <a:rPr lang="ko-KR" altLang="ko-KR" sz="1180" dirty="0">
                <a:latin typeface="Pretendard" panose="02000503000000020004" pitchFamily="50" charset="-127"/>
                <a:ea typeface="Pretendard" panose="02000503000000020004" pitchFamily="50" charset="-127"/>
                <a:cs typeface="Pretendard" panose="02000503000000020004" pitchFamily="50" charset="-127"/>
              </a:rPr>
              <a:t> 귀인 정교화, </a:t>
            </a:r>
            <a:r>
              <a:rPr lang="ko-KR" altLang="ko-KR" sz="1180" dirty="0" err="1">
                <a:latin typeface="Pretendard" panose="02000503000000020004" pitchFamily="50" charset="-127"/>
                <a:ea typeface="Pretendard" panose="02000503000000020004" pitchFamily="50" charset="-127"/>
                <a:cs typeface="Pretendard" panose="02000503000000020004" pitchFamily="50" charset="-127"/>
              </a:rPr>
              <a:t>TOOLPRO는</a:t>
            </a:r>
            <a:r>
              <a:rPr lang="ko-KR" altLang="ko-KR" sz="1180" dirty="0">
                <a:latin typeface="Pretendard" panose="02000503000000020004" pitchFamily="50" charset="-127"/>
                <a:ea typeface="Pretendard" panose="02000503000000020004" pitchFamily="50" charset="-127"/>
                <a:cs typeface="Pretendard" panose="02000503000000020004" pitchFamily="50" charset="-127"/>
              </a:rPr>
              <a:t> 재실행 부작용 방지에</a:t>
            </a:r>
            <a:br>
              <a:rPr lang="ko-KR" altLang="ko-KR" sz="1180" dirty="0">
                <a:latin typeface="Pretendard" panose="02000503000000020004" pitchFamily="50" charset="-127"/>
                <a:ea typeface="Pretendard" panose="02000503000000020004" pitchFamily="50" charset="-127"/>
                <a:cs typeface="Pretendard" panose="02000503000000020004" pitchFamily="50" charset="-127"/>
              </a:rPr>
            </a:br>
            <a:r>
              <a:rPr lang="ko-KR" altLang="ko-KR" sz="1180" dirty="0">
                <a:latin typeface="Pretendard" panose="02000503000000020004" pitchFamily="50" charset="-127"/>
                <a:ea typeface="Pretendard" panose="02000503000000020004" pitchFamily="50" charset="-127"/>
                <a:cs typeface="Pretendard" panose="02000503000000020004" pitchFamily="50" charset="-127"/>
              </a:rPr>
              <a:t>각각 초점 — 통합된 </a:t>
            </a:r>
            <a:r>
              <a:rPr lang="ko-KR" altLang="ko-KR" sz="1180" dirty="0" err="1">
                <a:latin typeface="Pretendard" panose="02000503000000020004" pitchFamily="50" charset="-127"/>
                <a:ea typeface="Pretendard" panose="02000503000000020004" pitchFamily="50" charset="-127"/>
                <a:cs typeface="Pretendard" panose="02000503000000020004" pitchFamily="50" charset="-127"/>
              </a:rPr>
              <a:t>귀인·수리</a:t>
            </a:r>
            <a:r>
              <a:rPr lang="ko-KR" altLang="ko-KR" sz="1180" dirty="0">
                <a:latin typeface="Pretendard" panose="02000503000000020004" pitchFamily="50" charset="-127"/>
                <a:ea typeface="Pretendard" panose="02000503000000020004" pitchFamily="50" charset="-127"/>
                <a:cs typeface="Pretendard" panose="02000503000000020004" pitchFamily="50" charset="-127"/>
              </a:rPr>
              <a:t> 시스템은 아님</a:t>
            </a:r>
            <a:br>
              <a:rPr lang="ko-KR" altLang="ko-KR" sz="1180" dirty="0">
                <a:latin typeface="Pretendard" panose="02000503000000020004" pitchFamily="50" charset="-127"/>
                <a:ea typeface="Pretendard" panose="02000503000000020004" pitchFamily="50" charset="-127"/>
                <a:cs typeface="Pretendard" panose="02000503000000020004" pitchFamily="50" charset="-127"/>
              </a:rPr>
            </a:br>
            <a:r>
              <a:rPr lang="ko-KR" altLang="ko-KR" sz="1180" dirty="0">
                <a:latin typeface="Pretendard" panose="02000503000000020004" pitchFamily="50" charset="-127"/>
                <a:ea typeface="Pretendard" panose="02000503000000020004" pitchFamily="50" charset="-127"/>
                <a:cs typeface="Pretendard" panose="02000503000000020004" pitchFamily="50" charset="-127"/>
              </a:rPr>
              <a:t>→ 로그만으로 귀인부터 수리까지 수행하는 구조 필요</a:t>
            </a:r>
            <a:endParaRPr lang="en-US" sz="118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7" name="TextBox 16">
            <a:extLst>
              <a:ext uri="{FF2B5EF4-FFF2-40B4-BE49-F238E27FC236}">
                <a16:creationId xmlns:a16="http://schemas.microsoft.com/office/drawing/2014/main" id="{70FF3C3E-0007-4899-9743-B8FB37FB6FB4}"/>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7</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0789920" cy="548640"/>
          </a:xfrm>
          <a:prstGeom prst="rect">
            <a:avLst/>
          </a:prstGeom>
          <a:noFill/>
          <a:ln/>
        </p:spPr>
        <p:txBody>
          <a:bodyPr wrap="square" rtlCol="0" anchor="ctr"/>
          <a:lstStyle/>
          <a:p>
            <a:pPr marL="0" indent="0">
              <a:buNone/>
            </a:pPr>
            <a:r>
              <a:rPr lang="en-US" sz="2500" b="1" dirty="0">
                <a:latin typeface="Pretendard" panose="02000503000000020004" pitchFamily="50" charset="-127"/>
                <a:ea typeface="Pretendard" panose="02000503000000020004" pitchFamily="50" charset="-127"/>
                <a:cs typeface="Pretendard" panose="02000503000000020004" pitchFamily="50" charset="-127"/>
              </a:rPr>
              <a:t>선행기술의 한계</a:t>
            </a:r>
            <a:endParaRPr lang="en-US" sz="2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 name="Text 2"/>
          <p:cNvSpPr/>
          <p:nvPr/>
        </p:nvSpPr>
        <p:spPr>
          <a:xfrm>
            <a:off x="640080" y="1234440"/>
            <a:ext cx="5349240" cy="2148840"/>
          </a:xfrm>
          <a:prstGeom prst="roundRect">
            <a:avLst>
              <a:gd name="adj" fmla="val 2128"/>
            </a:avLst>
          </a:prstGeom>
          <a:solidFill>
            <a:srgbClr val="FFFFFF"/>
          </a:solidFill>
          <a:ln w="15875">
            <a:solidFill>
              <a:srgbClr val="C0392B"/>
            </a:solidFill>
          </a:ln>
        </p:spPr>
        <p:txBody>
          <a:bodyPr wrap="square" lIns="54864" tIns="54864" rIns="54864" bIns="54864" rtlCol="0" anchor="ctr"/>
          <a:lstStyle/>
          <a:p>
            <a:pPr marL="0" indent="0" algn="ctr">
              <a:buNone/>
            </a:pP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 name="Text 3"/>
          <p:cNvSpPr/>
          <p:nvPr/>
        </p:nvSpPr>
        <p:spPr>
          <a:xfrm>
            <a:off x="822960" y="1371600"/>
            <a:ext cx="4983480" cy="411480"/>
          </a:xfrm>
          <a:prstGeom prst="rect">
            <a:avLst/>
          </a:prstGeom>
          <a:noFill/>
          <a:ln/>
        </p:spPr>
        <p:txBody>
          <a:bodyPr wrap="square" rtlCol="0" anchor="ctr"/>
          <a:lstStyle/>
          <a:p>
            <a:pPr marL="0" indent="0">
              <a:buNone/>
            </a:pP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①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기존 </a:t>
            </a:r>
            <a:r>
              <a:rPr lang="en-US" altLang="ko-KR" sz="1400" b="1" dirty="0" err="1">
                <a:latin typeface="Pretendard" panose="02000503000000020004" pitchFamily="50" charset="-127"/>
                <a:ea typeface="Pretendard" panose="02000503000000020004" pitchFamily="50" charset="-127"/>
                <a:cs typeface="Pretendard" panose="02000503000000020004" pitchFamily="50" charset="-127"/>
              </a:rPr>
              <a:t>수리</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400" b="1" dirty="0" err="1">
                <a:latin typeface="Pretendard" panose="02000503000000020004" pitchFamily="50" charset="-127"/>
                <a:ea typeface="Pretendard" panose="02000503000000020004" pitchFamily="50" charset="-127"/>
                <a:cs typeface="Pretendard" panose="02000503000000020004" pitchFamily="50" charset="-127"/>
              </a:rPr>
              <a:t>전용</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400" b="1" dirty="0" err="1">
                <a:latin typeface="Pretendard" panose="02000503000000020004" pitchFamily="50" charset="-127"/>
                <a:ea typeface="Pretendard" panose="02000503000000020004" pitchFamily="50" charset="-127"/>
                <a:cs typeface="Pretendard" panose="02000503000000020004" pitchFamily="50" charset="-127"/>
              </a:rPr>
              <a:t>조직의</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한계</a:t>
            </a:r>
            <a:endParaRPr lang="en-US" altLang="ko-KR"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4"/>
          <p:cNvSpPr/>
          <p:nvPr/>
        </p:nvSpPr>
        <p:spPr>
          <a:xfrm>
            <a:off x="822960" y="1801368"/>
            <a:ext cx="4983480" cy="1508760"/>
          </a:xfrm>
          <a:prstGeom prst="rect">
            <a:avLst/>
          </a:prstGeom>
          <a:noFill/>
          <a:ln/>
        </p:spPr>
        <p:txBody>
          <a:bodyPr wrap="square" rtlCol="0" anchor="ctr"/>
          <a:lstStyle/>
          <a:p>
            <a:pPr marL="0" indent="0">
              <a:lnSpc>
                <a:spcPct val="112000"/>
              </a:lnSpc>
              <a:buNone/>
            </a:pP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DoVer는</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단일</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개입만</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수행</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a:p>
            <a:pPr marL="0" indent="0">
              <a:lnSpc>
                <a:spcPct val="112000"/>
              </a:lnSpc>
              <a:buNone/>
            </a:pP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판정</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불능</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(inconclusive)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사례가</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29~67%에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달함</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a:p>
            <a:pPr marL="0" indent="0">
              <a:lnSpc>
                <a:spcPct val="112000"/>
              </a:lnSpc>
              <a:buNone/>
            </a:pP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DoVer</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는 원 실행 시스템 </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체크포인트가 있어야 함</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블랙박스 및 비동기 환경 적용 불가함</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5"/>
          <p:cNvSpPr/>
          <p:nvPr/>
        </p:nvSpPr>
        <p:spPr>
          <a:xfrm>
            <a:off x="6263640" y="1234440"/>
            <a:ext cx="5349240" cy="2148840"/>
          </a:xfrm>
          <a:prstGeom prst="roundRect">
            <a:avLst>
              <a:gd name="adj" fmla="val 2128"/>
            </a:avLst>
          </a:prstGeom>
          <a:solidFill>
            <a:srgbClr val="FFFFFF"/>
          </a:solidFill>
          <a:ln w="15875">
            <a:solidFill>
              <a:srgbClr val="C0392B"/>
            </a:solidFill>
          </a:ln>
        </p:spPr>
        <p:txBody>
          <a:bodyPr wrap="square" lIns="54864" tIns="54864" rIns="54864" bIns="54864" rtlCol="0" anchor="ctr"/>
          <a:lstStyle/>
          <a:p>
            <a:pPr marL="0" indent="0" algn="ctr">
              <a:buNone/>
            </a:pP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6"/>
          <p:cNvSpPr/>
          <p:nvPr/>
        </p:nvSpPr>
        <p:spPr>
          <a:xfrm>
            <a:off x="6446520" y="1371600"/>
            <a:ext cx="4983480" cy="411480"/>
          </a:xfrm>
          <a:prstGeom prst="rect">
            <a:avLst/>
          </a:prstGeom>
          <a:noFill/>
          <a:ln/>
        </p:spPr>
        <p:txBody>
          <a:bodyPr wrap="square" rtlCol="0" anchor="ctr"/>
          <a:lstStyle/>
          <a:p>
            <a:pPr marL="0" indent="0">
              <a:buNone/>
            </a:pP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② 근본 원인 추적의 부재</a:t>
            </a:r>
            <a:endParaRPr lang="en-US" altLang="ko-KR"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7"/>
          <p:cNvSpPr/>
          <p:nvPr/>
        </p:nvSpPr>
        <p:spPr>
          <a:xfrm>
            <a:off x="6446520" y="1801368"/>
            <a:ext cx="4983480" cy="1508760"/>
          </a:xfrm>
          <a:prstGeom prst="rect">
            <a:avLst/>
          </a:prstGeom>
          <a:noFill/>
          <a:ln/>
        </p:spPr>
        <p:txBody>
          <a:bodyPr wrap="square" rtlCol="0" anchor="ctr"/>
          <a:lstStyle/>
          <a:p>
            <a:pPr marL="0" indent="0">
              <a:lnSpc>
                <a:spcPct val="112000"/>
              </a:lnSpc>
              <a:buNone/>
            </a:pP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단일</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지점</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(step)에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편집</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1회를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가하는</a:t>
            </a: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200" dirty="0" err="1">
                <a:latin typeface="Pretendard" panose="02000503000000020004" pitchFamily="50" charset="-127"/>
                <a:ea typeface="Pretendard" panose="02000503000000020004" pitchFamily="50" charset="-127"/>
                <a:cs typeface="Pretendard" panose="02000503000000020004" pitchFamily="50" charset="-127"/>
              </a:rPr>
              <a:t>방식</a:t>
            </a:r>
            <a:endParaRPr lang="en-US" altLang="ko-KR" sz="1200" dirty="0">
              <a:latin typeface="Pretendard" panose="02000503000000020004" pitchFamily="50" charset="-127"/>
              <a:ea typeface="Pretendard" panose="02000503000000020004" pitchFamily="50" charset="-127"/>
              <a:cs typeface="Pretendard" panose="02000503000000020004" pitchFamily="50" charset="-127"/>
            </a:endParaRPr>
          </a:p>
          <a:p>
            <a:pPr marL="0" indent="0">
              <a:lnSpc>
                <a:spcPct val="112000"/>
              </a:lnSpc>
              <a:buNone/>
            </a:pPr>
            <a:r>
              <a:rPr lang="en-US" altLang="ko-KR" sz="1200" dirty="0">
                <a:latin typeface="Pretendard" panose="02000503000000020004" pitchFamily="50" charset="-127"/>
                <a:ea typeface="Pretendard" panose="02000503000000020004" pitchFamily="50" charset="-127"/>
                <a:cs typeface="Pretendard" panose="02000503000000020004" pitchFamily="50" charset="-127"/>
              </a:rPr>
              <a:t>→ 지목 지점이 발생점인지 상속점인지 구분하지 않아, 전파된 증상만 교정하고 근본 원인은 방치될 수 있음</a:t>
            </a:r>
          </a:p>
        </p:txBody>
      </p:sp>
      <p:sp>
        <p:nvSpPr>
          <p:cNvPr id="10" name="Text 8"/>
          <p:cNvSpPr/>
          <p:nvPr/>
        </p:nvSpPr>
        <p:spPr>
          <a:xfrm>
            <a:off x="640080" y="3657600"/>
            <a:ext cx="5349240" cy="2148840"/>
          </a:xfrm>
          <a:prstGeom prst="roundRect">
            <a:avLst>
              <a:gd name="adj" fmla="val 2128"/>
            </a:avLst>
          </a:prstGeom>
          <a:solidFill>
            <a:srgbClr val="FFFFFF"/>
          </a:solidFill>
          <a:ln w="15875">
            <a:solidFill>
              <a:srgbClr val="C0392B"/>
            </a:solidFill>
          </a:ln>
        </p:spPr>
        <p:txBody>
          <a:bodyPr wrap="square" lIns="54864" tIns="54864" rIns="54864" bIns="54864" rtlCol="0" anchor="ctr"/>
          <a:lstStyle/>
          <a:p>
            <a:pPr marL="0" indent="0" algn="ctr">
              <a:buNone/>
            </a:pP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Text 9"/>
          <p:cNvSpPr/>
          <p:nvPr/>
        </p:nvSpPr>
        <p:spPr>
          <a:xfrm>
            <a:off x="822960" y="3794760"/>
            <a:ext cx="4983480" cy="411480"/>
          </a:xfrm>
          <a:prstGeom prst="rect">
            <a:avLst/>
          </a:prstGeom>
          <a:noFill/>
          <a:ln/>
        </p:spPr>
        <p:txBody>
          <a:bodyPr wrap="square" rtlCol="0" anchor="ctr"/>
          <a:lstStyle/>
          <a:p>
            <a:pPr marL="0" indent="0">
              <a:buNone/>
            </a:pPr>
            <a:r>
              <a:rPr lang="en-US" sz="1500" b="1" dirty="0">
                <a:latin typeface="Pretendard" panose="02000503000000020004" pitchFamily="50" charset="-127"/>
                <a:ea typeface="Pretendard" panose="02000503000000020004" pitchFamily="50" charset="-127"/>
                <a:cs typeface="Pretendard" panose="02000503000000020004" pitchFamily="50" charset="-127"/>
              </a:rPr>
              <a:t>③ 재실행 부작용(side-effect) 미고려</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 name="Text 10"/>
          <p:cNvSpPr/>
          <p:nvPr/>
        </p:nvSpPr>
        <p:spPr>
          <a:xfrm>
            <a:off x="822960" y="4224528"/>
            <a:ext cx="4983480" cy="1508760"/>
          </a:xfrm>
          <a:prstGeom prst="rect">
            <a:avLst/>
          </a:prstGeom>
          <a:noFill/>
          <a:ln/>
        </p:spPr>
        <p:txBody>
          <a:bodyPr wrap="square" rtlCol="0" anchor="ctr"/>
          <a:lstStyle/>
          <a:p>
            <a:pPr marL="0" indent="0">
              <a:lnSpc>
                <a:spcPct val="112000"/>
              </a:lnSpc>
              <a:buNone/>
            </a:pPr>
            <a:r>
              <a:rPr lang="en-US" sz="1180" dirty="0">
                <a:latin typeface="Pretendard" panose="02000503000000020004" pitchFamily="50" charset="-127"/>
                <a:ea typeface="Pretendard" panose="02000503000000020004" pitchFamily="50" charset="-127"/>
                <a:cs typeface="Pretendard" panose="02000503000000020004" pitchFamily="50" charset="-127"/>
              </a:rPr>
              <a:t>재실행 시 도구 호출 이중 실행(이메일 재발송 등) 문제는</a:t>
            </a:r>
          </a:p>
          <a:p>
            <a:pPr marL="0" indent="0">
              <a:lnSpc>
                <a:spcPct val="112000"/>
              </a:lnSpc>
              <a:buNone/>
            </a:pPr>
            <a:r>
              <a:rPr lang="en-US" sz="1180" dirty="0">
                <a:latin typeface="Pretendard" panose="02000503000000020004" pitchFamily="50" charset="-127"/>
                <a:ea typeface="Pretendard" panose="02000503000000020004" pitchFamily="50" charset="-127"/>
                <a:cs typeface="Pretendard" panose="02000503000000020004" pitchFamily="50" charset="-127"/>
              </a:rPr>
              <a:t>LangGraph·CrewAI·Google ADK 등 주요 프레임워크의</a:t>
            </a:r>
          </a:p>
          <a:p>
            <a:pPr marL="0" indent="0">
              <a:lnSpc>
                <a:spcPct val="112000"/>
              </a:lnSpc>
              <a:buNone/>
            </a:pPr>
            <a:r>
              <a:rPr lang="en-US" sz="1180" dirty="0">
                <a:latin typeface="Pretendard" panose="02000503000000020004" pitchFamily="50" charset="-127"/>
                <a:ea typeface="Pretendard" panose="02000503000000020004" pitchFamily="50" charset="-127"/>
                <a:cs typeface="Pretendard" panose="02000503000000020004" pitchFamily="50" charset="-127"/>
              </a:rPr>
              <a:t>공통 미해결 문제로 보고됨</a:t>
            </a:r>
          </a:p>
        </p:txBody>
      </p:sp>
      <p:sp>
        <p:nvSpPr>
          <p:cNvPr id="16" name="Text 14"/>
          <p:cNvSpPr/>
          <p:nvPr/>
        </p:nvSpPr>
        <p:spPr>
          <a:xfrm>
            <a:off x="640080" y="6172200"/>
            <a:ext cx="10972800" cy="411480"/>
          </a:xfrm>
          <a:prstGeom prst="rect">
            <a:avLst/>
          </a:prstGeom>
          <a:noFill/>
          <a:ln/>
        </p:spPr>
        <p:txBody>
          <a:bodyPr wrap="square" rtlCol="0" anchor="ctr"/>
          <a:lstStyle/>
          <a:p>
            <a:pPr marL="0" indent="0" algn="ctr">
              <a:buNone/>
            </a:pPr>
            <a:r>
              <a:rPr lang="en-US" sz="1400" b="1"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블랙박스</a:t>
            </a:r>
            <a:r>
              <a:rPr lang="en-US" altLang="ko-KR" sz="1400" b="1"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및 다양한 시스템에서 </a:t>
            </a:r>
            <a:r>
              <a:rPr lang="en-US" sz="1400" b="1" dirty="0" err="1">
                <a:latin typeface="Pretendard" panose="02000503000000020004" pitchFamily="50" charset="-127"/>
                <a:ea typeface="Pretendard" panose="02000503000000020004" pitchFamily="50" charset="-127"/>
                <a:cs typeface="Pretendard" panose="02000503000000020004" pitchFamily="50" charset="-127"/>
              </a:rPr>
              <a:t>실패한</a:t>
            </a:r>
            <a:r>
              <a:rPr lang="en-US" sz="1400" b="1" dirty="0">
                <a:latin typeface="Pretendard" panose="02000503000000020004" pitchFamily="50" charset="-127"/>
                <a:ea typeface="Pretendard" panose="02000503000000020004" pitchFamily="50" charset="-127"/>
                <a:cs typeface="Pretendard" panose="02000503000000020004" pitchFamily="50" charset="-127"/>
              </a:rPr>
              <a:t> 궤적 </a:t>
            </a:r>
            <a:r>
              <a:rPr lang="en-US" sz="1400" b="1" dirty="0" err="1">
                <a:latin typeface="Pretendard" panose="02000503000000020004" pitchFamily="50" charset="-127"/>
                <a:ea typeface="Pretendard" panose="02000503000000020004" pitchFamily="50" charset="-127"/>
                <a:cs typeface="Pretendard" panose="02000503000000020004" pitchFamily="50" charset="-127"/>
              </a:rPr>
              <a:t>자체로부터</a:t>
            </a:r>
            <a:r>
              <a:rPr lang="en-US" sz="1400" b="1" dirty="0">
                <a:latin typeface="Pretendard" panose="02000503000000020004" pitchFamily="50" charset="-127"/>
                <a:ea typeface="Pretendard" panose="02000503000000020004" pitchFamily="50" charset="-127"/>
                <a:cs typeface="Pretendard" panose="02000503000000020004" pitchFamily="50" charset="-127"/>
              </a:rPr>
              <a:t> </a:t>
            </a:r>
            <a:r>
              <a:rPr lang="en-US" sz="1400" b="1" dirty="0" err="1">
                <a:latin typeface="Pretendard" panose="02000503000000020004" pitchFamily="50" charset="-127"/>
                <a:ea typeface="Pretendard" panose="02000503000000020004" pitchFamily="50" charset="-127"/>
                <a:cs typeface="Pretendard" panose="02000503000000020004" pitchFamily="50" charset="-127"/>
              </a:rPr>
              <a:t>수리</a:t>
            </a:r>
            <a:r>
              <a:rPr lang="ko-KR" altLang="en-US" sz="1400" b="1" dirty="0">
                <a:latin typeface="Pretendard" panose="02000503000000020004" pitchFamily="50" charset="-127"/>
                <a:ea typeface="Pretendard" panose="02000503000000020004" pitchFamily="50" charset="-127"/>
                <a:cs typeface="Pretendard" panose="02000503000000020004" pitchFamily="50" charset="-127"/>
              </a:rPr>
              <a:t>할 수 있는 구조 필요</a:t>
            </a:r>
            <a:endParaRPr 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3" name="직사각형 12">
            <a:extLst>
              <a:ext uri="{FF2B5EF4-FFF2-40B4-BE49-F238E27FC236}">
                <a16:creationId xmlns:a16="http://schemas.microsoft.com/office/drawing/2014/main" id="{02019B2C-A718-4CE5-80D8-B9C9A4460F2F}"/>
              </a:ext>
            </a:extLst>
          </p:cNvPr>
          <p:cNvSpPr/>
          <p:nvPr/>
        </p:nvSpPr>
        <p:spPr>
          <a:xfrm>
            <a:off x="1" y="0"/>
            <a:ext cx="12220892" cy="6858000"/>
          </a:xfrm>
          <a:prstGeom prst="rect">
            <a:avLst/>
          </a:prstGeom>
          <a:solidFill>
            <a:schemeClr val="tx1">
              <a:lumMod val="65000"/>
              <a:lumOff val="35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Pretendard" panose="02000503000000020004" pitchFamily="50" charset="-127"/>
              <a:ea typeface="Pretendard" panose="02000503000000020004" pitchFamily="50" charset="-127"/>
              <a:cs typeface="Pretendard" panose="02000503000000020004" pitchFamily="50" charset="-127"/>
            </a:endParaRPr>
          </a:p>
        </p:txBody>
      </p:sp>
      <p:sp>
        <p:nvSpPr>
          <p:cNvPr id="17" name="Text 2">
            <a:extLst>
              <a:ext uri="{FF2B5EF4-FFF2-40B4-BE49-F238E27FC236}">
                <a16:creationId xmlns:a16="http://schemas.microsoft.com/office/drawing/2014/main" id="{25D15448-BDB9-4726-8719-D27E13272A4E}"/>
              </a:ext>
            </a:extLst>
          </p:cNvPr>
          <p:cNvSpPr/>
          <p:nvPr/>
        </p:nvSpPr>
        <p:spPr>
          <a:xfrm>
            <a:off x="1005840" y="2459736"/>
            <a:ext cx="10332720" cy="1600200"/>
          </a:xfrm>
          <a:prstGeom prst="roundRect">
            <a:avLst>
              <a:gd name="adj" fmla="val 2857"/>
            </a:avLst>
          </a:prstGeom>
          <a:solidFill>
            <a:srgbClr val="EDF2F9"/>
          </a:solidFill>
          <a:ln w="19050">
            <a:solidFill>
              <a:srgbClr val="1F3864"/>
            </a:solidFill>
          </a:ln>
        </p:spPr>
        <p:txBody>
          <a:bodyPr wrap="square" lIns="54864" tIns="54864" rIns="54864" bIns="54864" rtlCol="0" anchor="ctr"/>
          <a:lstStyle/>
          <a:p>
            <a:pPr marL="0" indent="0" algn="ctr">
              <a:buNone/>
            </a:pP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8" name="Text 3">
            <a:extLst>
              <a:ext uri="{FF2B5EF4-FFF2-40B4-BE49-F238E27FC236}">
                <a16:creationId xmlns:a16="http://schemas.microsoft.com/office/drawing/2014/main" id="{91C97E4F-FC2C-4A3F-8A7A-F9000A48E254}"/>
              </a:ext>
            </a:extLst>
          </p:cNvPr>
          <p:cNvSpPr/>
          <p:nvPr/>
        </p:nvSpPr>
        <p:spPr>
          <a:xfrm>
            <a:off x="1188720" y="2569464"/>
            <a:ext cx="9966960" cy="1380744"/>
          </a:xfrm>
          <a:prstGeom prst="rect">
            <a:avLst/>
          </a:prstGeom>
          <a:noFill/>
          <a:ln/>
        </p:spPr>
        <p:txBody>
          <a:bodyPr wrap="square" rtlCol="0" anchor="ctr"/>
          <a:lstStyle/>
          <a:p>
            <a:pPr marL="0" indent="0" algn="ctr">
              <a:buNone/>
            </a:pPr>
            <a:r>
              <a:rPr lang="en-US" altLang="ko-KR" sz="1800" b="1" dirty="0" err="1">
                <a:latin typeface="Pretendard" panose="02000503000000020004" pitchFamily="50" charset="-127"/>
                <a:ea typeface="Pretendard" panose="02000503000000020004" pitchFamily="50" charset="-127"/>
                <a:cs typeface="Pretendard" panose="02000503000000020004" pitchFamily="50" charset="-127"/>
              </a:rPr>
              <a:t>실패 궤적 로그만을 입력으로, 역방향 추적으로 결정적 오류 단계를 식별하고,</a:t>
            </a:r>
            <a:endParaRPr lang="en-US" altLang="ko-KR" sz="1800" dirty="0">
              <a:latin typeface="Pretendard" panose="02000503000000020004" pitchFamily="50" charset="-127"/>
              <a:ea typeface="Pretendard" panose="02000503000000020004" pitchFamily="50" charset="-127"/>
              <a:cs typeface="Pretendard" panose="02000503000000020004" pitchFamily="50" charset="-127"/>
            </a:endParaRPr>
          </a:p>
          <a:p>
            <a:pPr marL="0" indent="0" algn="ctr">
              <a:buNone/>
            </a:pPr>
            <a:r>
              <a:rPr lang="en-US" altLang="ko-KR" sz="1800" b="1" dirty="0" err="1">
                <a:latin typeface="Pretendard" panose="02000503000000020004" pitchFamily="50" charset="-127"/>
                <a:ea typeface="Pretendard" panose="02000503000000020004" pitchFamily="50" charset="-127"/>
                <a:cs typeface="Pretendard" panose="02000503000000020004" pitchFamily="50" charset="-127"/>
              </a:rPr>
              <a:t>로그로부터 유도된 수리 에이전트가 해당 출력을 교정하며 이후 궤적을 전체 재생성하여 작업 실패를 성공으로 전환하는 방법 및 장치 제안</a:t>
            </a:r>
            <a:endParaRPr lang="en-US" altLang="ko-KR" sz="18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9" name="TextBox 18">
            <a:extLst>
              <a:ext uri="{FF2B5EF4-FFF2-40B4-BE49-F238E27FC236}">
                <a16:creationId xmlns:a16="http://schemas.microsoft.com/office/drawing/2014/main" id="{0BCD97EE-5E3E-4BF6-A343-FB46DC4EB774}"/>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8</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extLst>
      <p:ext uri="{BB962C8B-B14F-4D97-AF65-F5344CB8AC3E}">
        <p14:creationId xmlns:p14="http://schemas.microsoft.com/office/powerpoint/2010/main" val="2639327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62" name="직사각형 61">
            <a:extLst>
              <a:ext uri="{FF2B5EF4-FFF2-40B4-BE49-F238E27FC236}">
                <a16:creationId xmlns:a16="http://schemas.microsoft.com/office/drawing/2014/main" id="{6A6FE5E1-1876-45AD-A630-57294CDF454D}"/>
              </a:ext>
            </a:extLst>
          </p:cNvPr>
          <p:cNvSpPr/>
          <p:nvPr/>
        </p:nvSpPr>
        <p:spPr>
          <a:xfrm>
            <a:off x="203200" y="4124619"/>
            <a:ext cx="11832865" cy="23257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3" name="직사각형 52">
            <a:extLst>
              <a:ext uri="{FF2B5EF4-FFF2-40B4-BE49-F238E27FC236}">
                <a16:creationId xmlns:a16="http://schemas.microsoft.com/office/drawing/2014/main" id="{341FC8D6-AE1F-4C66-B34E-C4423B9A9591}"/>
              </a:ext>
            </a:extLst>
          </p:cNvPr>
          <p:cNvSpPr/>
          <p:nvPr/>
        </p:nvSpPr>
        <p:spPr>
          <a:xfrm>
            <a:off x="203200" y="2462107"/>
            <a:ext cx="11832865" cy="1677586"/>
          </a:xfrm>
          <a:prstGeom prst="rect">
            <a:avLst/>
          </a:prstGeom>
          <a:solidFill>
            <a:srgbClr val="CEDB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직사각형 49">
            <a:extLst>
              <a:ext uri="{FF2B5EF4-FFF2-40B4-BE49-F238E27FC236}">
                <a16:creationId xmlns:a16="http://schemas.microsoft.com/office/drawing/2014/main" id="{473A2C6F-E121-4109-9F71-4547B831F3F4}"/>
              </a:ext>
            </a:extLst>
          </p:cNvPr>
          <p:cNvSpPr/>
          <p:nvPr/>
        </p:nvSpPr>
        <p:spPr>
          <a:xfrm>
            <a:off x="4647102" y="780028"/>
            <a:ext cx="7388963" cy="1696472"/>
          </a:xfrm>
          <a:prstGeom prst="rect">
            <a:avLst/>
          </a:prstGeom>
          <a:solidFill>
            <a:srgbClr val="FECE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직사각형 48">
            <a:extLst>
              <a:ext uri="{FF2B5EF4-FFF2-40B4-BE49-F238E27FC236}">
                <a16:creationId xmlns:a16="http://schemas.microsoft.com/office/drawing/2014/main" id="{F3904D79-0463-4B9B-8B8A-8173A04EDEDF}"/>
              </a:ext>
            </a:extLst>
          </p:cNvPr>
          <p:cNvSpPr/>
          <p:nvPr/>
        </p:nvSpPr>
        <p:spPr>
          <a:xfrm>
            <a:off x="203200" y="780028"/>
            <a:ext cx="4457239" cy="1696472"/>
          </a:xfrm>
          <a:prstGeom prst="rect">
            <a:avLst/>
          </a:prstGeom>
          <a:solidFill>
            <a:srgbClr val="FEE3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 0"/>
          <p:cNvSpPr/>
          <p:nvPr/>
        </p:nvSpPr>
        <p:spPr>
          <a:xfrm>
            <a:off x="502920" y="274320"/>
            <a:ext cx="10789920" cy="548640"/>
          </a:xfrm>
          <a:prstGeom prst="rect">
            <a:avLst/>
          </a:prstGeom>
          <a:noFill/>
          <a:ln/>
        </p:spPr>
        <p:txBody>
          <a:bodyPr wrap="square" rtlCol="0" anchor="ctr"/>
          <a:lstStyle/>
          <a:p>
            <a:pPr marL="0" indent="0">
              <a:buNone/>
            </a:pPr>
            <a:r>
              <a:rPr lang="en-US" sz="2500" b="1" dirty="0">
                <a:latin typeface="Pretendard" panose="02000503000000020004" pitchFamily="50" charset="-127"/>
                <a:ea typeface="Pretendard" panose="02000503000000020004" pitchFamily="50" charset="-127"/>
                <a:cs typeface="Pretendard" panose="02000503000000020004" pitchFamily="50" charset="-127"/>
              </a:rPr>
              <a:t>방법론 도식화 (전체 파이프라인)</a:t>
            </a:r>
            <a:endParaRPr lang="en-US" sz="2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 name="Text 2"/>
          <p:cNvSpPr/>
          <p:nvPr/>
        </p:nvSpPr>
        <p:spPr>
          <a:xfrm>
            <a:off x="548640" y="1273387"/>
            <a:ext cx="1645920" cy="914400"/>
          </a:xfrm>
          <a:prstGeom prst="roundRect">
            <a:avLst>
              <a:gd name="adj" fmla="val 5000"/>
            </a:avLst>
          </a:prstGeom>
          <a:solidFill>
            <a:srgbClr val="F2F2F2"/>
          </a:solidFill>
          <a:ln w="15875">
            <a:solidFill>
              <a:srgbClr val="595959"/>
            </a:solidFill>
          </a:ln>
        </p:spPr>
        <p:txBody>
          <a:bodyPr wrap="square" lIns="54864" tIns="54864" rIns="54864" bIns="54864" rtlCol="0" anchor="ctr"/>
          <a:lstStyle/>
          <a:p>
            <a:pPr marL="0" indent="0" algn="ctr">
              <a:lnSpc>
                <a:spcPct val="120000"/>
              </a:lnSpc>
              <a:buNone/>
            </a:pPr>
            <a:r>
              <a:rPr lang="en-US" sz="1150" b="1" dirty="0">
                <a:latin typeface="Pretendard" panose="02000503000000020004" pitchFamily="50" charset="-127"/>
                <a:ea typeface="Pretendard" panose="02000503000000020004" pitchFamily="50" charset="-127"/>
                <a:cs typeface="Pretendard" panose="02000503000000020004" pitchFamily="50" charset="-127"/>
              </a:rPr>
              <a:t>실패 궤적 로그</a:t>
            </a:r>
          </a:p>
          <a:p>
            <a:pPr marL="0" indent="0" algn="ctr">
              <a:lnSpc>
                <a:spcPct val="120000"/>
              </a:lnSpc>
              <a:buNone/>
            </a:pPr>
            <a:r>
              <a:rPr lang="en-US" sz="1150" b="1" dirty="0">
                <a:latin typeface="Pretendard" panose="02000503000000020004" pitchFamily="50" charset="-127"/>
                <a:ea typeface="Pretendard" panose="02000503000000020004" pitchFamily="50" charset="-127"/>
                <a:cs typeface="Pretendard" panose="02000503000000020004" pitchFamily="50" charset="-127"/>
              </a:rPr>
              <a:t>(step 단위</a:t>
            </a:r>
          </a:p>
          <a:p>
            <a:pPr marL="0" indent="0" algn="ctr">
              <a:lnSpc>
                <a:spcPct val="120000"/>
              </a:lnSpc>
              <a:buNone/>
            </a:pPr>
            <a:r>
              <a:rPr lang="en-US" sz="1150" b="1" dirty="0">
                <a:latin typeface="Pretendard" panose="02000503000000020004" pitchFamily="50" charset="-127"/>
                <a:ea typeface="Pretendard" panose="02000503000000020004" pitchFamily="50" charset="-127"/>
                <a:cs typeface="Pretendard" panose="02000503000000020004" pitchFamily="50" charset="-127"/>
              </a:rPr>
              <a:t>에이전트 출력)</a:t>
            </a:r>
          </a:p>
        </p:txBody>
      </p:sp>
      <p:sp>
        <p:nvSpPr>
          <p:cNvPr id="5" name="Text 3"/>
          <p:cNvSpPr/>
          <p:nvPr/>
        </p:nvSpPr>
        <p:spPr>
          <a:xfrm>
            <a:off x="2651761" y="1273387"/>
            <a:ext cx="1787865" cy="914400"/>
          </a:xfrm>
          <a:prstGeom prst="roundRect">
            <a:avLst>
              <a:gd name="adj" fmla="val 5000"/>
            </a:avLst>
          </a:prstGeom>
          <a:solidFill>
            <a:srgbClr val="EDF2F9"/>
          </a:solidFill>
          <a:ln w="15875">
            <a:solidFill>
              <a:srgbClr val="2E5FA3"/>
            </a:solidFill>
          </a:ln>
        </p:spPr>
        <p:txBody>
          <a:bodyPr wrap="square" lIns="54864" tIns="54864" rIns="54864" bIns="54864" rtlCol="0" anchor="ctr"/>
          <a:lstStyle/>
          <a:p>
            <a:pPr marL="0" indent="0" algn="ctr">
              <a:lnSpc>
                <a:spcPct val="120000"/>
              </a:lnSpc>
              <a:buNone/>
            </a:pPr>
            <a:r>
              <a:rPr lang="en-US" altLang="ko-KR" sz="1100" b="1" dirty="0" err="1">
                <a:latin typeface="Pretendard" panose="02000503000000020004" pitchFamily="50" charset="-127"/>
                <a:ea typeface="Pretendard" panose="02000503000000020004" pitchFamily="50" charset="-127"/>
                <a:cs typeface="Pretendard" panose="02000503000000020004" pitchFamily="50" charset="-127"/>
              </a:rPr>
              <a:t>오류</a:t>
            </a:r>
            <a:r>
              <a:rPr lang="en-US" altLang="ko-KR" sz="1100" b="1"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100" b="1" dirty="0" err="1">
                <a:latin typeface="Pretendard" panose="02000503000000020004" pitchFamily="50" charset="-127"/>
                <a:ea typeface="Pretendard" panose="02000503000000020004" pitchFamily="50" charset="-127"/>
                <a:cs typeface="Pretendard" panose="02000503000000020004" pitchFamily="50" charset="-127"/>
              </a:rPr>
              <a:t>귀인</a:t>
            </a:r>
            <a:endParaRPr lang="en-US" altLang="ko-KR" sz="1100" b="1" dirty="0">
              <a:latin typeface="Pretendard" panose="02000503000000020004" pitchFamily="50" charset="-127"/>
              <a:ea typeface="Pretendard" panose="02000503000000020004" pitchFamily="50" charset="-127"/>
              <a:cs typeface="Pretendard" panose="02000503000000020004" pitchFamily="50" charset="-127"/>
            </a:endParaRPr>
          </a:p>
          <a:p>
            <a:pPr marL="0" indent="0" algn="ctr">
              <a:lnSpc>
                <a:spcPct val="120000"/>
              </a:lnSpc>
              <a:buNone/>
            </a:pPr>
            <a:r>
              <a:rPr lang="en-US" altLang="ko-KR" sz="1100" dirty="0" err="1">
                <a:latin typeface="Pretendard" panose="02000503000000020004" pitchFamily="50" charset="-127"/>
                <a:ea typeface="Pretendard" panose="02000503000000020004" pitchFamily="50" charset="-127"/>
                <a:cs typeface="Pretendard" panose="02000503000000020004" pitchFamily="50" charset="-127"/>
              </a:rPr>
              <a:t>역방향 추적 기반</a:t>
            </a:r>
            <a:endParaRPr lang="en-US" altLang="ko-KR" sz="1100" dirty="0">
              <a:latin typeface="Pretendard" panose="02000503000000020004" pitchFamily="50" charset="-127"/>
              <a:ea typeface="Pretendard" panose="02000503000000020004" pitchFamily="50" charset="-127"/>
              <a:cs typeface="Pretendard" panose="02000503000000020004" pitchFamily="50" charset="-127"/>
            </a:endParaRPr>
          </a:p>
          <a:p>
            <a:pPr marL="0" indent="0" algn="ctr">
              <a:lnSpc>
                <a:spcPct val="120000"/>
              </a:lnSpc>
              <a:buNone/>
            </a:pPr>
            <a:r>
              <a:rPr lang="en-US" altLang="ko-KR" sz="1100" dirty="0">
                <a:latin typeface="Pretendard" panose="02000503000000020004" pitchFamily="50" charset="-127"/>
                <a:ea typeface="Pretendard" panose="02000503000000020004" pitchFamily="50" charset="-127"/>
                <a:cs typeface="Pretendard" panose="02000503000000020004" pitchFamily="50" charset="-127"/>
              </a:rPr>
              <a:t>(</a:t>
            </a:r>
            <a:r>
              <a:rPr lang="en-US" altLang="ko-KR" sz="1100" dirty="0" err="1">
                <a:latin typeface="Pretendard" panose="02000503000000020004" pitchFamily="50" charset="-127"/>
                <a:ea typeface="Pretendard" panose="02000503000000020004" pitchFamily="50" charset="-127"/>
                <a:cs typeface="Pretendard" panose="02000503000000020004" pitchFamily="50" charset="-127"/>
              </a:rPr>
              <a:t>결함</a:t>
            </a:r>
            <a:r>
              <a:rPr lang="en-US" altLang="ko-KR" sz="1100" dirty="0">
                <a:latin typeface="Pretendard" panose="02000503000000020004" pitchFamily="50" charset="-127"/>
                <a:ea typeface="Pretendard" panose="02000503000000020004" pitchFamily="50" charset="-127"/>
                <a:cs typeface="Pretendard" panose="02000503000000020004" pitchFamily="50" charset="-127"/>
              </a:rPr>
              <a:t> 발생·상속 판정 반복)</a:t>
            </a:r>
          </a:p>
        </p:txBody>
      </p:sp>
      <p:sp>
        <p:nvSpPr>
          <p:cNvPr id="6" name="Text 4"/>
          <p:cNvSpPr/>
          <p:nvPr/>
        </p:nvSpPr>
        <p:spPr>
          <a:xfrm>
            <a:off x="4905580" y="1273387"/>
            <a:ext cx="2057400" cy="914400"/>
          </a:xfrm>
          <a:prstGeom prst="roundRect">
            <a:avLst>
              <a:gd name="adj" fmla="val 5000"/>
            </a:avLst>
          </a:prstGeom>
          <a:solidFill>
            <a:srgbClr val="EDF2F9"/>
          </a:solidFill>
          <a:ln w="15875">
            <a:solidFill>
              <a:srgbClr val="2E5FA3"/>
            </a:solidFill>
          </a:ln>
        </p:spPr>
        <p:txBody>
          <a:bodyPr wrap="square" lIns="54864" tIns="54864" rIns="54864" bIns="54864" rtlCol="0" anchor="ctr"/>
          <a:lstStyle/>
          <a:p>
            <a:pPr marL="0" indent="0" algn="ctr">
              <a:lnSpc>
                <a:spcPct val="120000"/>
              </a:lnSpc>
              <a:buNone/>
            </a:pPr>
            <a:r>
              <a:rPr lang="ko-KR" altLang="en-US" sz="1050" b="1" dirty="0">
                <a:latin typeface="Pretendard" panose="02000503000000020004" pitchFamily="50" charset="-127"/>
                <a:ea typeface="Pretendard" panose="02000503000000020004" pitchFamily="50" charset="-127"/>
                <a:cs typeface="Pretendard" panose="02000503000000020004" pitchFamily="50" charset="-127"/>
              </a:rPr>
              <a:t>페르소나 </a:t>
            </a:r>
            <a:r>
              <a:rPr lang="ko-KR" altLang="en-US" sz="1050" b="1" dirty="0" err="1">
                <a:latin typeface="Pretendard" panose="02000503000000020004" pitchFamily="50" charset="-127"/>
                <a:ea typeface="Pretendard" panose="02000503000000020004" pitchFamily="50" charset="-127"/>
                <a:cs typeface="Pretendard" panose="02000503000000020004" pitchFamily="50" charset="-127"/>
              </a:rPr>
              <a:t>역추출</a:t>
            </a:r>
            <a:r>
              <a:rPr lang="ko-KR" altLang="en-US" sz="1050" b="1" dirty="0">
                <a:latin typeface="Pretendard" panose="02000503000000020004" pitchFamily="50" charset="-127"/>
                <a:ea typeface="Pretendard" panose="02000503000000020004" pitchFamily="50" charset="-127"/>
                <a:cs typeface="Pretendard" panose="02000503000000020004" pitchFamily="50" charset="-127"/>
              </a:rPr>
              <a:t> 및 공유 메모리 구축</a:t>
            </a:r>
            <a:endParaRPr lang="en-US" altLang="ko-KR" sz="1050" b="1" dirty="0">
              <a:latin typeface="Pretendard" panose="02000503000000020004" pitchFamily="50" charset="-127"/>
              <a:ea typeface="Pretendard" panose="02000503000000020004" pitchFamily="50" charset="-127"/>
              <a:cs typeface="Pretendard" panose="02000503000000020004" pitchFamily="50" charset="-127"/>
            </a:endParaRPr>
          </a:p>
          <a:p>
            <a:pPr algn="ctr">
              <a:lnSpc>
                <a:spcPct val="120000"/>
              </a:lnSpc>
            </a:pPr>
            <a:r>
              <a:rPr lang="ko-KR" altLang="en-US" sz="1100" dirty="0">
                <a:latin typeface="Pretendard" panose="02000503000000020004" pitchFamily="50" charset="-127"/>
                <a:ea typeface="Pretendard" panose="02000503000000020004" pitchFamily="50" charset="-127"/>
                <a:cs typeface="Pretendard" panose="02000503000000020004" pitchFamily="50" charset="-127"/>
              </a:rPr>
              <a:t>결정적 오류 에이전트</a:t>
            </a:r>
            <a:r>
              <a:rPr lang="en-US" altLang="ko-KR" sz="1100" dirty="0">
                <a:latin typeface="Pretendard" panose="02000503000000020004" pitchFamily="50" charset="-127"/>
                <a:ea typeface="Pretendard" panose="02000503000000020004" pitchFamily="50" charset="-127"/>
                <a:cs typeface="Pretendard" panose="02000503000000020004" pitchFamily="50" charset="-127"/>
              </a:rPr>
              <a:t>(s*)</a:t>
            </a:r>
            <a:r>
              <a:rPr lang="ko-KR" altLang="en-US" sz="1100" dirty="0">
                <a:latin typeface="Pretendard" panose="02000503000000020004" pitchFamily="50" charset="-127"/>
                <a:ea typeface="Pretendard" panose="02000503000000020004" pitchFamily="50" charset="-127"/>
                <a:cs typeface="Pretendard" panose="02000503000000020004" pitchFamily="50" charset="-127"/>
              </a:rPr>
              <a:t> 페르소나 </a:t>
            </a:r>
            <a:r>
              <a:rPr lang="ko-KR" altLang="en-US" sz="1100" dirty="0" err="1">
                <a:latin typeface="Pretendard" panose="02000503000000020004" pitchFamily="50" charset="-127"/>
                <a:ea typeface="Pretendard" panose="02000503000000020004" pitchFamily="50" charset="-127"/>
                <a:cs typeface="Pretendard" panose="02000503000000020004" pitchFamily="50" charset="-127"/>
              </a:rPr>
              <a:t>역추출</a:t>
            </a:r>
            <a:r>
              <a:rPr lang="ko-KR" altLang="en-US" sz="11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11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100" dirty="0">
                <a:latin typeface="Pretendard" panose="02000503000000020004" pitchFamily="50" charset="-127"/>
                <a:ea typeface="Pretendard" panose="02000503000000020004" pitchFamily="50" charset="-127"/>
                <a:cs typeface="Pretendard" panose="02000503000000020004" pitchFamily="50" charset="-127"/>
              </a:rPr>
              <a:t>공유 메모리 요약</a:t>
            </a:r>
            <a:endParaRPr lang="en-US" altLang="ko-KR"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5"/>
          <p:cNvSpPr/>
          <p:nvPr/>
        </p:nvSpPr>
        <p:spPr>
          <a:xfrm>
            <a:off x="7446163" y="2786465"/>
            <a:ext cx="4206240" cy="1230122"/>
          </a:xfrm>
          <a:prstGeom prst="roundRect">
            <a:avLst>
              <a:gd name="adj" fmla="val 5000"/>
            </a:avLst>
          </a:prstGeom>
          <a:solidFill>
            <a:srgbClr val="EDF2F9"/>
          </a:solidFill>
          <a:ln w="15875">
            <a:solidFill>
              <a:srgbClr val="2E5FA3"/>
            </a:solidFill>
          </a:ln>
        </p:spPr>
        <p:txBody>
          <a:bodyPr wrap="square" lIns="54864" tIns="54864" rIns="54864" bIns="54864" rtlCol="0" anchor="ctr"/>
          <a:lstStyle/>
          <a:p>
            <a:pPr marL="0" indent="0" algn="ctr">
              <a:buNone/>
            </a:pPr>
            <a:r>
              <a:rPr lang="ko-KR" altLang="en-US" sz="1050" dirty="0">
                <a:latin typeface="Pretendard" panose="02000503000000020004" pitchFamily="50" charset="-127"/>
                <a:ea typeface="Pretendard" panose="02000503000000020004" pitchFamily="50" charset="-127"/>
                <a:cs typeface="Pretendard" panose="02000503000000020004" pitchFamily="50" charset="-127"/>
              </a:rPr>
              <a:t>기존 실패 궤적 로그와 교정 결과를 토대로 하류 궤적 재생성을 위한 멀티에이전트 시스템 구축 및 정의</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Shape 9"/>
          <p:cNvSpPr/>
          <p:nvPr/>
        </p:nvSpPr>
        <p:spPr>
          <a:xfrm>
            <a:off x="9538543" y="2187787"/>
            <a:ext cx="0" cy="594360"/>
          </a:xfrm>
          <a:prstGeom prst="line">
            <a:avLst/>
          </a:prstGeom>
          <a:noFill/>
          <a:ln w="22225">
            <a:solidFill>
              <a:srgbClr val="595959"/>
            </a:solidFill>
            <a:prstDash val="solid"/>
            <a:tailEnd type="triangle"/>
          </a:ln>
        </p:spPr>
        <p:txBody>
          <a:bodyPr/>
          <a:lstStyle/>
          <a:p>
            <a:endParaRPr/>
          </a:p>
        </p:txBody>
      </p:sp>
      <p:sp>
        <p:nvSpPr>
          <p:cNvPr id="12" name="Text 10"/>
          <p:cNvSpPr/>
          <p:nvPr/>
        </p:nvSpPr>
        <p:spPr>
          <a:xfrm>
            <a:off x="7427964" y="1267672"/>
            <a:ext cx="4206240" cy="920115"/>
          </a:xfrm>
          <a:prstGeom prst="roundRect">
            <a:avLst>
              <a:gd name="adj" fmla="val 3704"/>
            </a:avLst>
          </a:prstGeom>
          <a:solidFill>
            <a:srgbClr val="EDF2F9"/>
          </a:solidFill>
          <a:ln w="19050">
            <a:solidFill>
              <a:srgbClr val="1F3864"/>
            </a:solidFill>
          </a:ln>
        </p:spPr>
        <p:txBody>
          <a:bodyPr wrap="square" lIns="54864" tIns="54864" rIns="54864" bIns="54864" rtlCol="0" anchor="ctr"/>
          <a:lstStyle/>
          <a:p>
            <a:pPr marL="0" indent="0" algn="ctr">
              <a:buNone/>
            </a:pP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3" name="Text 11"/>
          <p:cNvSpPr/>
          <p:nvPr/>
        </p:nvSpPr>
        <p:spPr>
          <a:xfrm>
            <a:off x="9030266" y="1274003"/>
            <a:ext cx="991133" cy="301752"/>
          </a:xfrm>
          <a:prstGeom prst="rect">
            <a:avLst/>
          </a:prstGeom>
          <a:noFill/>
          <a:ln/>
        </p:spPr>
        <p:txBody>
          <a:bodyPr wrap="square" rtlCol="0" anchor="ctr"/>
          <a:lstStyle/>
          <a:p>
            <a:pPr marL="0" indent="0" algn="ctr">
              <a:buNone/>
            </a:pPr>
            <a:r>
              <a:rPr lang="en-US" sz="1100" b="1" dirty="0" err="1">
                <a:latin typeface="Pretendard" panose="02000503000000020004" pitchFamily="50" charset="-127"/>
                <a:ea typeface="Pretendard" panose="02000503000000020004" pitchFamily="50" charset="-127"/>
                <a:cs typeface="Pretendard" panose="02000503000000020004" pitchFamily="50" charset="-127"/>
              </a:rPr>
              <a:t>오류 교정</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Text 12"/>
          <p:cNvSpPr/>
          <p:nvPr/>
        </p:nvSpPr>
        <p:spPr>
          <a:xfrm>
            <a:off x="7610844" y="1562999"/>
            <a:ext cx="4023360" cy="528614"/>
          </a:xfrm>
          <a:prstGeom prst="rect">
            <a:avLst/>
          </a:prstGeom>
          <a:noFill/>
          <a:ln/>
        </p:spPr>
        <p:txBody>
          <a:bodyPr wrap="square" rtlCol="0" anchor="ctr"/>
          <a:lstStyle/>
          <a:p>
            <a:pPr algn="ctr">
              <a:lnSpc>
                <a:spcPct val="105000"/>
              </a:lnSpc>
            </a:pPr>
            <a:r>
              <a:rPr lang="ko-KR" altLang="ko-KR" sz="1050" dirty="0">
                <a:latin typeface="Pretendard" panose="02000503000000020004" pitchFamily="50" charset="-127"/>
                <a:ea typeface="Pretendard" panose="02000503000000020004" pitchFamily="50" charset="-127"/>
                <a:cs typeface="Pretendard" panose="02000503000000020004" pitchFamily="50" charset="-127"/>
              </a:rPr>
              <a:t>[페르소나 + 공유 메모리 + 교정 지시("기존 </a:t>
            </a:r>
            <a:r>
              <a:rPr lang="ko-KR" altLang="ko-KR" sz="1050" dirty="0" err="1">
                <a:latin typeface="Pretendard" panose="02000503000000020004" pitchFamily="50" charset="-127"/>
                <a:ea typeface="Pretendard" panose="02000503000000020004" pitchFamily="50" charset="-127"/>
                <a:cs typeface="Pretendard" panose="02000503000000020004" pitchFamily="50" charset="-127"/>
              </a:rPr>
              <a:t>역할·형식</a:t>
            </a:r>
            <a:r>
              <a:rPr lang="ko-KR" altLang="ko-KR" sz="1050" dirty="0">
                <a:latin typeface="Pretendard" panose="02000503000000020004" pitchFamily="50" charset="-127"/>
                <a:ea typeface="Pretendard" panose="02000503000000020004" pitchFamily="50" charset="-127"/>
                <a:cs typeface="Pretendard" panose="02000503000000020004" pitchFamily="50" charset="-127"/>
              </a:rPr>
              <a:t> 유지하며 교정")]</a:t>
            </a:r>
            <a:r>
              <a:rPr lang="ko-KR" altLang="ko-KR" sz="1050" dirty="0" err="1">
                <a:latin typeface="Pretendard" panose="02000503000000020004" pitchFamily="50" charset="-127"/>
                <a:ea typeface="Pretendard" panose="02000503000000020004" pitchFamily="50" charset="-127"/>
                <a:cs typeface="Pretendard" panose="02000503000000020004" pitchFamily="50" charset="-127"/>
              </a:rPr>
              <a:t>를</a:t>
            </a:r>
            <a:r>
              <a:rPr lang="ko-KR" altLang="ko-KR" sz="1050" dirty="0">
                <a:latin typeface="Pretendard" panose="02000503000000020004" pitchFamily="50" charset="-127"/>
                <a:ea typeface="Pretendard" panose="02000503000000020004" pitchFamily="50" charset="-127"/>
                <a:cs typeface="Pretendard" panose="02000503000000020004" pitchFamily="50" charset="-127"/>
              </a:rPr>
              <a:t> 수리 에이전트에 주입하여 </a:t>
            </a:r>
            <a:r>
              <a:rPr lang="ko-KR" altLang="ko-KR" sz="1050" dirty="0" err="1">
                <a:latin typeface="Pretendard" panose="02000503000000020004" pitchFamily="50" charset="-127"/>
                <a:ea typeface="Pretendard" panose="02000503000000020004" pitchFamily="50" charset="-127"/>
                <a:cs typeface="Pretendard" panose="02000503000000020004" pitchFamily="50" charset="-127"/>
              </a:rPr>
              <a:t>s</a:t>
            </a:r>
            <a:r>
              <a:rPr lang="ko-KR" altLang="ko-KR" sz="1050" dirty="0">
                <a:latin typeface="Pretendard" panose="02000503000000020004" pitchFamily="50" charset="-127"/>
                <a:ea typeface="Pretendard" panose="02000503000000020004" pitchFamily="50" charset="-127"/>
                <a:cs typeface="Pretendard" panose="02000503000000020004" pitchFamily="50" charset="-127"/>
              </a:rPr>
              <a:t>*의 출력을 교정</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5" name="Text 13"/>
          <p:cNvSpPr/>
          <p:nvPr/>
        </p:nvSpPr>
        <p:spPr>
          <a:xfrm>
            <a:off x="1971043" y="2782147"/>
            <a:ext cx="5029200" cy="1234440"/>
          </a:xfrm>
          <a:prstGeom prst="roundRect">
            <a:avLst>
              <a:gd name="adj" fmla="val 3704"/>
            </a:avLst>
          </a:prstGeom>
          <a:solidFill>
            <a:srgbClr val="EDF2F9"/>
          </a:solidFill>
          <a:ln w="19050">
            <a:solidFill>
              <a:srgbClr val="1F3864"/>
            </a:solidFill>
          </a:ln>
        </p:spPr>
        <p:txBody>
          <a:bodyPr wrap="square" lIns="54864" tIns="54864" rIns="54864" bIns="54864" rtlCol="0" anchor="ctr"/>
          <a:lstStyle/>
          <a:p>
            <a:pPr marL="0" indent="0" algn="ctr">
              <a:buNone/>
            </a:pP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6" name="Text 14"/>
          <p:cNvSpPr/>
          <p:nvPr/>
        </p:nvSpPr>
        <p:spPr>
          <a:xfrm>
            <a:off x="2153923" y="2837011"/>
            <a:ext cx="4663440" cy="301752"/>
          </a:xfrm>
          <a:prstGeom prst="rect">
            <a:avLst/>
          </a:prstGeom>
          <a:noFill/>
          <a:ln/>
        </p:spPr>
        <p:txBody>
          <a:bodyPr wrap="square" rtlCol="0" anchor="ctr"/>
          <a:lstStyle/>
          <a:p>
            <a:pPr marL="0" indent="0" algn="ctr">
              <a:buNone/>
            </a:pPr>
            <a:r>
              <a:rPr lang="en-US" sz="1100" b="1" dirty="0" err="1">
                <a:latin typeface="Pretendard" panose="02000503000000020004" pitchFamily="50" charset="-127"/>
                <a:ea typeface="Pretendard" panose="02000503000000020004" pitchFamily="50" charset="-127"/>
                <a:cs typeface="Pretendard" panose="02000503000000020004" pitchFamily="50" charset="-127"/>
              </a:rPr>
              <a:t>하류</a:t>
            </a:r>
            <a:r>
              <a:rPr lang="en-US" sz="1100" b="1" dirty="0">
                <a:latin typeface="Pretendard" panose="02000503000000020004" pitchFamily="50" charset="-127"/>
                <a:ea typeface="Pretendard" panose="02000503000000020004" pitchFamily="50" charset="-127"/>
                <a:cs typeface="Pretendard" panose="02000503000000020004" pitchFamily="50" charset="-127"/>
              </a:rPr>
              <a:t> 전체 재생성</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7" name="Text 15"/>
          <p:cNvSpPr/>
          <p:nvPr/>
        </p:nvSpPr>
        <p:spPr>
          <a:xfrm>
            <a:off x="2166961" y="2935900"/>
            <a:ext cx="4663440" cy="822960"/>
          </a:xfrm>
          <a:prstGeom prst="rect">
            <a:avLst/>
          </a:prstGeom>
          <a:noFill/>
          <a:ln/>
        </p:spPr>
        <p:txBody>
          <a:bodyPr wrap="square" rtlCol="0" anchor="ctr"/>
          <a:lstStyle/>
          <a:p>
            <a:pPr algn="ctr">
              <a:lnSpc>
                <a:spcPct val="105000"/>
              </a:lnSpc>
            </a:pPr>
            <a:r>
              <a:rPr lang="ko-KR" altLang="ko-KR" sz="1050" dirty="0" err="1">
                <a:latin typeface="Pretendard" panose="02000503000000020004" pitchFamily="50" charset="-127"/>
                <a:ea typeface="Pretendard" panose="02000503000000020004" pitchFamily="50" charset="-127"/>
                <a:cs typeface="Pretendard" panose="02000503000000020004" pitchFamily="50" charset="-127"/>
              </a:rPr>
              <a:t>Orchestrator</a:t>
            </a:r>
            <a:r>
              <a:rPr lang="ko-KR" altLang="ko-KR" sz="1050" dirty="0">
                <a:latin typeface="Pretendard" panose="02000503000000020004" pitchFamily="50" charset="-127"/>
                <a:ea typeface="Pretendard" panose="02000503000000020004" pitchFamily="50" charset="-127"/>
                <a:cs typeface="Pretendard" panose="02000503000000020004" pitchFamily="50" charset="-127"/>
              </a:rPr>
              <a:t> 기반 동적 에이전트 시스템이 교정된 </a:t>
            </a:r>
            <a:r>
              <a:rPr lang="ko-KR" altLang="ko-KR" sz="1050" dirty="0" err="1">
                <a:latin typeface="Pretendard" panose="02000503000000020004" pitchFamily="50" charset="-127"/>
                <a:ea typeface="Pretendard" panose="02000503000000020004" pitchFamily="50" charset="-127"/>
                <a:cs typeface="Pretendard" panose="02000503000000020004" pitchFamily="50" charset="-127"/>
              </a:rPr>
              <a:t>s</a:t>
            </a:r>
            <a:r>
              <a:rPr lang="ko-KR" altLang="ko-KR" sz="1050" dirty="0">
                <a:latin typeface="Pretendard" panose="02000503000000020004" pitchFamily="50" charset="-127"/>
                <a:ea typeface="Pretendard" panose="02000503000000020004" pitchFamily="50" charset="-127"/>
                <a:cs typeface="Pretendard" panose="02000503000000020004" pitchFamily="50" charset="-127"/>
              </a:rPr>
              <a:t>* 출력을 입력으로 </a:t>
            </a:r>
            <a:endParaRPr lang="en-US" altLang="ko-KR" sz="1050" dirty="0">
              <a:latin typeface="Pretendard" panose="02000503000000020004" pitchFamily="50" charset="-127"/>
              <a:ea typeface="Pretendard" panose="02000503000000020004" pitchFamily="50" charset="-127"/>
              <a:cs typeface="Pretendard" panose="02000503000000020004" pitchFamily="50" charset="-127"/>
            </a:endParaRPr>
          </a:p>
          <a:p>
            <a:pPr algn="ctr">
              <a:lnSpc>
                <a:spcPct val="105000"/>
              </a:lnSpc>
            </a:pPr>
            <a:r>
              <a:rPr lang="ko-KR" altLang="ko-KR" sz="1050" dirty="0">
                <a:latin typeface="Pretendard" panose="02000503000000020004" pitchFamily="50" charset="-127"/>
                <a:ea typeface="Pretendard" panose="02000503000000020004" pitchFamily="50" charset="-127"/>
                <a:cs typeface="Pretendard" panose="02000503000000020004" pitchFamily="50" charset="-127"/>
              </a:rPr>
              <a:t>하류 궤적을 재생성</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8" name="Shape 16"/>
          <p:cNvSpPr/>
          <p:nvPr/>
        </p:nvSpPr>
        <p:spPr>
          <a:xfrm flipH="1" flipV="1">
            <a:off x="6988963" y="3394794"/>
            <a:ext cx="457200" cy="0"/>
          </a:xfrm>
          <a:prstGeom prst="line">
            <a:avLst/>
          </a:prstGeom>
          <a:noFill/>
          <a:ln w="22225">
            <a:solidFill>
              <a:srgbClr val="595959"/>
            </a:solidFill>
            <a:prstDash val="solid"/>
            <a:tailEnd type="triangle"/>
          </a:ln>
        </p:spPr>
        <p:txBody>
          <a:bodyPr/>
          <a:lstStyle/>
          <a:p>
            <a:endParaRPr/>
          </a:p>
        </p:txBody>
      </p:sp>
      <p:sp>
        <p:nvSpPr>
          <p:cNvPr id="20" name="Text 18"/>
          <p:cNvSpPr/>
          <p:nvPr/>
        </p:nvSpPr>
        <p:spPr>
          <a:xfrm>
            <a:off x="2545085" y="4297679"/>
            <a:ext cx="3931920" cy="868680"/>
          </a:xfrm>
          <a:prstGeom prst="roundRect">
            <a:avLst>
              <a:gd name="adj" fmla="val 5263"/>
            </a:avLst>
          </a:prstGeom>
          <a:solidFill>
            <a:srgbClr val="EDF2F9"/>
          </a:solidFill>
          <a:ln w="12700">
            <a:solidFill>
              <a:srgbClr val="2E5FA3"/>
            </a:solidFill>
          </a:ln>
        </p:spPr>
        <p:txBody>
          <a:bodyPr wrap="square" lIns="54864" tIns="54864" rIns="54864" bIns="54864" rtlCol="0" anchor="ctr"/>
          <a:lstStyle/>
          <a:p>
            <a:pPr marL="0" indent="0" algn="ctr">
              <a:buNone/>
            </a:pPr>
            <a:r>
              <a:rPr lang="en-US" sz="1200" b="1" dirty="0">
                <a:latin typeface="Pretendard" panose="02000503000000020004" pitchFamily="50" charset="-127"/>
                <a:ea typeface="Pretendard" panose="02000503000000020004" pitchFamily="50" charset="-127"/>
                <a:cs typeface="Pretendard" panose="02000503000000020004" pitchFamily="50" charset="-127"/>
              </a:rPr>
              <a:t>검증 (Verifier)</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a:p>
            <a:pPr marL="0" indent="0" algn="ctr">
              <a:buNone/>
            </a:pPr>
            <a:r>
              <a:rPr lang="en-US" sz="1200" b="1" dirty="0">
                <a:latin typeface="Pretendard" panose="02000503000000020004" pitchFamily="50" charset="-127"/>
                <a:ea typeface="Pretendard" panose="02000503000000020004" pitchFamily="50" charset="-127"/>
                <a:cs typeface="Pretendard" panose="02000503000000020004" pitchFamily="50" charset="-127"/>
              </a:rPr>
              <a:t>태스크 성공 조건 판정</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1" name="Text 19"/>
          <p:cNvSpPr/>
          <p:nvPr/>
        </p:nvSpPr>
        <p:spPr>
          <a:xfrm>
            <a:off x="2536616" y="5449146"/>
            <a:ext cx="3931920" cy="777240"/>
          </a:xfrm>
          <a:prstGeom prst="roundRect">
            <a:avLst>
              <a:gd name="adj" fmla="val 5882"/>
            </a:avLst>
          </a:prstGeom>
          <a:solidFill>
            <a:srgbClr val="E8F5EE"/>
          </a:solidFill>
          <a:ln w="12700">
            <a:solidFill>
              <a:srgbClr val="1E7A46"/>
            </a:solidFill>
          </a:ln>
        </p:spPr>
        <p:txBody>
          <a:bodyPr wrap="square" lIns="54864" tIns="54864" rIns="54864" bIns="54864" rtlCol="0" anchor="ctr"/>
          <a:lstStyle/>
          <a:p>
            <a:pPr marL="0" indent="0" algn="ctr">
              <a:buNone/>
            </a:pPr>
            <a:r>
              <a:rPr lang="en-US" sz="1200" b="1" dirty="0" err="1">
                <a:latin typeface="Pretendard" panose="02000503000000020004" pitchFamily="50" charset="-127"/>
                <a:ea typeface="Pretendard" panose="02000503000000020004" pitchFamily="50" charset="-127"/>
                <a:cs typeface="Pretendard" panose="02000503000000020004" pitchFamily="50" charset="-127"/>
              </a:rPr>
              <a:t>성공</a:t>
            </a:r>
            <a:r>
              <a:rPr lang="en-US" sz="1200" b="1"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200" b="1" dirty="0">
                <a:latin typeface="Pretendard" panose="02000503000000020004" pitchFamily="50" charset="-127"/>
                <a:ea typeface="Pretendard" panose="02000503000000020004" pitchFamily="50" charset="-127"/>
                <a:cs typeface="Pretendard" panose="02000503000000020004" pitchFamily="50" charset="-127"/>
              </a:rPr>
              <a:t>판정</a:t>
            </a:r>
            <a:r>
              <a:rPr lang="en-US" altLang="ko-KR" sz="1200" b="1" dirty="0">
                <a:latin typeface="Pretendard" panose="02000503000000020004" pitchFamily="50" charset="-127"/>
                <a:ea typeface="Pretendard" panose="02000503000000020004" pitchFamily="50" charset="-127"/>
                <a:cs typeface="Pretendard" panose="02000503000000020004" pitchFamily="50" charset="-127"/>
              </a:rPr>
              <a:t>: </a:t>
            </a:r>
            <a:r>
              <a:rPr lang="en-US" sz="1200" b="1" dirty="0" err="1">
                <a:latin typeface="Pretendard" panose="02000503000000020004" pitchFamily="50" charset="-127"/>
                <a:ea typeface="Pretendard" panose="02000503000000020004" pitchFamily="50" charset="-127"/>
                <a:cs typeface="Pretendard" panose="02000503000000020004" pitchFamily="50" charset="-127"/>
              </a:rPr>
              <a:t>수리</a:t>
            </a:r>
            <a:r>
              <a:rPr lang="en-US" sz="1200" b="1" dirty="0">
                <a:latin typeface="Pretendard" panose="02000503000000020004" pitchFamily="50" charset="-127"/>
                <a:ea typeface="Pretendard" panose="02000503000000020004" pitchFamily="50" charset="-127"/>
                <a:cs typeface="Pretendard" panose="02000503000000020004" pitchFamily="50" charset="-127"/>
              </a:rPr>
              <a:t> 궤적 + 수리 리포트 출력</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2" name="Text 20"/>
          <p:cNvSpPr/>
          <p:nvPr/>
        </p:nvSpPr>
        <p:spPr>
          <a:xfrm>
            <a:off x="6661573" y="5449146"/>
            <a:ext cx="4480560" cy="777240"/>
          </a:xfrm>
          <a:prstGeom prst="roundRect">
            <a:avLst>
              <a:gd name="adj" fmla="val 5882"/>
            </a:avLst>
          </a:prstGeom>
          <a:solidFill>
            <a:srgbClr val="FBEAE8"/>
          </a:solidFill>
          <a:ln w="12700">
            <a:solidFill>
              <a:srgbClr val="C0392B"/>
            </a:solidFill>
          </a:ln>
        </p:spPr>
        <p:txBody>
          <a:bodyPr wrap="square" lIns="54864" tIns="54864" rIns="54864" bIns="54864" rtlCol="0" anchor="ctr"/>
          <a:lstStyle/>
          <a:p>
            <a:pPr algn="ctr"/>
            <a:r>
              <a:rPr lang="ko-KR" altLang="ko-KR" sz="1200" b="1" dirty="0">
                <a:latin typeface="Pretendard" panose="02000503000000020004" pitchFamily="50" charset="-127"/>
                <a:ea typeface="Pretendard" panose="02000503000000020004" pitchFamily="50" charset="-127"/>
                <a:cs typeface="Pretendard" panose="02000503000000020004" pitchFamily="50" charset="-127"/>
              </a:rPr>
              <a:t>실패 판정: 교정 실패 정보를 반영해 </a:t>
            </a:r>
            <a:r>
              <a:rPr lang="ko-KR" altLang="ko-KR" sz="1200" b="1" dirty="0" err="1">
                <a:latin typeface="Pretendard" panose="02000503000000020004" pitchFamily="50" charset="-127"/>
                <a:ea typeface="Pretendard" panose="02000503000000020004" pitchFamily="50" charset="-127"/>
                <a:cs typeface="Pretendard" panose="02000503000000020004" pitchFamily="50" charset="-127"/>
              </a:rPr>
              <a:t>s</a:t>
            </a:r>
            <a:r>
              <a:rPr lang="ko-KR" altLang="ko-KR" sz="1200" b="1" dirty="0">
                <a:latin typeface="Pretendard" panose="02000503000000020004" pitchFamily="50" charset="-127"/>
                <a:ea typeface="Pretendard" panose="02000503000000020004" pitchFamily="50" charset="-127"/>
                <a:cs typeface="Pretendard" panose="02000503000000020004" pitchFamily="50" charset="-127"/>
              </a:rPr>
              <a:t>*</a:t>
            </a:r>
            <a:r>
              <a:rPr lang="ko-KR" altLang="ko-KR" sz="1200" b="1" dirty="0" err="1">
                <a:latin typeface="Pretendard" panose="02000503000000020004" pitchFamily="50" charset="-127"/>
                <a:ea typeface="Pretendard" panose="02000503000000020004" pitchFamily="50" charset="-127"/>
                <a:cs typeface="Pretendard" panose="02000503000000020004" pitchFamily="50" charset="-127"/>
              </a:rPr>
              <a:t>를</a:t>
            </a:r>
            <a:r>
              <a:rPr lang="ko-KR" altLang="ko-KR" sz="1200" b="1" dirty="0">
                <a:latin typeface="Pretendard" panose="02000503000000020004" pitchFamily="50" charset="-127"/>
                <a:ea typeface="Pretendard" panose="02000503000000020004" pitchFamily="50" charset="-127"/>
                <a:cs typeface="Pretendard" panose="02000503000000020004" pitchFamily="50" charset="-127"/>
              </a:rPr>
              <a:t> 상속점으로 </a:t>
            </a:r>
            <a:r>
              <a:rPr lang="ko-KR" altLang="ko-KR" sz="1200" b="1" dirty="0" err="1">
                <a:latin typeface="Pretendard" panose="02000503000000020004" pitchFamily="50" charset="-127"/>
                <a:ea typeface="Pretendard" panose="02000503000000020004" pitchFamily="50" charset="-127"/>
                <a:cs typeface="Pretendard" panose="02000503000000020004" pitchFamily="50" charset="-127"/>
              </a:rPr>
              <a:t>재분류</a:t>
            </a:r>
            <a:r>
              <a:rPr lang="ko-KR" altLang="ko-KR" sz="1200" b="1" dirty="0">
                <a:latin typeface="Pretendard" panose="02000503000000020004" pitchFamily="50" charset="-127"/>
                <a:ea typeface="Pretendard" panose="02000503000000020004" pitchFamily="50" charset="-127"/>
                <a:cs typeface="Pretendard" panose="02000503000000020004" pitchFamily="50" charset="-127"/>
              </a:rPr>
              <a:t>, </a:t>
            </a:r>
            <a:endParaRPr lang="en-US" altLang="ko-KR" sz="1200" b="1" dirty="0">
              <a:latin typeface="Pretendard" panose="02000503000000020004" pitchFamily="50" charset="-127"/>
              <a:ea typeface="Pretendard" panose="02000503000000020004" pitchFamily="50" charset="-127"/>
              <a:cs typeface="Pretendard" panose="02000503000000020004" pitchFamily="50" charset="-127"/>
            </a:endParaRPr>
          </a:p>
          <a:p>
            <a:pPr algn="ctr"/>
            <a:r>
              <a:rPr lang="ko-KR" altLang="ko-KR" sz="1200" b="1" dirty="0">
                <a:latin typeface="Pretendard" panose="02000503000000020004" pitchFamily="50" charset="-127"/>
                <a:ea typeface="Pretendard" panose="02000503000000020004" pitchFamily="50" charset="-127"/>
                <a:cs typeface="Pretendard" panose="02000503000000020004" pitchFamily="50" charset="-127"/>
              </a:rPr>
              <a:t>상류로 추적 재개</a:t>
            </a:r>
            <a:endParaRPr lang="en-US" sz="12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3" name="Shape 21"/>
          <p:cNvSpPr/>
          <p:nvPr/>
        </p:nvSpPr>
        <p:spPr>
          <a:xfrm>
            <a:off x="4502576" y="5174826"/>
            <a:ext cx="0" cy="274320"/>
          </a:xfrm>
          <a:prstGeom prst="line">
            <a:avLst/>
          </a:prstGeom>
          <a:noFill/>
          <a:ln w="22225">
            <a:solidFill>
              <a:srgbClr val="595959"/>
            </a:solidFill>
            <a:prstDash val="solid"/>
            <a:tailEnd type="triangle"/>
          </a:ln>
        </p:spPr>
        <p:txBody>
          <a:bodyPr/>
          <a:lstStyle/>
          <a:p>
            <a:endParaRPr/>
          </a:p>
        </p:txBody>
      </p:sp>
      <p:cxnSp>
        <p:nvCxnSpPr>
          <p:cNvPr id="32" name="연결선: 꺾임 31">
            <a:extLst>
              <a:ext uri="{FF2B5EF4-FFF2-40B4-BE49-F238E27FC236}">
                <a16:creationId xmlns:a16="http://schemas.microsoft.com/office/drawing/2014/main" id="{B32AD484-0422-40F8-9516-070B414CD3F1}"/>
              </a:ext>
            </a:extLst>
          </p:cNvPr>
          <p:cNvCxnSpPr>
            <a:cxnSpLocks/>
            <a:stCxn id="20" idx="3"/>
            <a:endCxn id="22" idx="0"/>
          </p:cNvCxnSpPr>
          <p:nvPr/>
        </p:nvCxnSpPr>
        <p:spPr>
          <a:xfrm>
            <a:off x="6477005" y="4732019"/>
            <a:ext cx="2424848" cy="717127"/>
          </a:xfrm>
          <a:prstGeom prst="bentConnector2">
            <a:avLst/>
          </a:prstGeom>
          <a:ln w="22225">
            <a:tailEnd type="triangle"/>
          </a:ln>
        </p:spPr>
        <p:style>
          <a:lnRef idx="1">
            <a:schemeClr val="dk1"/>
          </a:lnRef>
          <a:fillRef idx="0">
            <a:schemeClr val="dk1"/>
          </a:fillRef>
          <a:effectRef idx="0">
            <a:schemeClr val="dk1"/>
          </a:effectRef>
          <a:fontRef idx="minor">
            <a:schemeClr val="tx1"/>
          </a:fontRef>
        </p:style>
      </p:cxnSp>
      <p:cxnSp>
        <p:nvCxnSpPr>
          <p:cNvPr id="35" name="연결선: 꺾임 34">
            <a:extLst>
              <a:ext uri="{FF2B5EF4-FFF2-40B4-BE49-F238E27FC236}">
                <a16:creationId xmlns:a16="http://schemas.microsoft.com/office/drawing/2014/main" id="{2A00C00F-BCA6-4F33-847B-D149CA5B43B8}"/>
              </a:ext>
            </a:extLst>
          </p:cNvPr>
          <p:cNvCxnSpPr>
            <a:cxnSpLocks/>
            <a:stCxn id="5" idx="0"/>
            <a:endCxn id="22" idx="3"/>
          </p:cNvCxnSpPr>
          <p:nvPr/>
        </p:nvCxnSpPr>
        <p:spPr>
          <a:xfrm rot="16200000" flipH="1">
            <a:off x="5061723" y="-242643"/>
            <a:ext cx="4564379" cy="7596439"/>
          </a:xfrm>
          <a:prstGeom prst="bentConnector4">
            <a:avLst>
              <a:gd name="adj1" fmla="val -4637"/>
              <a:gd name="adj2" fmla="val 109028"/>
            </a:avLst>
          </a:prstGeom>
          <a:ln w="22225">
            <a:prstDash val="dash"/>
            <a:headEnd type="triangle"/>
            <a:tailEnd type="none"/>
          </a:ln>
        </p:spPr>
        <p:style>
          <a:lnRef idx="1">
            <a:schemeClr val="dk1"/>
          </a:lnRef>
          <a:fillRef idx="0">
            <a:schemeClr val="dk1"/>
          </a:fillRef>
          <a:effectRef idx="0">
            <a:schemeClr val="dk1"/>
          </a:effectRef>
          <a:fontRef idx="minor">
            <a:schemeClr val="tx1"/>
          </a:fontRef>
        </p:style>
      </p:cxnSp>
      <p:sp>
        <p:nvSpPr>
          <p:cNvPr id="25" name="타원 24">
            <a:extLst>
              <a:ext uri="{FF2B5EF4-FFF2-40B4-BE49-F238E27FC236}">
                <a16:creationId xmlns:a16="http://schemas.microsoft.com/office/drawing/2014/main" id="{58B155E6-208F-4D4F-A165-CF08DCCC1B82}"/>
              </a:ext>
            </a:extLst>
          </p:cNvPr>
          <p:cNvSpPr/>
          <p:nvPr/>
        </p:nvSpPr>
        <p:spPr>
          <a:xfrm>
            <a:off x="336422" y="1093386"/>
            <a:ext cx="360000" cy="36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b="1" dirty="0">
                <a:latin typeface="Pretendard" panose="02000503000000020004" pitchFamily="50" charset="-127"/>
                <a:ea typeface="Pretendard" panose="02000503000000020004" pitchFamily="50" charset="-127"/>
                <a:cs typeface="Pretendard" panose="02000503000000020004" pitchFamily="50" charset="-127"/>
              </a:rPr>
              <a:t>1</a:t>
            </a:r>
            <a:endParaRPr lang="ko-KR" altLang="en-US"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8" name="타원 27">
            <a:extLst>
              <a:ext uri="{FF2B5EF4-FFF2-40B4-BE49-F238E27FC236}">
                <a16:creationId xmlns:a16="http://schemas.microsoft.com/office/drawing/2014/main" id="{926A92AA-4D55-4B67-BD48-7BB22FB18BAD}"/>
              </a:ext>
            </a:extLst>
          </p:cNvPr>
          <p:cNvSpPr/>
          <p:nvPr/>
        </p:nvSpPr>
        <p:spPr>
          <a:xfrm>
            <a:off x="2467354" y="1093386"/>
            <a:ext cx="360000" cy="36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b="1" dirty="0">
                <a:latin typeface="Pretendard" panose="02000503000000020004" pitchFamily="50" charset="-127"/>
                <a:ea typeface="Pretendard" panose="02000503000000020004" pitchFamily="50" charset="-127"/>
                <a:cs typeface="Pretendard" panose="02000503000000020004" pitchFamily="50" charset="-127"/>
              </a:rPr>
              <a:t>2</a:t>
            </a:r>
            <a:endParaRPr lang="ko-KR" altLang="en-US"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9" name="타원 28">
            <a:extLst>
              <a:ext uri="{FF2B5EF4-FFF2-40B4-BE49-F238E27FC236}">
                <a16:creationId xmlns:a16="http://schemas.microsoft.com/office/drawing/2014/main" id="{9BA78570-CFE9-4A6E-8BB7-55B5F9E9E0F7}"/>
              </a:ext>
            </a:extLst>
          </p:cNvPr>
          <p:cNvSpPr/>
          <p:nvPr/>
        </p:nvSpPr>
        <p:spPr>
          <a:xfrm>
            <a:off x="4728460" y="1093386"/>
            <a:ext cx="360000" cy="36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b="1" dirty="0">
                <a:latin typeface="Pretendard" panose="02000503000000020004" pitchFamily="50" charset="-127"/>
                <a:ea typeface="Pretendard" panose="02000503000000020004" pitchFamily="50" charset="-127"/>
                <a:cs typeface="Pretendard" panose="02000503000000020004" pitchFamily="50" charset="-127"/>
              </a:rPr>
              <a:t>3</a:t>
            </a:r>
            <a:endParaRPr lang="ko-KR" altLang="en-US"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0" name="타원 29">
            <a:extLst>
              <a:ext uri="{FF2B5EF4-FFF2-40B4-BE49-F238E27FC236}">
                <a16:creationId xmlns:a16="http://schemas.microsoft.com/office/drawing/2014/main" id="{8A81174D-8BB5-44ED-8E06-7B937B21FFA3}"/>
              </a:ext>
            </a:extLst>
          </p:cNvPr>
          <p:cNvSpPr/>
          <p:nvPr/>
        </p:nvSpPr>
        <p:spPr>
          <a:xfrm>
            <a:off x="7245260" y="1093386"/>
            <a:ext cx="360000" cy="36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b="1" dirty="0">
                <a:latin typeface="Pretendard" panose="02000503000000020004" pitchFamily="50" charset="-127"/>
                <a:ea typeface="Pretendard" panose="02000503000000020004" pitchFamily="50" charset="-127"/>
                <a:cs typeface="Pretendard" panose="02000503000000020004" pitchFamily="50" charset="-127"/>
              </a:rPr>
              <a:t>4</a:t>
            </a:r>
            <a:endParaRPr lang="ko-KR" altLang="en-US"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1" name="타원 30">
            <a:extLst>
              <a:ext uri="{FF2B5EF4-FFF2-40B4-BE49-F238E27FC236}">
                <a16:creationId xmlns:a16="http://schemas.microsoft.com/office/drawing/2014/main" id="{36D27957-2905-4E02-9108-C8666B9F8C41}"/>
              </a:ext>
            </a:extLst>
          </p:cNvPr>
          <p:cNvSpPr/>
          <p:nvPr/>
        </p:nvSpPr>
        <p:spPr>
          <a:xfrm>
            <a:off x="7285397" y="2602055"/>
            <a:ext cx="360000" cy="36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b="1" dirty="0">
                <a:latin typeface="Pretendard" panose="02000503000000020004" pitchFamily="50" charset="-127"/>
                <a:ea typeface="Pretendard" panose="02000503000000020004" pitchFamily="50" charset="-127"/>
                <a:cs typeface="Pretendard" panose="02000503000000020004" pitchFamily="50" charset="-127"/>
              </a:rPr>
              <a:t>5</a:t>
            </a:r>
            <a:endParaRPr lang="ko-KR" altLang="en-US"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3" name="타원 32">
            <a:extLst>
              <a:ext uri="{FF2B5EF4-FFF2-40B4-BE49-F238E27FC236}">
                <a16:creationId xmlns:a16="http://schemas.microsoft.com/office/drawing/2014/main" id="{D6E8F984-06AD-46C6-A47E-1A0EB1C40E1F}"/>
              </a:ext>
            </a:extLst>
          </p:cNvPr>
          <p:cNvSpPr/>
          <p:nvPr/>
        </p:nvSpPr>
        <p:spPr>
          <a:xfrm>
            <a:off x="1793923" y="2602055"/>
            <a:ext cx="360000" cy="36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b="1" dirty="0">
                <a:latin typeface="Pretendard" panose="02000503000000020004" pitchFamily="50" charset="-127"/>
                <a:ea typeface="Pretendard" panose="02000503000000020004" pitchFamily="50" charset="-127"/>
                <a:cs typeface="Pretendard" panose="02000503000000020004" pitchFamily="50" charset="-127"/>
              </a:rPr>
              <a:t>6</a:t>
            </a:r>
            <a:endParaRPr lang="ko-KR" altLang="en-US"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8" name="타원 37">
            <a:extLst>
              <a:ext uri="{FF2B5EF4-FFF2-40B4-BE49-F238E27FC236}">
                <a16:creationId xmlns:a16="http://schemas.microsoft.com/office/drawing/2014/main" id="{668400B1-A117-4775-9C44-AE0296068FD7}"/>
              </a:ext>
            </a:extLst>
          </p:cNvPr>
          <p:cNvSpPr/>
          <p:nvPr/>
        </p:nvSpPr>
        <p:spPr>
          <a:xfrm>
            <a:off x="2348711" y="4117679"/>
            <a:ext cx="360000" cy="36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b="1" dirty="0">
                <a:latin typeface="Pretendard" panose="02000503000000020004" pitchFamily="50" charset="-127"/>
                <a:ea typeface="Pretendard" panose="02000503000000020004" pitchFamily="50" charset="-127"/>
                <a:cs typeface="Pretendard" panose="02000503000000020004" pitchFamily="50" charset="-127"/>
              </a:rPr>
              <a:t>7</a:t>
            </a:r>
            <a:endParaRPr lang="ko-KR" altLang="en-US"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9" name="Shape 7">
            <a:extLst>
              <a:ext uri="{FF2B5EF4-FFF2-40B4-BE49-F238E27FC236}">
                <a16:creationId xmlns:a16="http://schemas.microsoft.com/office/drawing/2014/main" id="{3F3B2E7D-EA05-4043-A995-7B30F1D8A606}"/>
              </a:ext>
            </a:extLst>
          </p:cNvPr>
          <p:cNvSpPr/>
          <p:nvPr/>
        </p:nvSpPr>
        <p:spPr>
          <a:xfrm>
            <a:off x="2194560" y="1730587"/>
            <a:ext cx="457200" cy="0"/>
          </a:xfrm>
          <a:prstGeom prst="line">
            <a:avLst/>
          </a:prstGeom>
          <a:noFill/>
          <a:ln w="22225">
            <a:solidFill>
              <a:srgbClr val="595959"/>
            </a:solidFill>
            <a:prstDash val="solid"/>
            <a:tailEnd type="triangle"/>
          </a:ln>
        </p:spPr>
        <p:txBody>
          <a:bodyPr/>
          <a:lstStyle/>
          <a:p>
            <a:endParaRPr/>
          </a:p>
        </p:txBody>
      </p:sp>
      <p:sp>
        <p:nvSpPr>
          <p:cNvPr id="40" name="Shape 7">
            <a:extLst>
              <a:ext uri="{FF2B5EF4-FFF2-40B4-BE49-F238E27FC236}">
                <a16:creationId xmlns:a16="http://schemas.microsoft.com/office/drawing/2014/main" id="{6A134BA7-A7AF-4FDA-B5AE-DA780E0794BC}"/>
              </a:ext>
            </a:extLst>
          </p:cNvPr>
          <p:cNvSpPr/>
          <p:nvPr/>
        </p:nvSpPr>
        <p:spPr>
          <a:xfrm>
            <a:off x="4439626" y="1730587"/>
            <a:ext cx="457200" cy="0"/>
          </a:xfrm>
          <a:prstGeom prst="line">
            <a:avLst/>
          </a:prstGeom>
          <a:noFill/>
          <a:ln w="22225">
            <a:solidFill>
              <a:srgbClr val="595959"/>
            </a:solidFill>
            <a:prstDash val="solid"/>
            <a:tailEnd type="triangle"/>
          </a:ln>
        </p:spPr>
        <p:txBody>
          <a:bodyPr/>
          <a:lstStyle/>
          <a:p>
            <a:endParaRPr/>
          </a:p>
        </p:txBody>
      </p:sp>
      <p:sp>
        <p:nvSpPr>
          <p:cNvPr id="42" name="Shape 7">
            <a:extLst>
              <a:ext uri="{FF2B5EF4-FFF2-40B4-BE49-F238E27FC236}">
                <a16:creationId xmlns:a16="http://schemas.microsoft.com/office/drawing/2014/main" id="{835EADE3-42CA-4F2F-8F3F-ED065A10A785}"/>
              </a:ext>
            </a:extLst>
          </p:cNvPr>
          <p:cNvSpPr/>
          <p:nvPr/>
        </p:nvSpPr>
        <p:spPr>
          <a:xfrm>
            <a:off x="6962980" y="1730587"/>
            <a:ext cx="457200" cy="0"/>
          </a:xfrm>
          <a:prstGeom prst="line">
            <a:avLst/>
          </a:prstGeom>
          <a:noFill/>
          <a:ln w="22225">
            <a:solidFill>
              <a:srgbClr val="595959"/>
            </a:solidFill>
            <a:prstDash val="solid"/>
            <a:tailEnd type="triangle"/>
          </a:ln>
        </p:spPr>
        <p:txBody>
          <a:bodyPr/>
          <a:lstStyle/>
          <a:p>
            <a:endParaRPr/>
          </a:p>
        </p:txBody>
      </p:sp>
      <p:sp>
        <p:nvSpPr>
          <p:cNvPr id="44" name="TextBox 43">
            <a:extLst>
              <a:ext uri="{FF2B5EF4-FFF2-40B4-BE49-F238E27FC236}">
                <a16:creationId xmlns:a16="http://schemas.microsoft.com/office/drawing/2014/main" id="{5C084B1A-3EC4-483B-A241-75EE447367A3}"/>
              </a:ext>
            </a:extLst>
          </p:cNvPr>
          <p:cNvSpPr txBox="1"/>
          <p:nvPr/>
        </p:nvSpPr>
        <p:spPr>
          <a:xfrm>
            <a:off x="8574892" y="2877153"/>
            <a:ext cx="1932510" cy="261610"/>
          </a:xfrm>
          <a:prstGeom prst="rect">
            <a:avLst/>
          </a:prstGeom>
          <a:noFill/>
        </p:spPr>
        <p:txBody>
          <a:bodyPr wrap="square">
            <a:spAutoFit/>
          </a:bodyPr>
          <a:lstStyle/>
          <a:p>
            <a:pPr marL="0" indent="0" algn="ctr">
              <a:buNone/>
            </a:pPr>
            <a:r>
              <a:rPr lang="ko-KR" altLang="en-US" sz="1100" b="1" dirty="0">
                <a:latin typeface="Pretendard" panose="02000503000000020004" pitchFamily="50" charset="-127"/>
                <a:ea typeface="Pretendard" panose="02000503000000020004" pitchFamily="50" charset="-127"/>
                <a:cs typeface="Pretendard" panose="02000503000000020004" pitchFamily="50" charset="-127"/>
              </a:rPr>
              <a:t>하류 궤적 재생성 시스템 구축</a:t>
            </a:r>
            <a:endParaRPr lang="en-US" altLang="ko-KR" sz="11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4" name="Shape 21">
            <a:extLst>
              <a:ext uri="{FF2B5EF4-FFF2-40B4-BE49-F238E27FC236}">
                <a16:creationId xmlns:a16="http://schemas.microsoft.com/office/drawing/2014/main" id="{703ECC8A-2FD9-43EF-8583-54F92B46FCB3}"/>
              </a:ext>
            </a:extLst>
          </p:cNvPr>
          <p:cNvSpPr/>
          <p:nvPr/>
        </p:nvSpPr>
        <p:spPr>
          <a:xfrm>
            <a:off x="4502576" y="4016587"/>
            <a:ext cx="0" cy="274320"/>
          </a:xfrm>
          <a:prstGeom prst="line">
            <a:avLst/>
          </a:prstGeom>
          <a:noFill/>
          <a:ln w="22225">
            <a:solidFill>
              <a:srgbClr val="595959"/>
            </a:solidFill>
            <a:prstDash val="solid"/>
            <a:tailEnd type="triangle"/>
          </a:ln>
        </p:spPr>
        <p:txBody>
          <a:bodyPr/>
          <a:lstStyle/>
          <a:p>
            <a:endParaRPr/>
          </a:p>
        </p:txBody>
      </p:sp>
      <p:sp>
        <p:nvSpPr>
          <p:cNvPr id="57" name="직사각형 56">
            <a:extLst>
              <a:ext uri="{FF2B5EF4-FFF2-40B4-BE49-F238E27FC236}">
                <a16:creationId xmlns:a16="http://schemas.microsoft.com/office/drawing/2014/main" id="{A0AFDB59-D15A-40EE-B32D-612D297A9E8D}"/>
              </a:ext>
            </a:extLst>
          </p:cNvPr>
          <p:cNvSpPr/>
          <p:nvPr/>
        </p:nvSpPr>
        <p:spPr>
          <a:xfrm>
            <a:off x="203200" y="790447"/>
            <a:ext cx="770468" cy="2313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tx1"/>
                </a:solidFill>
                <a:latin typeface="Pretendard" panose="02000503000000020004" pitchFamily="50" charset="-127"/>
                <a:ea typeface="Pretendard" panose="02000503000000020004" pitchFamily="50" charset="-127"/>
                <a:cs typeface="Pretendard" panose="02000503000000020004" pitchFamily="50" charset="-127"/>
              </a:rPr>
              <a:t>Phase 1</a:t>
            </a:r>
            <a:endParaRPr lang="ko-KR" altLang="en-US" sz="1200" b="1" dirty="0">
              <a:solidFill>
                <a:schemeClr val="tx1"/>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59" name="직사각형 58">
            <a:extLst>
              <a:ext uri="{FF2B5EF4-FFF2-40B4-BE49-F238E27FC236}">
                <a16:creationId xmlns:a16="http://schemas.microsoft.com/office/drawing/2014/main" id="{7D59BC58-B64F-4D1C-A96F-94DD8F5742A3}"/>
              </a:ext>
            </a:extLst>
          </p:cNvPr>
          <p:cNvSpPr/>
          <p:nvPr/>
        </p:nvSpPr>
        <p:spPr>
          <a:xfrm>
            <a:off x="4668226" y="790447"/>
            <a:ext cx="770468" cy="2313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tx1"/>
                </a:solidFill>
                <a:latin typeface="Pretendard" panose="02000503000000020004" pitchFamily="50" charset="-127"/>
                <a:ea typeface="Pretendard" panose="02000503000000020004" pitchFamily="50" charset="-127"/>
                <a:cs typeface="Pretendard" panose="02000503000000020004" pitchFamily="50" charset="-127"/>
              </a:rPr>
              <a:t>Phase 2</a:t>
            </a:r>
            <a:endParaRPr lang="ko-KR" altLang="en-US" sz="1200" b="1" dirty="0">
              <a:solidFill>
                <a:schemeClr val="tx1"/>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61" name="직사각형 60">
            <a:extLst>
              <a:ext uri="{FF2B5EF4-FFF2-40B4-BE49-F238E27FC236}">
                <a16:creationId xmlns:a16="http://schemas.microsoft.com/office/drawing/2014/main" id="{ABB60962-AD6A-472E-A5B8-4B574F3459B6}"/>
              </a:ext>
            </a:extLst>
          </p:cNvPr>
          <p:cNvSpPr/>
          <p:nvPr/>
        </p:nvSpPr>
        <p:spPr>
          <a:xfrm>
            <a:off x="203200" y="2484967"/>
            <a:ext cx="770468" cy="2313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tx1"/>
                </a:solidFill>
                <a:latin typeface="Pretendard" panose="02000503000000020004" pitchFamily="50" charset="-127"/>
                <a:ea typeface="Pretendard" panose="02000503000000020004" pitchFamily="50" charset="-127"/>
                <a:cs typeface="Pretendard" panose="02000503000000020004" pitchFamily="50" charset="-127"/>
              </a:rPr>
              <a:t>Phase 3</a:t>
            </a:r>
            <a:endParaRPr lang="ko-KR" altLang="en-US" sz="1200" b="1" dirty="0">
              <a:solidFill>
                <a:schemeClr val="tx1"/>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63" name="직사각형 62">
            <a:extLst>
              <a:ext uri="{FF2B5EF4-FFF2-40B4-BE49-F238E27FC236}">
                <a16:creationId xmlns:a16="http://schemas.microsoft.com/office/drawing/2014/main" id="{7D2C5029-2792-4804-8CB7-3023D8C9EB93}"/>
              </a:ext>
            </a:extLst>
          </p:cNvPr>
          <p:cNvSpPr/>
          <p:nvPr/>
        </p:nvSpPr>
        <p:spPr>
          <a:xfrm>
            <a:off x="203200" y="4144600"/>
            <a:ext cx="770468" cy="23138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tx1"/>
                </a:solidFill>
                <a:latin typeface="Pretendard" panose="02000503000000020004" pitchFamily="50" charset="-127"/>
                <a:ea typeface="Pretendard" panose="02000503000000020004" pitchFamily="50" charset="-127"/>
                <a:cs typeface="Pretendard" panose="02000503000000020004" pitchFamily="50" charset="-127"/>
              </a:rPr>
              <a:t>Phase 4</a:t>
            </a:r>
            <a:endParaRPr lang="ko-KR" altLang="en-US" sz="1200" b="1" dirty="0">
              <a:solidFill>
                <a:schemeClr val="tx1"/>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41" name="TextBox 40">
            <a:extLst>
              <a:ext uri="{FF2B5EF4-FFF2-40B4-BE49-F238E27FC236}">
                <a16:creationId xmlns:a16="http://schemas.microsoft.com/office/drawing/2014/main" id="{ED82FC2C-5C92-4771-8710-530FA88C391F}"/>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9</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74320"/>
            <a:ext cx="10789920" cy="502920"/>
          </a:xfrm>
          <a:prstGeom prst="rect">
            <a:avLst/>
          </a:prstGeom>
          <a:noFill/>
          <a:ln/>
        </p:spPr>
        <p:txBody>
          <a:bodyPr wrap="square" rtlCol="0" anchor="ctr"/>
          <a:lstStyle/>
          <a:p>
            <a:pPr marL="0" indent="0">
              <a:buNone/>
            </a:pPr>
            <a:r>
              <a:rPr lang="en-US" sz="24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Phase 1. </a:t>
            </a:r>
            <a:r>
              <a:rPr lang="ko-KR" altLang="en-US" sz="24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오류 귀인</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 name="Text 2"/>
          <p:cNvSpPr/>
          <p:nvPr/>
        </p:nvSpPr>
        <p:spPr>
          <a:xfrm>
            <a:off x="548640" y="879518"/>
            <a:ext cx="8417560" cy="457200"/>
          </a:xfrm>
          <a:prstGeom prst="rect">
            <a:avLst/>
          </a:prstGeom>
          <a:noFill/>
          <a:ln/>
        </p:spPr>
        <p:txBody>
          <a:bodyPr wrap="square" rtlCol="0" anchor="ctr"/>
          <a:lstStyle/>
          <a:p>
            <a:pPr marL="0" indent="0">
              <a:lnSpc>
                <a:spcPct val="105000"/>
              </a:lnSpc>
              <a:buNone/>
            </a:pPr>
            <a:r>
              <a:rPr lang="en-US" sz="1600" i="1" dirty="0">
                <a:solidFill>
                  <a:srgbClr val="595959"/>
                </a:solidFill>
                <a:latin typeface="Pretendard" panose="02000503000000020004" pitchFamily="50" charset="-127"/>
                <a:ea typeface="Pretendard" panose="02000503000000020004" pitchFamily="50" charset="-127"/>
                <a:cs typeface="Pretendard" panose="02000503000000020004" pitchFamily="50" charset="-127"/>
              </a:rPr>
              <a:t>Query : START→END로 턴당 2칸 이동(후진·파란 셀 금지), 11번째 턴 도착 셀의 6자리 hex 색상은?</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 name="Text 3"/>
          <p:cNvSpPr/>
          <p:nvPr/>
        </p:nvSpPr>
        <p:spPr>
          <a:xfrm>
            <a:off x="548640" y="1419014"/>
            <a:ext cx="685800" cy="320040"/>
          </a:xfrm>
          <a:prstGeom prst="rect">
            <a:avLst/>
          </a:prstGeom>
          <a:solidFill>
            <a:srgbClr val="1F3864"/>
          </a:solidFill>
          <a:ln/>
        </p:spPr>
        <p:txBody>
          <a:bodyPr wrap="square" rtlCol="0" anchor="ctr"/>
          <a:lstStyle/>
          <a:p>
            <a:pPr marL="0" indent="0" algn="ctr">
              <a:buNone/>
            </a:pPr>
            <a:r>
              <a:rPr lang="en-US" sz="10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Step</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4"/>
          <p:cNvSpPr/>
          <p:nvPr/>
        </p:nvSpPr>
        <p:spPr>
          <a:xfrm>
            <a:off x="1261872" y="1419014"/>
            <a:ext cx="1874520" cy="320040"/>
          </a:xfrm>
          <a:prstGeom prst="rect">
            <a:avLst/>
          </a:prstGeom>
          <a:solidFill>
            <a:srgbClr val="1F3864"/>
          </a:solidFill>
          <a:ln/>
        </p:spPr>
        <p:txBody>
          <a:bodyPr wrap="square" rtlCol="0" anchor="ctr"/>
          <a:lstStyle/>
          <a:p>
            <a:pPr marL="0" indent="0" algn="ctr">
              <a:buNone/>
            </a:pPr>
            <a:r>
              <a:rPr lang="en-US" sz="10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Agent</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5"/>
          <p:cNvSpPr/>
          <p:nvPr/>
        </p:nvSpPr>
        <p:spPr>
          <a:xfrm>
            <a:off x="3163824" y="1419014"/>
            <a:ext cx="3291840" cy="320040"/>
          </a:xfrm>
          <a:prstGeom prst="rect">
            <a:avLst/>
          </a:prstGeom>
          <a:solidFill>
            <a:srgbClr val="1F3864"/>
          </a:solidFill>
          <a:ln/>
        </p:spPr>
        <p:txBody>
          <a:bodyPr wrap="square" rtlCol="0" anchor="ctr"/>
          <a:lstStyle/>
          <a:p>
            <a:pPr marL="0" indent="0" algn="ctr">
              <a:buNone/>
            </a:pPr>
            <a:r>
              <a:rPr lang="en-US" sz="10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출력 내용 (요약)</a:t>
            </a:r>
            <a:endParaRPr lang="en-US" sz="10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6"/>
          <p:cNvSpPr/>
          <p:nvPr/>
        </p:nvSpPr>
        <p:spPr>
          <a:xfrm>
            <a:off x="548640" y="1757342"/>
            <a:ext cx="685800" cy="429768"/>
          </a:xfrm>
          <a:prstGeom prst="rect">
            <a:avLst/>
          </a:prstGeom>
          <a:solidFill>
            <a:srgbClr val="FFFFFF"/>
          </a:solidFill>
          <a:ln/>
        </p:spPr>
        <p:txBody>
          <a:bodyPr wrap="square" rtlCol="0" anchor="ctr"/>
          <a:lstStyle/>
          <a:p>
            <a:pPr marL="0" indent="0" algn="ctr">
              <a:buNone/>
            </a:pPr>
            <a:r>
              <a:rPr lang="en-US" sz="9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1</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7"/>
          <p:cNvSpPr/>
          <p:nvPr/>
        </p:nvSpPr>
        <p:spPr>
          <a:xfrm>
            <a:off x="1261872" y="1757342"/>
            <a:ext cx="1874520" cy="429768"/>
          </a:xfrm>
          <a:prstGeom prst="rect">
            <a:avLst/>
          </a:prstGeom>
          <a:solidFill>
            <a:srgbClr val="FFFFFF"/>
          </a:solidFill>
          <a:ln/>
        </p:spPr>
        <p:txBody>
          <a:bodyPr wrap="square" rtlCol="0" anchor="ctr"/>
          <a:lstStyle/>
          <a:p>
            <a:pPr marL="0" indent="0" algn="ctr">
              <a:buNone/>
            </a:pPr>
            <a:r>
              <a:rPr lang="en-US" sz="90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Excel_Expert</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 name="Text 8"/>
          <p:cNvSpPr/>
          <p:nvPr/>
        </p:nvSpPr>
        <p:spPr>
          <a:xfrm>
            <a:off x="3163824" y="1757342"/>
            <a:ext cx="3291840" cy="429768"/>
          </a:xfrm>
          <a:prstGeom prst="rect">
            <a:avLst/>
          </a:prstGeom>
          <a:solidFill>
            <a:srgbClr val="FFFFFF"/>
          </a:solidFill>
          <a:ln/>
        </p:spPr>
        <p:txBody>
          <a:bodyPr wrap="square" lIns="54864" tIns="54864" rIns="54864" bIns="54864" rtlCol="0" anchor="ctr"/>
          <a:lstStyle/>
          <a:p>
            <a:pPr marL="0" indent="0">
              <a:buNone/>
            </a:pPr>
            <a:r>
              <a:rPr lang="ko-KR" altLang="en-US" sz="900" dirty="0">
                <a:latin typeface="Pretendard" panose="02000503000000020004" pitchFamily="50" charset="-127"/>
                <a:ea typeface="Pretendard" panose="02000503000000020004" pitchFamily="50" charset="-127"/>
                <a:cs typeface="Pretendard" panose="02000503000000020004" pitchFamily="50" charset="-127"/>
              </a:rPr>
              <a:t>매니저 플랜 수신 및 작업 착수</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 5</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단계 계획</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제약 조건</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참고 코드 </a:t>
            </a:r>
            <a:r>
              <a:rPr lang="ko-KR" altLang="en-US" sz="900" dirty="0" err="1">
                <a:latin typeface="Pretendard" panose="02000503000000020004" pitchFamily="50" charset="-127"/>
                <a:ea typeface="Pretendard" panose="02000503000000020004" pitchFamily="50" charset="-127"/>
                <a:cs typeface="Pretendard" panose="02000503000000020004" pitchFamily="50" charset="-127"/>
              </a:rPr>
              <a:t>스니펫</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4</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개 포함</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0" name="Text 18"/>
          <p:cNvSpPr/>
          <p:nvPr/>
        </p:nvSpPr>
        <p:spPr>
          <a:xfrm>
            <a:off x="548640" y="2951145"/>
            <a:ext cx="685800" cy="429768"/>
          </a:xfrm>
          <a:prstGeom prst="rect">
            <a:avLst/>
          </a:prstGeom>
          <a:solidFill>
            <a:srgbClr val="FBEAE8"/>
          </a:solidFill>
          <a:ln/>
        </p:spPr>
        <p:txBody>
          <a:bodyPr wrap="square" rtlCol="0" anchor="ctr"/>
          <a:lstStyle/>
          <a:p>
            <a:pPr marL="0" indent="0" algn="ctr">
              <a:buNone/>
            </a:pPr>
            <a:r>
              <a:rPr lang="en-US" sz="950" b="1" dirty="0">
                <a:solidFill>
                  <a:srgbClr val="C0392B"/>
                </a:solidFill>
                <a:latin typeface="Pretendard" panose="02000503000000020004" pitchFamily="50" charset="-127"/>
                <a:ea typeface="Pretendard" panose="02000503000000020004" pitchFamily="50" charset="-127"/>
                <a:cs typeface="Pretendard" panose="02000503000000020004" pitchFamily="50" charset="-127"/>
              </a:rPr>
              <a:t>5</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1" name="Text 19"/>
          <p:cNvSpPr/>
          <p:nvPr/>
        </p:nvSpPr>
        <p:spPr>
          <a:xfrm>
            <a:off x="1261872" y="2951145"/>
            <a:ext cx="1874520" cy="429768"/>
          </a:xfrm>
          <a:prstGeom prst="rect">
            <a:avLst/>
          </a:prstGeom>
          <a:solidFill>
            <a:srgbClr val="FBEAE8"/>
          </a:solidFill>
          <a:ln/>
        </p:spPr>
        <p:txBody>
          <a:bodyPr wrap="square" rtlCol="0" anchor="ctr"/>
          <a:lstStyle/>
          <a:p>
            <a:pPr marL="0" indent="0" algn="ctr">
              <a:buNone/>
            </a:pPr>
            <a:r>
              <a:rPr lang="en-US" sz="900" b="1" dirty="0">
                <a:solidFill>
                  <a:srgbClr val="C0392B"/>
                </a:solidFill>
                <a:latin typeface="Pretendard" panose="02000503000000020004" pitchFamily="50" charset="-127"/>
                <a:ea typeface="Pretendard" panose="02000503000000020004" pitchFamily="50" charset="-127"/>
                <a:cs typeface="Pretendard" panose="02000503000000020004" pitchFamily="50" charset="-127"/>
              </a:rPr>
              <a:t>Algorithm </a:t>
            </a:r>
            <a:r>
              <a:rPr lang="en-US" sz="900" b="1" dirty="0" err="1">
                <a:solidFill>
                  <a:srgbClr val="C0392B"/>
                </a:solidFill>
                <a:latin typeface="Pretendard" panose="02000503000000020004" pitchFamily="50" charset="-127"/>
                <a:ea typeface="Pretendard" panose="02000503000000020004" pitchFamily="50" charset="-127"/>
                <a:cs typeface="Pretendard" panose="02000503000000020004" pitchFamily="50" charset="-127"/>
              </a:rPr>
              <a:t>Design_Expert</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2" name="Text 20"/>
          <p:cNvSpPr/>
          <p:nvPr/>
        </p:nvSpPr>
        <p:spPr>
          <a:xfrm>
            <a:off x="3163824" y="2951145"/>
            <a:ext cx="3291840" cy="429768"/>
          </a:xfrm>
          <a:prstGeom prst="rect">
            <a:avLst/>
          </a:prstGeom>
          <a:solidFill>
            <a:srgbClr val="FBEAE8"/>
          </a:solidFill>
          <a:ln/>
        </p:spPr>
        <p:txBody>
          <a:bodyPr wrap="square" lIns="54864" tIns="54864" rIns="54864" bIns="54864" rtlCol="0" anchor="ctr"/>
          <a:lstStyle/>
          <a:p>
            <a:pPr marL="0" indent="0">
              <a:buNone/>
            </a:pPr>
            <a:r>
              <a:rPr lang="en-US" altLang="ko-KR" sz="900" b="1" dirty="0">
                <a:solidFill>
                  <a:srgbClr val="FF0000"/>
                </a:solidFill>
                <a:effectLst/>
                <a:latin typeface="Pretendard" panose="02000503000000020004" pitchFamily="50" charset="-127"/>
                <a:ea typeface="Pretendard" panose="02000503000000020004" pitchFamily="50" charset="-127"/>
                <a:cs typeface="Pretendard" panose="02000503000000020004" pitchFamily="50" charset="-127"/>
              </a:rPr>
              <a:t>BFS </a:t>
            </a:r>
            <a:r>
              <a:rPr lang="ko-KR" altLang="en-US" sz="900" b="1" dirty="0">
                <a:solidFill>
                  <a:srgbClr val="FF0000"/>
                </a:solidFill>
                <a:effectLst/>
                <a:latin typeface="Pretendard" panose="02000503000000020004" pitchFamily="50" charset="-127"/>
                <a:ea typeface="Pretendard" panose="02000503000000020004" pitchFamily="50" charset="-127"/>
                <a:cs typeface="Pretendard" panose="02000503000000020004" pitchFamily="50" charset="-127"/>
              </a:rPr>
              <a:t>경로 탐색 알고리즘 구현 및 색상 조회 코드 제출 ← 결정적 오류</a:t>
            </a:r>
            <a:endParaRPr lang="en-US" sz="900" dirty="0">
              <a:solidFill>
                <a:srgbClr val="FF0000"/>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26" name="Text 24"/>
          <p:cNvSpPr/>
          <p:nvPr/>
        </p:nvSpPr>
        <p:spPr>
          <a:xfrm>
            <a:off x="548640" y="3687744"/>
            <a:ext cx="685800" cy="429768"/>
          </a:xfrm>
          <a:prstGeom prst="rect">
            <a:avLst/>
          </a:prstGeom>
          <a:solidFill>
            <a:srgbClr val="FDF3E1"/>
          </a:solidFill>
          <a:ln/>
        </p:spPr>
        <p:txBody>
          <a:bodyPr wrap="square" rtlCol="0" anchor="ctr"/>
          <a:lstStyle/>
          <a:p>
            <a:pPr marL="0" indent="0" algn="ctr">
              <a:buNone/>
            </a:pPr>
            <a:r>
              <a:rPr lang="en-US" sz="9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10</a:t>
            </a:r>
            <a:endParaRPr lang="en-US" sz="9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7" name="Text 25"/>
          <p:cNvSpPr/>
          <p:nvPr/>
        </p:nvSpPr>
        <p:spPr>
          <a:xfrm>
            <a:off x="1261872" y="3687744"/>
            <a:ext cx="1874520" cy="429768"/>
          </a:xfrm>
          <a:prstGeom prst="rect">
            <a:avLst/>
          </a:prstGeom>
          <a:solidFill>
            <a:srgbClr val="FDF3E1"/>
          </a:solidFill>
          <a:ln/>
        </p:spPr>
        <p:txBody>
          <a:bodyPr wrap="square" rtlCol="0" anchor="ctr"/>
          <a:lstStyle/>
          <a:p>
            <a:pPr marL="0" indent="0" algn="ctr">
              <a:buNone/>
            </a:pPr>
            <a:r>
              <a:rPr lang="en-US" sz="90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Final </a:t>
            </a:r>
            <a:r>
              <a:rPr lang="en-US" sz="900" b="1" dirty="0" err="1">
                <a:solidFill>
                  <a:srgbClr val="1F3864"/>
                </a:solidFill>
                <a:latin typeface="Pretendard" panose="02000503000000020004" pitchFamily="50" charset="-127"/>
                <a:ea typeface="Pretendard" panose="02000503000000020004" pitchFamily="50" charset="-127"/>
                <a:cs typeface="Pretendard" panose="02000503000000020004" pitchFamily="50" charset="-127"/>
              </a:rPr>
              <a:t>Verification_Expert</a:t>
            </a:r>
            <a:endParaRPr lang="en-US" sz="9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8" name="Text 26"/>
          <p:cNvSpPr/>
          <p:nvPr/>
        </p:nvSpPr>
        <p:spPr>
          <a:xfrm>
            <a:off x="3163824" y="3687744"/>
            <a:ext cx="3291840" cy="429768"/>
          </a:xfrm>
          <a:prstGeom prst="rect">
            <a:avLst/>
          </a:prstGeom>
          <a:solidFill>
            <a:srgbClr val="FDF3E1"/>
          </a:solidFill>
          <a:ln/>
        </p:spPr>
        <p:txBody>
          <a:bodyPr wrap="square" lIns="54864" tIns="54864" rIns="54864" bIns="54864" rtlCol="0" anchor="ctr"/>
          <a:lstStyle/>
          <a:p>
            <a:r>
              <a:rPr lang="ko-KR" altLang="en-US" sz="900" b="1" dirty="0">
                <a:solidFill>
                  <a:srgbClr val="FF0000"/>
                </a:solidFill>
                <a:latin typeface="Pretendard" panose="02000503000000020004" pitchFamily="50" charset="-127"/>
                <a:ea typeface="Pretendard" panose="02000503000000020004" pitchFamily="50" charset="-127"/>
                <a:cs typeface="Pretendard" panose="02000503000000020004" pitchFamily="50" charset="-127"/>
              </a:rPr>
              <a:t>위 결론에 동의</a:t>
            </a:r>
            <a:r>
              <a:rPr lang="en-US" altLang="ko-KR" sz="900" b="1" dirty="0">
                <a:solidFill>
                  <a:srgbClr val="FF000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900" b="1" dirty="0">
                <a:solidFill>
                  <a:srgbClr val="FF0000"/>
                </a:solidFill>
                <a:latin typeface="Pretendard" panose="02000503000000020004" pitchFamily="50" charset="-127"/>
                <a:ea typeface="Pretendard" panose="02000503000000020004" pitchFamily="50" charset="-127"/>
                <a:cs typeface="Pretendard" panose="02000503000000020004" pitchFamily="50" charset="-127"/>
              </a:rPr>
              <a:t>색상 데이터 부재로 작업 종료를 제안 → </a:t>
            </a:r>
            <a:r>
              <a:rPr lang="en-US" altLang="ko-KR" sz="900" b="1" dirty="0">
                <a:solidFill>
                  <a:srgbClr val="FF0000"/>
                </a:solidFill>
                <a:effectLst/>
                <a:latin typeface="Pretendard" panose="02000503000000020004" pitchFamily="50" charset="-127"/>
                <a:ea typeface="Pretendard" panose="02000503000000020004" pitchFamily="50" charset="-127"/>
                <a:cs typeface="Pretendard" panose="02000503000000020004" pitchFamily="50" charset="-127"/>
              </a:rPr>
              <a:t>Task </a:t>
            </a:r>
            <a:r>
              <a:rPr lang="ko-KR" altLang="en-US" sz="900" b="1" dirty="0">
                <a:solidFill>
                  <a:srgbClr val="FF0000"/>
                </a:solidFill>
                <a:effectLst/>
                <a:latin typeface="Pretendard" panose="02000503000000020004" pitchFamily="50" charset="-127"/>
                <a:ea typeface="Pretendard" panose="02000503000000020004" pitchFamily="50" charset="-127"/>
                <a:cs typeface="Pretendard" panose="02000503000000020004" pitchFamily="50" charset="-127"/>
              </a:rPr>
              <a:t>실패</a:t>
            </a:r>
            <a:endParaRPr lang="en-US" sz="900" b="1" dirty="0">
              <a:solidFill>
                <a:srgbClr val="FF0000"/>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33" name="Shape 31"/>
          <p:cNvSpPr/>
          <p:nvPr/>
        </p:nvSpPr>
        <p:spPr>
          <a:xfrm>
            <a:off x="6510528" y="2927774"/>
            <a:ext cx="576072" cy="0"/>
          </a:xfrm>
          <a:prstGeom prst="line">
            <a:avLst/>
          </a:prstGeom>
          <a:noFill/>
          <a:ln w="28575">
            <a:solidFill>
              <a:srgbClr val="1F3864"/>
            </a:solidFill>
            <a:prstDash val="solid"/>
            <a:tailEnd type="triangle"/>
          </a:ln>
        </p:spPr>
        <p:txBody>
          <a:bodyPr/>
          <a:lstStyle/>
          <a:p>
            <a:endParaRPr/>
          </a:p>
        </p:txBody>
      </p:sp>
      <p:sp>
        <p:nvSpPr>
          <p:cNvPr id="34" name="Text 32"/>
          <p:cNvSpPr/>
          <p:nvPr/>
        </p:nvSpPr>
        <p:spPr>
          <a:xfrm>
            <a:off x="7132320" y="1413933"/>
            <a:ext cx="4572000" cy="320040"/>
          </a:xfrm>
          <a:prstGeom prst="rect">
            <a:avLst/>
          </a:prstGeom>
          <a:noFill/>
          <a:ln/>
        </p:spPr>
        <p:txBody>
          <a:bodyPr wrap="square" rtlCol="0" anchor="ctr"/>
          <a:lstStyle/>
          <a:p>
            <a:pPr marL="0" indent="0">
              <a:buNone/>
            </a:pPr>
            <a:r>
              <a:rPr lang="en-US" sz="125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출력: 역방향 추적 귀인 실행 결과</a:t>
            </a:r>
            <a:endParaRPr lang="en-US" sz="12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5" name="Text 33"/>
          <p:cNvSpPr/>
          <p:nvPr/>
        </p:nvSpPr>
        <p:spPr>
          <a:xfrm>
            <a:off x="7132320" y="1779693"/>
            <a:ext cx="4526280" cy="2286000"/>
          </a:xfrm>
          <a:prstGeom prst="roundRect">
            <a:avLst>
              <a:gd name="adj" fmla="val 2000"/>
            </a:avLst>
          </a:prstGeom>
          <a:solidFill>
            <a:srgbClr val="FFFFFF"/>
          </a:solidFill>
          <a:ln w="15875">
            <a:solidFill>
              <a:srgbClr val="C0392B"/>
            </a:solidFill>
          </a:ln>
        </p:spPr>
        <p:txBody>
          <a:bodyPr wrap="square" lIns="64008" tIns="64008" rIns="64008" bIns="64008" rtlCol="0" anchor="ctr"/>
          <a:lstStyle/>
          <a:p>
            <a:pPr marL="0" indent="0" algn="ctr">
              <a:buNone/>
            </a:pP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6" name="Text 34"/>
          <p:cNvSpPr/>
          <p:nvPr/>
        </p:nvSpPr>
        <p:spPr>
          <a:xfrm>
            <a:off x="7315200" y="1916853"/>
            <a:ext cx="4160520" cy="2011680"/>
          </a:xfrm>
          <a:prstGeom prst="rect">
            <a:avLst/>
          </a:prstGeom>
          <a:noFill/>
          <a:ln/>
        </p:spPr>
        <p:txBody>
          <a:bodyPr wrap="square" rtlCol="0" anchor="ctr"/>
          <a:lstStyle/>
          <a:p>
            <a:pPr marL="0" indent="0">
              <a:lnSpc>
                <a:spcPct val="125000"/>
              </a:lnSpc>
              <a:buNone/>
            </a:pPr>
            <a:r>
              <a:rPr lang="en-US" sz="115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Decisive Error Agent: </a:t>
            </a:r>
            <a:r>
              <a:rPr lang="en-US" sz="1150" b="1" dirty="0">
                <a:solidFill>
                  <a:srgbClr val="C0392B"/>
                </a:solidFill>
                <a:latin typeface="Pretendard" panose="02000503000000020004" pitchFamily="50" charset="-127"/>
                <a:ea typeface="Pretendard" panose="02000503000000020004" pitchFamily="50" charset="-127"/>
                <a:cs typeface="Pretendard" panose="02000503000000020004" pitchFamily="50" charset="-127"/>
              </a:rPr>
              <a:t>AlgorithmDesign_Expert
</a:t>
            </a:r>
            <a:r>
              <a:rPr lang="en-US" sz="115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Decisive Error Step: </a:t>
            </a:r>
            <a:r>
              <a:rPr lang="en-US" sz="1150" b="1" dirty="0">
                <a:solidFill>
                  <a:srgbClr val="C0392B"/>
                </a:solidFill>
                <a:latin typeface="Pretendard" panose="02000503000000020004" pitchFamily="50" charset="-127"/>
                <a:ea typeface="Pretendard" panose="02000503000000020004" pitchFamily="50" charset="-127"/>
                <a:cs typeface="Pretendard" panose="02000503000000020004" pitchFamily="50" charset="-127"/>
              </a:rPr>
              <a:t>5
</a:t>
            </a:r>
            <a:r>
              <a:rPr lang="en-US" sz="115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Reason: </a:t>
            </a:r>
            <a:r>
              <a:rPr lang="en-US" sz="11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BFS 구현이 파란 셀 회피 요건을 올바르게 반영하지 못해, 잘못된 경로 탐색과 잘못된 최종 셀 선택으로 이어짐</a:t>
            </a:r>
            <a:endParaRPr lang="en-US" sz="11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8" name="Text 36"/>
          <p:cNvSpPr/>
          <p:nvPr/>
        </p:nvSpPr>
        <p:spPr>
          <a:xfrm>
            <a:off x="1057805" y="4670891"/>
            <a:ext cx="9680149" cy="650947"/>
          </a:xfrm>
          <a:prstGeom prst="rect">
            <a:avLst/>
          </a:prstGeom>
          <a:noFill/>
          <a:ln/>
        </p:spPr>
        <p:txBody>
          <a:bodyPr wrap="square" rtlCol="0" anchor="ctr"/>
          <a:lstStyle/>
          <a:p>
            <a:pPr marL="0" indent="0" algn="ctr">
              <a:buNone/>
            </a:pPr>
            <a:r>
              <a:rPr lang="en-US"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역방향 추적: Step 10(상속) → Step 8(상속) → Step 5(발생) ⇒ Decisive Error Step s* = 5</a:t>
            </a:r>
            <a:endParaRPr 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3" name="TextBox 52">
            <a:extLst>
              <a:ext uri="{FF2B5EF4-FFF2-40B4-BE49-F238E27FC236}">
                <a16:creationId xmlns:a16="http://schemas.microsoft.com/office/drawing/2014/main" id="{48DCC5B6-0E6A-491C-B523-C5E4C9021C29}"/>
              </a:ext>
            </a:extLst>
          </p:cNvPr>
          <p:cNvSpPr txBox="1"/>
          <p:nvPr/>
        </p:nvSpPr>
        <p:spPr>
          <a:xfrm>
            <a:off x="3243887" y="2642603"/>
            <a:ext cx="461665" cy="287899"/>
          </a:xfrm>
          <a:prstGeom prst="rect">
            <a:avLst/>
          </a:prstGeom>
          <a:noFill/>
        </p:spPr>
        <p:txBody>
          <a:bodyPr vert="eaVert" wrap="none" rtlCol="0">
            <a:spAutoFit/>
          </a:bodyPr>
          <a:lstStyle/>
          <a:p>
            <a:r>
              <a:rPr lang="en-US" altLang="ko-KR" b="1" dirty="0">
                <a:latin typeface="Pretendard" panose="02000503000000020004" pitchFamily="50" charset="-127"/>
                <a:ea typeface="Pretendard" panose="02000503000000020004" pitchFamily="50" charset="-127"/>
                <a:cs typeface="Pretendard" panose="02000503000000020004" pitchFamily="50" charset="-127"/>
              </a:rPr>
              <a:t>…</a:t>
            </a:r>
            <a:endParaRPr lang="ko-KR" altLang="en-US"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4" name="TextBox 53">
            <a:extLst>
              <a:ext uri="{FF2B5EF4-FFF2-40B4-BE49-F238E27FC236}">
                <a16:creationId xmlns:a16="http://schemas.microsoft.com/office/drawing/2014/main" id="{3FC3A024-FF34-4113-B446-AC11C844C8BC}"/>
              </a:ext>
            </a:extLst>
          </p:cNvPr>
          <p:cNvSpPr txBox="1"/>
          <p:nvPr/>
        </p:nvSpPr>
        <p:spPr>
          <a:xfrm>
            <a:off x="3243887" y="3394766"/>
            <a:ext cx="461665" cy="287899"/>
          </a:xfrm>
          <a:prstGeom prst="rect">
            <a:avLst/>
          </a:prstGeom>
          <a:noFill/>
        </p:spPr>
        <p:txBody>
          <a:bodyPr vert="eaVert" wrap="none" rtlCol="0">
            <a:spAutoFit/>
          </a:bodyPr>
          <a:lstStyle/>
          <a:p>
            <a:r>
              <a:rPr lang="en-US" altLang="ko-KR" b="1" dirty="0">
                <a:latin typeface="Pretendard" panose="02000503000000020004" pitchFamily="50" charset="-127"/>
                <a:ea typeface="Pretendard" panose="02000503000000020004" pitchFamily="50" charset="-127"/>
                <a:cs typeface="Pretendard" panose="02000503000000020004" pitchFamily="50" charset="-127"/>
              </a:rPr>
              <a:t>…</a:t>
            </a:r>
            <a:endParaRPr lang="ko-KR" altLang="en-US"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8" name="Text 9">
            <a:extLst>
              <a:ext uri="{FF2B5EF4-FFF2-40B4-BE49-F238E27FC236}">
                <a16:creationId xmlns:a16="http://schemas.microsoft.com/office/drawing/2014/main" id="{87410B19-41A6-4B17-B998-3E32C0EE8CA3}"/>
              </a:ext>
            </a:extLst>
          </p:cNvPr>
          <p:cNvSpPr/>
          <p:nvPr/>
        </p:nvSpPr>
        <p:spPr>
          <a:xfrm>
            <a:off x="548640" y="2214542"/>
            <a:ext cx="685800" cy="429768"/>
          </a:xfrm>
          <a:prstGeom prst="rect">
            <a:avLst/>
          </a:prstGeom>
          <a:solidFill>
            <a:srgbClr val="F5F8FC"/>
          </a:solidFill>
          <a:ln/>
        </p:spPr>
        <p:txBody>
          <a:bodyPr wrap="square" rtlCol="0" anchor="ctr"/>
          <a:lstStyle/>
          <a:p>
            <a:pPr marL="0" indent="0" algn="ctr">
              <a:buNone/>
            </a:pPr>
            <a:r>
              <a:rPr lang="en-US" sz="950" dirty="0">
                <a:solidFill>
                  <a:srgbClr val="1A1A1A"/>
                </a:solidFill>
                <a:latin typeface="Malgun Gothic" pitchFamily="34" charset="0"/>
                <a:ea typeface="Malgun Gothic" pitchFamily="34" charset="-122"/>
                <a:cs typeface="Malgun Gothic" pitchFamily="34" charset="-120"/>
              </a:rPr>
              <a:t>2</a:t>
            </a:r>
            <a:endParaRPr lang="en-US" sz="950" dirty="0"/>
          </a:p>
        </p:txBody>
      </p:sp>
      <p:sp>
        <p:nvSpPr>
          <p:cNvPr id="59" name="Text 10">
            <a:extLst>
              <a:ext uri="{FF2B5EF4-FFF2-40B4-BE49-F238E27FC236}">
                <a16:creationId xmlns:a16="http://schemas.microsoft.com/office/drawing/2014/main" id="{FC973D96-A9C1-41CA-9982-47D3ECE2EC34}"/>
              </a:ext>
            </a:extLst>
          </p:cNvPr>
          <p:cNvSpPr/>
          <p:nvPr/>
        </p:nvSpPr>
        <p:spPr>
          <a:xfrm>
            <a:off x="1261872" y="2214542"/>
            <a:ext cx="1874520" cy="429768"/>
          </a:xfrm>
          <a:prstGeom prst="rect">
            <a:avLst/>
          </a:prstGeom>
          <a:solidFill>
            <a:srgbClr val="F5F8FC"/>
          </a:solidFill>
          <a:ln/>
        </p:spPr>
        <p:txBody>
          <a:bodyPr wrap="square" rtlCol="0" anchor="ctr"/>
          <a:lstStyle/>
          <a:p>
            <a:pPr algn="ctr"/>
            <a:r>
              <a:rPr lang="en-US" sz="900" b="1" dirty="0" err="1">
                <a:solidFill>
                  <a:srgbClr val="1F3864"/>
                </a:solidFill>
                <a:latin typeface="Pretendard" panose="02000503000000020004" pitchFamily="50" charset="-127"/>
                <a:ea typeface="Pretendard" panose="02000503000000020004" pitchFamily="50" charset="-127"/>
                <a:cs typeface="Pretendard" panose="02000503000000020004" pitchFamily="50" charset="-127"/>
              </a:rPr>
              <a:t>Computer_terminal</a:t>
            </a:r>
            <a:endParaRPr lang="en-US" sz="90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60" name="Text 11">
            <a:extLst>
              <a:ext uri="{FF2B5EF4-FFF2-40B4-BE49-F238E27FC236}">
                <a16:creationId xmlns:a16="http://schemas.microsoft.com/office/drawing/2014/main" id="{16045D92-212C-4C08-B800-903D3C0BF47A}"/>
              </a:ext>
            </a:extLst>
          </p:cNvPr>
          <p:cNvSpPr/>
          <p:nvPr/>
        </p:nvSpPr>
        <p:spPr>
          <a:xfrm>
            <a:off x="3163824" y="2214542"/>
            <a:ext cx="3291840" cy="429768"/>
          </a:xfrm>
          <a:prstGeom prst="rect">
            <a:avLst/>
          </a:prstGeom>
          <a:solidFill>
            <a:srgbClr val="F5F8FC"/>
          </a:solidFill>
          <a:ln/>
        </p:spPr>
        <p:txBody>
          <a:bodyPr wrap="square" lIns="54864" tIns="54864" rIns="54864" bIns="54864" rtlCol="0" anchor="ctr"/>
          <a:lstStyle/>
          <a:p>
            <a:r>
              <a:rPr lang="en-US" altLang="ko-KR" sz="900" dirty="0" err="1">
                <a:effectLst/>
                <a:latin typeface="Pretendard" panose="02000503000000020004" pitchFamily="50" charset="-127"/>
                <a:ea typeface="Pretendard" panose="02000503000000020004" pitchFamily="50" charset="-127"/>
                <a:cs typeface="Pretendard" panose="02000503000000020004" pitchFamily="50" charset="-127"/>
              </a:rPr>
              <a:t>exitcode</a:t>
            </a:r>
            <a:r>
              <a:rPr lang="en-US" altLang="ko-KR" sz="900" dirty="0">
                <a:effectLst/>
                <a:latin typeface="Pretendard" panose="02000503000000020004" pitchFamily="50" charset="-127"/>
                <a:ea typeface="Pretendard" panose="02000503000000020004" pitchFamily="50" charset="-127"/>
                <a:cs typeface="Pretendard" panose="02000503000000020004" pitchFamily="50" charset="-127"/>
              </a:rPr>
              <a:t>: 1</a:t>
            </a:r>
            <a:endParaRPr lang="ko-KR" altLang="en-US" sz="900" dirty="0">
              <a:effectLst/>
              <a:latin typeface="Pretendard" panose="02000503000000020004" pitchFamily="50" charset="-127"/>
              <a:ea typeface="Pretendard" panose="02000503000000020004" pitchFamily="50" charset="-127"/>
              <a:cs typeface="Pretendard" panose="02000503000000020004" pitchFamily="50" charset="-127"/>
            </a:endParaRPr>
          </a:p>
          <a:p>
            <a:r>
              <a:rPr lang="en-US" altLang="ko-KR" sz="900" dirty="0">
                <a:latin typeface="Pretendard" panose="02000503000000020004" pitchFamily="50" charset="-127"/>
                <a:ea typeface="Pretendard" panose="02000503000000020004" pitchFamily="50" charset="-127"/>
                <a:cs typeface="Pretendard" panose="02000503000000020004" pitchFamily="50" charset="-127"/>
              </a:rPr>
              <a:t>— </a:t>
            </a:r>
            <a:r>
              <a:rPr lang="en-US" altLang="ko-KR" sz="900" dirty="0" err="1">
                <a:latin typeface="Pretendard" panose="02000503000000020004" pitchFamily="50" charset="-127"/>
                <a:ea typeface="Pretendard" panose="02000503000000020004" pitchFamily="50" charset="-127"/>
                <a:cs typeface="Pretendard" panose="02000503000000020004" pitchFamily="50" charset="-127"/>
              </a:rPr>
              <a:t>IndentationError</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참고 </a:t>
            </a:r>
            <a:r>
              <a:rPr lang="ko-KR" altLang="en-US" sz="900" dirty="0" err="1">
                <a:latin typeface="Pretendard" panose="02000503000000020004" pitchFamily="50" charset="-127"/>
                <a:ea typeface="Pretendard" panose="02000503000000020004" pitchFamily="50" charset="-127"/>
                <a:cs typeface="Pretendard" panose="02000503000000020004" pitchFamily="50" charset="-127"/>
              </a:rPr>
              <a:t>스니펫의</a:t>
            </a:r>
            <a:r>
              <a:rPr lang="ko-KR" altLang="en-US" sz="900" dirty="0">
                <a:latin typeface="Pretendard" panose="02000503000000020004" pitchFamily="50" charset="-127"/>
                <a:ea typeface="Pretendard" panose="02000503000000020004" pitchFamily="50" charset="-127"/>
                <a:cs typeface="Pretendard" panose="02000503000000020004" pitchFamily="50" charset="-127"/>
              </a:rPr>
              <a:t> 들여쓰기 문제</a:t>
            </a:r>
            <a:r>
              <a:rPr lang="en-US" altLang="ko-KR" sz="900" dirty="0">
                <a:latin typeface="Pretendard" panose="02000503000000020004" pitchFamily="50" charset="-127"/>
                <a:ea typeface="Pretendard" panose="02000503000000020004" pitchFamily="50" charset="-127"/>
                <a:cs typeface="Pretendard" panose="02000503000000020004" pitchFamily="50" charset="-127"/>
              </a:rPr>
              <a:t>)</a:t>
            </a:r>
            <a:endParaRPr lang="en-US" sz="9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endParaRPr>
          </a:p>
        </p:txBody>
      </p:sp>
      <p:sp>
        <p:nvSpPr>
          <p:cNvPr id="29" name="TextBox 28">
            <a:extLst>
              <a:ext uri="{FF2B5EF4-FFF2-40B4-BE49-F238E27FC236}">
                <a16:creationId xmlns:a16="http://schemas.microsoft.com/office/drawing/2014/main" id="{5BFF5356-6767-41F7-8D03-5FBA8A71974F}"/>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10</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0" name="TextBox 29">
            <a:extLst>
              <a:ext uri="{FF2B5EF4-FFF2-40B4-BE49-F238E27FC236}">
                <a16:creationId xmlns:a16="http://schemas.microsoft.com/office/drawing/2014/main" id="{280EF443-7A21-4582-BF84-6786E7EABAE7}"/>
              </a:ext>
            </a:extLst>
          </p:cNvPr>
          <p:cNvSpPr txBox="1"/>
          <p:nvPr/>
        </p:nvSpPr>
        <p:spPr>
          <a:xfrm>
            <a:off x="502920" y="4184261"/>
            <a:ext cx="4187866" cy="276999"/>
          </a:xfrm>
          <a:prstGeom prst="rect">
            <a:avLst/>
          </a:prstGeom>
          <a:noFill/>
        </p:spPr>
        <p:txBody>
          <a:bodyPr wrap="square">
            <a:spAutoFit/>
          </a:bodyPr>
          <a:lstStyle/>
          <a:p>
            <a:r>
              <a:rPr lang="ko-KR" altLang="en-US" sz="1200" dirty="0">
                <a:latin typeface="Pretendard" panose="02000503000000020004" pitchFamily="50" charset="-127"/>
                <a:ea typeface="Pretendard" panose="02000503000000020004" pitchFamily="50" charset="-127"/>
                <a:cs typeface="Pretendard" panose="02000503000000020004" pitchFamily="50" charset="-127"/>
                <a:hlinkClick r:id="rId3"/>
              </a:rPr>
              <a:t>상호작용 로그</a:t>
            </a:r>
            <a:r>
              <a:rPr lang="en-US" altLang="ko-KR" sz="1200" dirty="0">
                <a:latin typeface="Pretendard" panose="02000503000000020004" pitchFamily="50" charset="-127"/>
                <a:ea typeface="Pretendard" panose="02000503000000020004" pitchFamily="50" charset="-127"/>
                <a:cs typeface="Pretendard" panose="02000503000000020004" pitchFamily="50" charset="-127"/>
                <a:hlinkClick r:id="rId3"/>
              </a:rPr>
              <a:t>, </a:t>
            </a:r>
            <a:r>
              <a:rPr lang="ko-KR" altLang="en-US" sz="1200" dirty="0">
                <a:latin typeface="Pretendard" panose="02000503000000020004" pitchFamily="50" charset="-127"/>
                <a:ea typeface="Pretendard" panose="02000503000000020004" pitchFamily="50" charset="-127"/>
                <a:cs typeface="Pretendard" panose="02000503000000020004" pitchFamily="50" charset="-127"/>
                <a:hlinkClick r:id="rId3"/>
              </a:rPr>
              <a:t>프롬프트 등 정리 페이지</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486878" y="711509"/>
            <a:ext cx="8229600" cy="365760"/>
          </a:xfrm>
          <a:prstGeom prst="rect">
            <a:avLst/>
          </a:prstGeom>
          <a:noFill/>
          <a:ln/>
        </p:spPr>
        <p:txBody>
          <a:bodyPr wrap="square" rtlCol="0" anchor="ctr"/>
          <a:lstStyle/>
          <a:p>
            <a:pPr marL="0" indent="0">
              <a:buNone/>
            </a:pPr>
            <a:r>
              <a:rPr lang="en-US" sz="1350" b="1" dirty="0" err="1">
                <a:solidFill>
                  <a:srgbClr val="1F3864"/>
                </a:solidFill>
                <a:latin typeface="Pretendard" panose="02000503000000020004" pitchFamily="50" charset="-127"/>
                <a:ea typeface="Pretendard" panose="02000503000000020004" pitchFamily="50" charset="-127"/>
                <a:cs typeface="Pretendard" panose="02000503000000020004" pitchFamily="50" charset="-127"/>
              </a:rPr>
              <a:t>페르소나</a:t>
            </a:r>
            <a:r>
              <a:rPr lang="en-US" sz="135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 </a:t>
            </a:r>
            <a:r>
              <a:rPr lang="en-US" sz="1350" b="1" dirty="0" err="1">
                <a:solidFill>
                  <a:srgbClr val="1F3864"/>
                </a:solidFill>
                <a:latin typeface="Pretendard" panose="02000503000000020004" pitchFamily="50" charset="-127"/>
                <a:ea typeface="Pretendard" panose="02000503000000020004" pitchFamily="50" charset="-127"/>
                <a:cs typeface="Pretendard" panose="02000503000000020004" pitchFamily="50" charset="-127"/>
              </a:rPr>
              <a:t>역추출</a:t>
            </a:r>
            <a:r>
              <a:rPr lang="en-US" sz="135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 </a:t>
            </a:r>
            <a:r>
              <a:rPr lang="en-US" sz="1350" b="1" dirty="0" err="1">
                <a:solidFill>
                  <a:srgbClr val="1F3864"/>
                </a:solidFill>
                <a:latin typeface="Pretendard" panose="02000503000000020004" pitchFamily="50" charset="-127"/>
                <a:ea typeface="Pretendard" panose="02000503000000020004" pitchFamily="50" charset="-127"/>
                <a:cs typeface="Pretendard" panose="02000503000000020004" pitchFamily="50" charset="-127"/>
              </a:rPr>
              <a:t>결정적</a:t>
            </a:r>
            <a:r>
              <a:rPr lang="en-US" sz="135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 </a:t>
            </a:r>
            <a:r>
              <a:rPr lang="en-US" sz="1350" b="1" dirty="0" err="1">
                <a:solidFill>
                  <a:srgbClr val="1F3864"/>
                </a:solidFill>
                <a:latin typeface="Pretendard" panose="02000503000000020004" pitchFamily="50" charset="-127"/>
                <a:ea typeface="Pretendard" panose="02000503000000020004" pitchFamily="50" charset="-127"/>
                <a:cs typeface="Pretendard" panose="02000503000000020004" pitchFamily="50" charset="-127"/>
              </a:rPr>
              <a:t>오류</a:t>
            </a:r>
            <a:r>
              <a:rPr lang="en-US" sz="135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 </a:t>
            </a:r>
            <a:r>
              <a:rPr lang="en-US" sz="1350" b="1" dirty="0" err="1">
                <a:solidFill>
                  <a:srgbClr val="1F3864"/>
                </a:solidFill>
                <a:latin typeface="Pretendard" panose="02000503000000020004" pitchFamily="50" charset="-127"/>
                <a:ea typeface="Pretendard" panose="02000503000000020004" pitchFamily="50" charset="-127"/>
                <a:cs typeface="Pretendard" panose="02000503000000020004" pitchFamily="50" charset="-127"/>
              </a:rPr>
              <a:t>에이전트</a:t>
            </a:r>
            <a:r>
              <a:rPr lang="en-US" sz="135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(s*-1) </a:t>
            </a:r>
            <a:r>
              <a:rPr lang="en-US" sz="1350" b="1" dirty="0" err="1">
                <a:solidFill>
                  <a:srgbClr val="1F3864"/>
                </a:solidFill>
                <a:latin typeface="Pretendard" panose="02000503000000020004" pitchFamily="50" charset="-127"/>
                <a:ea typeface="Pretendard" panose="02000503000000020004" pitchFamily="50" charset="-127"/>
                <a:cs typeface="Pretendard" panose="02000503000000020004" pitchFamily="50" charset="-127"/>
              </a:rPr>
              <a:t>로그의</a:t>
            </a:r>
            <a:r>
              <a:rPr lang="en-US" sz="135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 </a:t>
            </a:r>
            <a:r>
              <a:rPr lang="en-US" sz="1350" b="1" dirty="0" err="1">
                <a:solidFill>
                  <a:srgbClr val="1F3864"/>
                </a:solidFill>
                <a:latin typeface="Pretendard" panose="02000503000000020004" pitchFamily="50" charset="-127"/>
                <a:ea typeface="Pretendard" panose="02000503000000020004" pitchFamily="50" charset="-127"/>
                <a:cs typeface="Pretendard" panose="02000503000000020004" pitchFamily="50" charset="-127"/>
              </a:rPr>
              <a:t>실제</a:t>
            </a:r>
            <a:r>
              <a:rPr lang="en-US" sz="135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 </a:t>
            </a:r>
            <a:r>
              <a:rPr lang="en-US" sz="1350" b="1" dirty="0" err="1">
                <a:solidFill>
                  <a:srgbClr val="1F3864"/>
                </a:solidFill>
                <a:latin typeface="Pretendard" panose="02000503000000020004" pitchFamily="50" charset="-127"/>
                <a:ea typeface="Pretendard" panose="02000503000000020004" pitchFamily="50" charset="-127"/>
                <a:cs typeface="Pretendard" panose="02000503000000020004" pitchFamily="50" charset="-127"/>
              </a:rPr>
              <a:t>발화</a:t>
            </a:r>
            <a:r>
              <a:rPr lang="en-US" sz="135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 </a:t>
            </a:r>
            <a:r>
              <a:rPr lang="en-US" sz="1350" b="1" dirty="0" err="1">
                <a:solidFill>
                  <a:srgbClr val="1F3864"/>
                </a:solidFill>
                <a:latin typeface="Pretendard" panose="02000503000000020004" pitchFamily="50" charset="-127"/>
                <a:ea typeface="Pretendard" panose="02000503000000020004" pitchFamily="50" charset="-127"/>
                <a:cs typeface="Pretendard" panose="02000503000000020004" pitchFamily="50" charset="-127"/>
              </a:rPr>
              <a:t>기반</a:t>
            </a:r>
            <a:endParaRPr lang="en-US" sz="13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1" name="Text 0">
            <a:extLst>
              <a:ext uri="{FF2B5EF4-FFF2-40B4-BE49-F238E27FC236}">
                <a16:creationId xmlns:a16="http://schemas.microsoft.com/office/drawing/2014/main" id="{14D5DFA2-2E7C-4B20-930F-63D56B352D03}"/>
              </a:ext>
            </a:extLst>
          </p:cNvPr>
          <p:cNvSpPr/>
          <p:nvPr/>
        </p:nvSpPr>
        <p:spPr>
          <a:xfrm>
            <a:off x="502920" y="274320"/>
            <a:ext cx="10789920" cy="502920"/>
          </a:xfrm>
          <a:prstGeom prst="rect">
            <a:avLst/>
          </a:prstGeom>
          <a:noFill/>
          <a:ln/>
        </p:spPr>
        <p:txBody>
          <a:bodyPr wrap="square" rtlCol="0" anchor="ctr"/>
          <a:lstStyle/>
          <a:p>
            <a:pPr marL="0" indent="0">
              <a:buNone/>
            </a:pPr>
            <a:r>
              <a:rPr lang="en-US" sz="24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Phase 2. 오류 단계 교정: </a:t>
            </a:r>
            <a:r>
              <a:rPr lang="en-US" sz="2400" b="1"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페르소나</a:t>
            </a:r>
            <a:r>
              <a:rPr lang="en-US" sz="24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2400" b="1"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역추출</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graphicFrame>
        <p:nvGraphicFramePr>
          <p:cNvPr id="2" name="표 1">
            <a:extLst>
              <a:ext uri="{FF2B5EF4-FFF2-40B4-BE49-F238E27FC236}">
                <a16:creationId xmlns:a16="http://schemas.microsoft.com/office/drawing/2014/main" id="{7E7497A2-6568-40F1-89F7-929A51091FCC}"/>
              </a:ext>
            </a:extLst>
          </p:cNvPr>
          <p:cNvGraphicFramePr>
            <a:graphicFrameLocks noGrp="1"/>
          </p:cNvGraphicFramePr>
          <p:nvPr>
            <p:extLst>
              <p:ext uri="{D42A27DB-BD31-4B8C-83A1-F6EECF244321}">
                <p14:modId xmlns:p14="http://schemas.microsoft.com/office/powerpoint/2010/main" val="3596295831"/>
              </p:ext>
            </p:extLst>
          </p:nvPr>
        </p:nvGraphicFramePr>
        <p:xfrm>
          <a:off x="486878" y="1089259"/>
          <a:ext cx="11171519" cy="1714690"/>
        </p:xfrm>
        <a:graphic>
          <a:graphicData uri="http://schemas.openxmlformats.org/drawingml/2006/table">
            <a:tbl>
              <a:tblPr/>
              <a:tblGrid>
                <a:gridCol w="893189">
                  <a:extLst>
                    <a:ext uri="{9D8B030D-6E8A-4147-A177-3AD203B41FA5}">
                      <a16:colId xmlns:a16="http://schemas.microsoft.com/office/drawing/2014/main" val="2706143929"/>
                    </a:ext>
                  </a:extLst>
                </a:gridCol>
                <a:gridCol w="2972189">
                  <a:extLst>
                    <a:ext uri="{9D8B030D-6E8A-4147-A177-3AD203B41FA5}">
                      <a16:colId xmlns:a16="http://schemas.microsoft.com/office/drawing/2014/main" val="487052281"/>
                    </a:ext>
                  </a:extLst>
                </a:gridCol>
                <a:gridCol w="7306141">
                  <a:extLst>
                    <a:ext uri="{9D8B030D-6E8A-4147-A177-3AD203B41FA5}">
                      <a16:colId xmlns:a16="http://schemas.microsoft.com/office/drawing/2014/main" val="3309004076"/>
                    </a:ext>
                  </a:extLst>
                </a:gridCol>
              </a:tblGrid>
              <a:tr h="342938">
                <a:tc>
                  <a:txBody>
                    <a:bodyPr/>
                    <a:lstStyle/>
                    <a:p>
                      <a:pPr rtl="0"/>
                      <a:r>
                        <a:rPr lang="ko-KR" altLang="en-US" sz="1200" dirty="0">
                          <a:latin typeface="Pretendard" panose="02000503000000020004" pitchFamily="50" charset="-127"/>
                          <a:ea typeface="Pretendard" panose="02000503000000020004" pitchFamily="50" charset="-127"/>
                          <a:cs typeface="Pretendard" panose="02000503000000020004" pitchFamily="50" charset="-127"/>
                        </a:rPr>
                        <a:t>항목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0"/>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정의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0"/>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추출 내용 </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본 사례</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963372636"/>
                  </a:ext>
                </a:extLst>
              </a:tr>
              <a:tr h="342938">
                <a:tc>
                  <a:txBody>
                    <a:bodyPr/>
                    <a:lstStyle/>
                    <a:p>
                      <a:pPr rtl="0"/>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역할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해당 에이전트가 궤적에서 실제로 수행한 기능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ko-KR" altLang="en-US" sz="1200">
                          <a:effectLst/>
                          <a:latin typeface="Pretendard" panose="02000503000000020004" pitchFamily="50" charset="-127"/>
                          <a:ea typeface="Pretendard" panose="02000503000000020004" pitchFamily="50" charset="-127"/>
                          <a:cs typeface="Pretendard" panose="02000503000000020004" pitchFamily="50" charset="-127"/>
                        </a:rPr>
                        <a:t>이동 제약을 반영한 경로 탐색 알고리즘 설계</a:t>
                      </a:r>
                      <a:r>
                        <a:rPr lang="en-US" altLang="ko-KR" sz="1200">
                          <a:effectLst/>
                          <a:latin typeface="Pretendard" panose="02000503000000020004" pitchFamily="50" charset="-127"/>
                          <a:ea typeface="Pretendard" panose="02000503000000020004" pitchFamily="50" charset="-127"/>
                          <a:cs typeface="Pretendard" panose="02000503000000020004" pitchFamily="50" charset="-127"/>
                        </a:rPr>
                        <a:t>·</a:t>
                      </a:r>
                      <a:r>
                        <a:rPr lang="ko-KR" altLang="en-US" sz="1200">
                          <a:effectLst/>
                          <a:latin typeface="Pretendard" panose="02000503000000020004" pitchFamily="50" charset="-127"/>
                          <a:ea typeface="Pretendard" panose="02000503000000020004" pitchFamily="50" charset="-127"/>
                          <a:cs typeface="Pretendard" panose="02000503000000020004" pitchFamily="50" charset="-127"/>
                        </a:rPr>
                        <a:t>구현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0593344"/>
                  </a:ext>
                </a:extLst>
              </a:tr>
              <a:tr h="342938">
                <a:tc>
                  <a:txBody>
                    <a:bodyPr/>
                    <a:lstStyle/>
                    <a:p>
                      <a:pPr rtl="0"/>
                      <a:r>
                        <a:rPr lang="ko-KR" altLang="en-US" sz="1200">
                          <a:latin typeface="Pretendard" panose="02000503000000020004" pitchFamily="50" charset="-127"/>
                          <a:ea typeface="Pretendard" panose="02000503000000020004" pitchFamily="50" charset="-127"/>
                          <a:cs typeface="Pretendard" panose="02000503000000020004" pitchFamily="50" charset="-127"/>
                        </a:rPr>
                        <a:t>도구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발화에서 실제 사용한 라이브러리</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수단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sz="1200" dirty="0">
                          <a:effectLst/>
                          <a:latin typeface="Pretendard" panose="02000503000000020004" pitchFamily="50" charset="-127"/>
                          <a:ea typeface="Pretendard" panose="02000503000000020004" pitchFamily="50" charset="-127"/>
                          <a:cs typeface="Pretendard" panose="02000503000000020004" pitchFamily="50" charset="-127"/>
                        </a:rPr>
                        <a:t>Python (pandas, </a:t>
                      </a:r>
                      <a:r>
                        <a:rPr lang="en-US" sz="1200" dirty="0" err="1">
                          <a:effectLst/>
                          <a:latin typeface="Pretendard" panose="02000503000000020004" pitchFamily="50" charset="-127"/>
                          <a:ea typeface="Pretendard" panose="02000503000000020004" pitchFamily="50" charset="-127"/>
                          <a:cs typeface="Pretendard" panose="02000503000000020004" pitchFamily="50" charset="-127"/>
                        </a:rPr>
                        <a:t>collections.deque</a:t>
                      </a:r>
                      <a:r>
                        <a:rPr lang="en-US" sz="1200" dirty="0">
                          <a:effectLst/>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코드 블록 제출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8111950"/>
                  </a:ext>
                </a:extLst>
              </a:tr>
              <a:tr h="342938">
                <a:tc>
                  <a:txBody>
                    <a:bodyPr/>
                    <a:lstStyle/>
                    <a:p>
                      <a:pPr rtl="0"/>
                      <a:r>
                        <a:rPr lang="ko-KR" altLang="en-US" sz="1200">
                          <a:latin typeface="Pretendard" panose="02000503000000020004" pitchFamily="50" charset="-127"/>
                          <a:ea typeface="Pretendard" panose="02000503000000020004" pitchFamily="50" charset="-127"/>
                          <a:cs typeface="Pretendard" panose="02000503000000020004" pitchFamily="50" charset="-127"/>
                        </a:rPr>
                        <a:t>출력 형식</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발화의 구조적 패턴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상황 요약 문단 → 번호 매긴 단계별 계획 → </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 filename: </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주석이 붙은 </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python </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코드 블록 → 실행 요청 문장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2061913"/>
                  </a:ext>
                </a:extLst>
              </a:tr>
              <a:tr h="342938">
                <a:tc>
                  <a:txBody>
                    <a:bodyPr/>
                    <a:lstStyle/>
                    <a:p>
                      <a:pPr rtl="0"/>
                      <a:r>
                        <a:rPr lang="ko-KR" altLang="en-US" sz="1200">
                          <a:latin typeface="Pretendard" panose="02000503000000020004" pitchFamily="50" charset="-127"/>
                          <a:ea typeface="Pretendard" panose="02000503000000020004" pitchFamily="50" charset="-127"/>
                          <a:cs typeface="Pretendard" panose="02000503000000020004" pitchFamily="50" charset="-127"/>
                        </a:rPr>
                        <a:t>말투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어조</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인칭</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상투 표현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1</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인칭 계획 선언형 </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a:t>
                      </a:r>
                      <a:r>
                        <a:rPr lang="en-US" sz="1200" dirty="0">
                          <a:effectLst/>
                          <a:latin typeface="Pretendard" panose="02000503000000020004" pitchFamily="50" charset="-127"/>
                          <a:ea typeface="Pretendard" panose="02000503000000020004" pitchFamily="50" charset="-127"/>
                          <a:cs typeface="Pretendard" panose="02000503000000020004" pitchFamily="50" charset="-127"/>
                        </a:rPr>
                        <a:t>I'll proceed with…", "Let's execute this code…")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5556551"/>
                  </a:ext>
                </a:extLst>
              </a:tr>
            </a:tbl>
          </a:graphicData>
        </a:graphic>
      </p:graphicFrame>
      <p:sp>
        <p:nvSpPr>
          <p:cNvPr id="28" name="TextBox 27">
            <a:extLst>
              <a:ext uri="{FF2B5EF4-FFF2-40B4-BE49-F238E27FC236}">
                <a16:creationId xmlns:a16="http://schemas.microsoft.com/office/drawing/2014/main" id="{9C0029DD-24E6-4D89-A796-AB43B799680D}"/>
              </a:ext>
            </a:extLst>
          </p:cNvPr>
          <p:cNvSpPr txBox="1"/>
          <p:nvPr/>
        </p:nvSpPr>
        <p:spPr>
          <a:xfrm>
            <a:off x="705853" y="3457665"/>
            <a:ext cx="10153850" cy="3139321"/>
          </a:xfrm>
          <a:prstGeom prst="rect">
            <a:avLst/>
          </a:prstGeom>
          <a:noFill/>
        </p:spPr>
        <p:txBody>
          <a:bodyPr wrap="square">
            <a:spAutoFit/>
          </a:bodyPr>
          <a:lstStyle/>
          <a:p>
            <a:r>
              <a:rPr lang="en-US" altLang="ko-KR" dirty="0">
                <a:latin typeface="Pretendard" panose="02000503000000020004" pitchFamily="50" charset="-127"/>
                <a:ea typeface="Pretendard" panose="02000503000000020004" pitchFamily="50" charset="-127"/>
                <a:cs typeface="Pretendard" panose="02000503000000020004" pitchFamily="50" charset="-127"/>
              </a:rPr>
              <a:t>{ </a:t>
            </a:r>
          </a:p>
          <a:p>
            <a:r>
              <a:rPr lang="en-US" altLang="ko-KR" dirty="0">
                <a:solidFill>
                  <a:srgbClr val="7030A0"/>
                </a:solidFill>
                <a:latin typeface="Pretendard" panose="02000503000000020004" pitchFamily="50" charset="-127"/>
                <a:ea typeface="Pretendard" panose="02000503000000020004" pitchFamily="50" charset="-127"/>
                <a:cs typeface="Pretendard" panose="02000503000000020004" pitchFamily="50" charset="-127"/>
              </a:rPr>
              <a:t>"role"</a:t>
            </a:r>
            <a:r>
              <a:rPr lang="en-US" altLang="ko-KR" dirty="0">
                <a:latin typeface="Pretendard" panose="02000503000000020004" pitchFamily="50" charset="-127"/>
                <a:ea typeface="Pretendard" panose="02000503000000020004" pitchFamily="50" charset="-127"/>
                <a:cs typeface="Pretendard" panose="02000503000000020004" pitchFamily="50" charset="-127"/>
              </a:rPr>
              <a:t>: "Designs and implements a pathfinding algorithm that respects the stated movement constraints, and prepares the follow-up color lookup.", </a:t>
            </a:r>
          </a:p>
          <a:p>
            <a:r>
              <a:rPr lang="en-US" altLang="ko-KR" dirty="0">
                <a:solidFill>
                  <a:srgbClr val="7030A0"/>
                </a:solidFill>
                <a:latin typeface="Pretendard" panose="02000503000000020004" pitchFamily="50" charset="-127"/>
                <a:ea typeface="Pretendard" panose="02000503000000020004" pitchFamily="50" charset="-127"/>
                <a:cs typeface="Pretendard" panose="02000503000000020004" pitchFamily="50" charset="-127"/>
              </a:rPr>
              <a:t>"tools"</a:t>
            </a:r>
            <a:r>
              <a:rPr lang="en-US" altLang="ko-KR" dirty="0">
                <a:latin typeface="Pretendard" panose="02000503000000020004" pitchFamily="50" charset="-127"/>
                <a:ea typeface="Pretendard" panose="02000503000000020004" pitchFamily="50" charset="-127"/>
                <a:cs typeface="Pretendard" panose="02000503000000020004" pitchFamily="50" charset="-127"/>
              </a:rPr>
              <a:t>: "Python with pandas and </a:t>
            </a:r>
            <a:r>
              <a:rPr lang="en-US" altLang="ko-KR" dirty="0" err="1">
                <a:latin typeface="Pretendard" panose="02000503000000020004" pitchFamily="50" charset="-127"/>
                <a:ea typeface="Pretendard" panose="02000503000000020004" pitchFamily="50" charset="-127"/>
                <a:cs typeface="Pretendard" panose="02000503000000020004" pitchFamily="50" charset="-127"/>
              </a:rPr>
              <a:t>collections.deque</a:t>
            </a:r>
            <a:r>
              <a:rPr lang="en-US" altLang="ko-KR" dirty="0">
                <a:latin typeface="Pretendard" panose="02000503000000020004" pitchFamily="50" charset="-127"/>
                <a:ea typeface="Pretendard" panose="02000503000000020004" pitchFamily="50" charset="-127"/>
                <a:cs typeface="Pretendard" panose="02000503000000020004" pitchFamily="50" charset="-127"/>
              </a:rPr>
              <a:t>; submits runnable code blocks with a '# filename:' header for the terminal to execute.", </a:t>
            </a:r>
          </a:p>
          <a:p>
            <a:r>
              <a:rPr lang="en-US" altLang="ko-KR" dirty="0">
                <a:solidFill>
                  <a:srgbClr val="7030A0"/>
                </a:solidFill>
                <a:latin typeface="Pretendard" panose="02000503000000020004" pitchFamily="50" charset="-127"/>
                <a:ea typeface="Pretendard" panose="02000503000000020004" pitchFamily="50" charset="-127"/>
                <a:cs typeface="Pretendard" panose="02000503000000020004" pitchFamily="50" charset="-127"/>
              </a:rPr>
              <a:t>"</a:t>
            </a:r>
            <a:r>
              <a:rPr lang="en-US" altLang="ko-KR" dirty="0" err="1">
                <a:solidFill>
                  <a:srgbClr val="7030A0"/>
                </a:solidFill>
                <a:latin typeface="Pretendard" panose="02000503000000020004" pitchFamily="50" charset="-127"/>
                <a:ea typeface="Pretendard" panose="02000503000000020004" pitchFamily="50" charset="-127"/>
                <a:cs typeface="Pretendard" panose="02000503000000020004" pitchFamily="50" charset="-127"/>
              </a:rPr>
              <a:t>output_format</a:t>
            </a:r>
            <a:r>
              <a:rPr lang="en-US" altLang="ko-KR" dirty="0">
                <a:solidFill>
                  <a:srgbClr val="7030A0"/>
                </a:solidFill>
                <a:latin typeface="Pretendard" panose="02000503000000020004" pitchFamily="50" charset="-127"/>
                <a:ea typeface="Pretendard" panose="02000503000000020004" pitchFamily="50" charset="-127"/>
                <a:cs typeface="Pretendard" panose="02000503000000020004" pitchFamily="50" charset="-127"/>
              </a:rPr>
              <a:t>"</a:t>
            </a:r>
            <a:r>
              <a:rPr lang="en-US" altLang="ko-KR" dirty="0">
                <a:latin typeface="Pretendard" panose="02000503000000020004" pitchFamily="50" charset="-127"/>
                <a:ea typeface="Pretendard" panose="02000503000000020004" pitchFamily="50" charset="-127"/>
                <a:cs typeface="Pretendard" panose="02000503000000020004" pitchFamily="50" charset="-127"/>
              </a:rPr>
              <a:t>: "A short paragraph restating the current state, then a numbered list of the steps to be implemented, then a single python code block beginning with a '# filename: path_finding.py' comment, then a one-line request to execute the code.", </a:t>
            </a:r>
          </a:p>
          <a:p>
            <a:r>
              <a:rPr lang="en-US" altLang="ko-KR" dirty="0">
                <a:solidFill>
                  <a:srgbClr val="7030A0"/>
                </a:solidFill>
                <a:latin typeface="Pretendard" panose="02000503000000020004" pitchFamily="50" charset="-127"/>
                <a:ea typeface="Pretendard" panose="02000503000000020004" pitchFamily="50" charset="-127"/>
                <a:cs typeface="Pretendard" panose="02000503000000020004" pitchFamily="50" charset="-127"/>
              </a:rPr>
              <a:t>"tone"</a:t>
            </a:r>
            <a:r>
              <a:rPr lang="en-US" altLang="ko-KR" dirty="0">
                <a:latin typeface="Pretendard" panose="02000503000000020004" pitchFamily="50" charset="-127"/>
                <a:ea typeface="Pretendard" panose="02000503000000020004" pitchFamily="50" charset="-127"/>
                <a:cs typeface="Pretendard" panose="02000503000000020004" pitchFamily="50" charset="-127"/>
              </a:rPr>
              <a:t>: "First-person, plan-declarative and forward-looking. Characteristic phrasings: \"I'll proceed with developing…\", \"Let's execute this complete code to obtain the desired output.\"" </a:t>
            </a:r>
          </a:p>
          <a:p>
            <a:r>
              <a:rPr lang="en-US" altLang="ko-KR" dirty="0">
                <a:latin typeface="Pretendard" panose="02000503000000020004" pitchFamily="50" charset="-127"/>
                <a:ea typeface="Pretendard" panose="02000503000000020004" pitchFamily="50" charset="-127"/>
                <a:cs typeface="Pretendard" panose="02000503000000020004" pitchFamily="50" charset="-127"/>
              </a:rPr>
              <a:t>}</a:t>
            </a:r>
            <a:endParaRPr lang="ko-KR" altLang="en-US"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9" name="Text 3">
            <a:extLst>
              <a:ext uri="{FF2B5EF4-FFF2-40B4-BE49-F238E27FC236}">
                <a16:creationId xmlns:a16="http://schemas.microsoft.com/office/drawing/2014/main" id="{2FB820CD-8656-4226-93D7-D0C5CD71D569}"/>
              </a:ext>
            </a:extLst>
          </p:cNvPr>
          <p:cNvSpPr/>
          <p:nvPr/>
        </p:nvSpPr>
        <p:spPr>
          <a:xfrm>
            <a:off x="486878" y="3103978"/>
            <a:ext cx="8229600" cy="365760"/>
          </a:xfrm>
          <a:prstGeom prst="rect">
            <a:avLst/>
          </a:prstGeom>
          <a:noFill/>
          <a:ln/>
        </p:spPr>
        <p:txBody>
          <a:bodyPr wrap="square" rtlCol="0" anchor="ctr"/>
          <a:lstStyle/>
          <a:p>
            <a:pPr marL="0" indent="0">
              <a:buNone/>
            </a:pPr>
            <a:r>
              <a:rPr lang="ko-KR" altLang="en-US" sz="135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추출한 페르소나 구조화 예시</a:t>
            </a:r>
            <a:r>
              <a:rPr lang="en-US" altLang="ko-KR" sz="135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(JSON </a:t>
            </a:r>
            <a:r>
              <a:rPr lang="ko-KR" altLang="en-US" sz="135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포맷</a:t>
            </a:r>
            <a:r>
              <a:rPr lang="en-US" altLang="ko-KR" sz="135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a:t>
            </a:r>
            <a:endParaRPr lang="en-US" sz="13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Box 6">
            <a:extLst>
              <a:ext uri="{FF2B5EF4-FFF2-40B4-BE49-F238E27FC236}">
                <a16:creationId xmlns:a16="http://schemas.microsoft.com/office/drawing/2014/main" id="{C5D8AFD0-9B6A-47A9-99FB-09A70694A4D0}"/>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11</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486878" y="711509"/>
            <a:ext cx="8229600" cy="365760"/>
          </a:xfrm>
          <a:prstGeom prst="rect">
            <a:avLst/>
          </a:prstGeom>
          <a:noFill/>
          <a:ln/>
        </p:spPr>
        <p:txBody>
          <a:bodyPr wrap="square" rtlCol="0" anchor="ctr"/>
          <a:lstStyle/>
          <a:p>
            <a:pPr marL="0" indent="0">
              <a:buNone/>
            </a:pPr>
            <a:r>
              <a:rPr lang="ko-KR" altLang="en-US" sz="135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남기는 정보 </a:t>
            </a:r>
            <a:endParaRPr lang="en-US" sz="13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1" name="Text 0">
            <a:extLst>
              <a:ext uri="{FF2B5EF4-FFF2-40B4-BE49-F238E27FC236}">
                <a16:creationId xmlns:a16="http://schemas.microsoft.com/office/drawing/2014/main" id="{14D5DFA2-2E7C-4B20-930F-63D56B352D03}"/>
              </a:ext>
            </a:extLst>
          </p:cNvPr>
          <p:cNvSpPr/>
          <p:nvPr/>
        </p:nvSpPr>
        <p:spPr>
          <a:xfrm>
            <a:off x="502920" y="274320"/>
            <a:ext cx="10789920" cy="502920"/>
          </a:xfrm>
          <a:prstGeom prst="rect">
            <a:avLst/>
          </a:prstGeom>
          <a:noFill/>
          <a:ln/>
        </p:spPr>
        <p:txBody>
          <a:bodyPr wrap="square" rtlCol="0" anchor="ctr"/>
          <a:lstStyle/>
          <a:p>
            <a:pPr marL="0" indent="0">
              <a:buNone/>
            </a:pPr>
            <a:r>
              <a:rPr lang="en-US" sz="24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Phase 2. 오류 단계 교정: </a:t>
            </a:r>
            <a:r>
              <a:rPr lang="ko-KR" altLang="en-US" sz="24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공유 메모리 구축</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graphicFrame>
        <p:nvGraphicFramePr>
          <p:cNvPr id="3" name="표 2">
            <a:extLst>
              <a:ext uri="{FF2B5EF4-FFF2-40B4-BE49-F238E27FC236}">
                <a16:creationId xmlns:a16="http://schemas.microsoft.com/office/drawing/2014/main" id="{6D215D6E-BAE9-40F4-9C6F-00161324CD6E}"/>
              </a:ext>
            </a:extLst>
          </p:cNvPr>
          <p:cNvGraphicFramePr>
            <a:graphicFrameLocks noGrp="1"/>
          </p:cNvGraphicFramePr>
          <p:nvPr/>
        </p:nvGraphicFramePr>
        <p:xfrm>
          <a:off x="502920" y="1102135"/>
          <a:ext cx="10515767" cy="1597800"/>
        </p:xfrm>
        <a:graphic>
          <a:graphicData uri="http://schemas.openxmlformats.org/drawingml/2006/table">
            <a:tbl>
              <a:tblPr/>
              <a:tblGrid>
                <a:gridCol w="944145">
                  <a:extLst>
                    <a:ext uri="{9D8B030D-6E8A-4147-A177-3AD203B41FA5}">
                      <a16:colId xmlns:a16="http://schemas.microsoft.com/office/drawing/2014/main" val="4135993375"/>
                    </a:ext>
                  </a:extLst>
                </a:gridCol>
                <a:gridCol w="2656351">
                  <a:extLst>
                    <a:ext uri="{9D8B030D-6E8A-4147-A177-3AD203B41FA5}">
                      <a16:colId xmlns:a16="http://schemas.microsoft.com/office/drawing/2014/main" val="2687719577"/>
                    </a:ext>
                  </a:extLst>
                </a:gridCol>
                <a:gridCol w="6915271">
                  <a:extLst>
                    <a:ext uri="{9D8B030D-6E8A-4147-A177-3AD203B41FA5}">
                      <a16:colId xmlns:a16="http://schemas.microsoft.com/office/drawing/2014/main" val="4155329571"/>
                    </a:ext>
                  </a:extLst>
                </a:gridCol>
              </a:tblGrid>
              <a:tr h="143170">
                <a:tc>
                  <a:txBody>
                    <a:bodyPr/>
                    <a:lstStyle/>
                    <a:p>
                      <a:pPr rtl="0"/>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범주</a:t>
                      </a:r>
                    </a:p>
                  </a:txBody>
                  <a:tcPr marL="79410" marR="79410" marT="39705" marB="39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0"/>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정의</a:t>
                      </a:r>
                    </a:p>
                  </a:txBody>
                  <a:tcPr marL="79410" marR="79410" marT="39705" marB="39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0"/>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본 사례</a:t>
                      </a:r>
                    </a:p>
                  </a:txBody>
                  <a:tcPr marL="79410" marR="79410" marT="39705" marB="39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446199192"/>
                  </a:ext>
                </a:extLst>
              </a:tr>
              <a:tr h="327246">
                <a:tc>
                  <a:txBody>
                    <a:bodyPr/>
                    <a:lstStyle/>
                    <a:p>
                      <a:pPr rtl="0"/>
                      <a:r>
                        <a:rPr lang="ko-KR" altLang="en-US" sz="1200">
                          <a:latin typeface="Pretendard" panose="02000503000000020004" pitchFamily="50" charset="-127"/>
                          <a:ea typeface="Pretendard" panose="02000503000000020004" pitchFamily="50" charset="-127"/>
                          <a:cs typeface="Pretendard" panose="02000503000000020004" pitchFamily="50" charset="-127"/>
                        </a:rPr>
                        <a:t>확립된 사실</a:t>
                      </a:r>
                    </a:p>
                  </a:txBody>
                  <a:tcPr marL="79410" marR="79410" marT="39705" marB="39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상류에서 확정되어 이후 단계가 전제로 삼는 관측</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데이터</a:t>
                      </a:r>
                    </a:p>
                  </a:txBody>
                  <a:tcPr marL="79410" marR="79410" marT="39705" marB="39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Excel </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파일 로드 성공 </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격자 </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20×9 / START=(0,0), END=(19,8) / </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셀 값은 대부분 </a:t>
                      </a:r>
                      <a:r>
                        <a:rPr lang="en-US" altLang="ko-KR" sz="1200" dirty="0" err="1">
                          <a:effectLst/>
                          <a:latin typeface="Pretendard" panose="02000503000000020004" pitchFamily="50" charset="-127"/>
                          <a:ea typeface="Pretendard" panose="02000503000000020004" pitchFamily="50" charset="-127"/>
                          <a:cs typeface="Pretendard" panose="02000503000000020004" pitchFamily="50" charset="-127"/>
                        </a:rPr>
                        <a:t>NaN</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이며 색상 정보는 셀 서식</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(fill)</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에 존재 가능</a:t>
                      </a:r>
                    </a:p>
                  </a:txBody>
                  <a:tcPr marL="79410" marR="79410" marT="39705" marB="39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8615895"/>
                  </a:ext>
                </a:extLst>
              </a:tr>
              <a:tr h="265888">
                <a:tc>
                  <a:txBody>
                    <a:bodyPr/>
                    <a:lstStyle/>
                    <a:p>
                      <a:pPr rtl="0"/>
                      <a:r>
                        <a:rPr lang="ko-KR" altLang="en-US" sz="1200">
                          <a:latin typeface="Pretendard" panose="02000503000000020004" pitchFamily="50" charset="-127"/>
                          <a:ea typeface="Pretendard" panose="02000503000000020004" pitchFamily="50" charset="-127"/>
                          <a:cs typeface="Pretendard" panose="02000503000000020004" pitchFamily="50" charset="-127"/>
                        </a:rPr>
                        <a:t>제약 조건</a:t>
                      </a:r>
                    </a:p>
                  </a:txBody>
                  <a:tcPr marL="79410" marR="79410" marT="39705" marB="39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ko-KR" altLang="en-US" sz="1200">
                          <a:effectLst/>
                          <a:latin typeface="Pretendard" panose="02000503000000020004" pitchFamily="50" charset="-127"/>
                          <a:ea typeface="Pretendard" panose="02000503000000020004" pitchFamily="50" charset="-127"/>
                          <a:cs typeface="Pretendard" panose="02000503000000020004" pitchFamily="50" charset="-127"/>
                        </a:rPr>
                        <a:t>작업 명세 및 상류에서 도출된</a:t>
                      </a:r>
                      <a:r>
                        <a:rPr lang="en-US" altLang="ko-KR" sz="1200">
                          <a:effectLst/>
                          <a:latin typeface="Pretendard" panose="02000503000000020004" pitchFamily="50" charset="-127"/>
                          <a:ea typeface="Pretendard" panose="02000503000000020004" pitchFamily="50" charset="-127"/>
                          <a:cs typeface="Pretendard" panose="02000503000000020004" pitchFamily="50" charset="-127"/>
                        </a:rPr>
                        <a:t>, </a:t>
                      </a:r>
                      <a:r>
                        <a:rPr lang="ko-KR" altLang="en-US" sz="1200">
                          <a:effectLst/>
                          <a:latin typeface="Pretendard" panose="02000503000000020004" pitchFamily="50" charset="-127"/>
                          <a:ea typeface="Pretendard" panose="02000503000000020004" pitchFamily="50" charset="-127"/>
                          <a:cs typeface="Pretendard" panose="02000503000000020004" pitchFamily="50" charset="-127"/>
                        </a:rPr>
                        <a:t>위반해서는 안 되는 요건</a:t>
                      </a:r>
                    </a:p>
                  </a:txBody>
                  <a:tcPr marL="79410" marR="79410" marT="39705" marB="39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턴당 정확히 </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2</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칸</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상</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하</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좌</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우</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 / </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후진 금지 </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파란 셀 진입 금지 </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 11</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번째 턴 착지 셀의 </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6</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자리 </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hex </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코드 답변</a:t>
                      </a:r>
                    </a:p>
                  </a:txBody>
                  <a:tcPr marL="79410" marR="79410" marT="39705" marB="39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4508550"/>
                  </a:ext>
                </a:extLst>
              </a:tr>
              <a:tr h="327246">
                <a:tc>
                  <a:txBody>
                    <a:bodyPr/>
                    <a:lstStyle/>
                    <a:p>
                      <a:pPr rtl="0"/>
                      <a:r>
                        <a:rPr lang="ko-KR" altLang="en-US" sz="1200" dirty="0">
                          <a:latin typeface="Pretendard" panose="02000503000000020004" pitchFamily="50" charset="-127"/>
                          <a:ea typeface="Pretendard" panose="02000503000000020004" pitchFamily="50" charset="-127"/>
                          <a:cs typeface="Pretendard" panose="02000503000000020004" pitchFamily="50" charset="-127"/>
                        </a:rPr>
                        <a:t>진행 중 계획</a:t>
                      </a:r>
                    </a:p>
                  </a:txBody>
                  <a:tcPr marL="79410" marR="79410" marT="39705" marB="39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상류에서 수립되어 아직 완료되지 않은 계획과 그 진행 위치</a:t>
                      </a:r>
                    </a:p>
                  </a:txBody>
                  <a:tcPr marL="79410" marR="79410" marT="39705" marB="39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매니저 플랜 </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5</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단계 중 </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1</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단계</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로드</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·START/END </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식별</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완료</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 2</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단계</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경로 탐색 알고리즘 개발</a:t>
                      </a:r>
                      <a:r>
                        <a:rPr lang="en-US" altLang="ko-KR" sz="1200" dirty="0">
                          <a:effectLst/>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진행 중</a:t>
                      </a:r>
                    </a:p>
                  </a:txBody>
                  <a:tcPr marL="79410" marR="79410" marT="39705" marB="39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3013459"/>
                  </a:ext>
                </a:extLst>
              </a:tr>
            </a:tbl>
          </a:graphicData>
        </a:graphic>
      </p:graphicFrame>
      <p:sp>
        <p:nvSpPr>
          <p:cNvPr id="8" name="Text 3">
            <a:extLst>
              <a:ext uri="{FF2B5EF4-FFF2-40B4-BE49-F238E27FC236}">
                <a16:creationId xmlns:a16="http://schemas.microsoft.com/office/drawing/2014/main" id="{F6DDA2B9-1021-4A20-B9C3-D6B098EF9C47}"/>
              </a:ext>
            </a:extLst>
          </p:cNvPr>
          <p:cNvSpPr/>
          <p:nvPr/>
        </p:nvSpPr>
        <p:spPr>
          <a:xfrm>
            <a:off x="486878" y="2841950"/>
            <a:ext cx="8229600" cy="365760"/>
          </a:xfrm>
          <a:prstGeom prst="rect">
            <a:avLst/>
          </a:prstGeom>
          <a:noFill/>
          <a:ln/>
        </p:spPr>
        <p:txBody>
          <a:bodyPr wrap="square" rtlCol="0" anchor="ctr"/>
          <a:lstStyle/>
          <a:p>
            <a:pPr marL="0" indent="0">
              <a:buNone/>
            </a:pPr>
            <a:r>
              <a:rPr lang="ko-KR" altLang="en-US" sz="135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버리는 정보</a:t>
            </a:r>
            <a:r>
              <a:rPr lang="en-US" altLang="ko-KR" sz="135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a:t>
            </a:r>
            <a:r>
              <a:rPr lang="ko-KR" altLang="en-US" sz="135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사용하지 않는 데이터</a:t>
            </a:r>
            <a:r>
              <a:rPr lang="en-US" altLang="ko-KR" sz="135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a:t>
            </a:r>
            <a:endParaRPr lang="en-US" sz="1350" dirty="0">
              <a:latin typeface="Pretendard" panose="02000503000000020004" pitchFamily="50" charset="-127"/>
              <a:ea typeface="Pretendard" panose="02000503000000020004" pitchFamily="50" charset="-127"/>
              <a:cs typeface="Pretendard" panose="02000503000000020004" pitchFamily="50" charset="-127"/>
            </a:endParaRPr>
          </a:p>
        </p:txBody>
      </p:sp>
      <p:graphicFrame>
        <p:nvGraphicFramePr>
          <p:cNvPr id="4" name="표 3">
            <a:extLst>
              <a:ext uri="{FF2B5EF4-FFF2-40B4-BE49-F238E27FC236}">
                <a16:creationId xmlns:a16="http://schemas.microsoft.com/office/drawing/2014/main" id="{E7838B25-DA92-4C29-BE39-ACBDE6225813}"/>
              </a:ext>
            </a:extLst>
          </p:cNvPr>
          <p:cNvGraphicFramePr>
            <a:graphicFrameLocks noGrp="1"/>
          </p:cNvGraphicFramePr>
          <p:nvPr/>
        </p:nvGraphicFramePr>
        <p:xfrm>
          <a:off x="502920" y="3236142"/>
          <a:ext cx="10515767" cy="2065930"/>
        </p:xfrm>
        <a:graphic>
          <a:graphicData uri="http://schemas.openxmlformats.org/drawingml/2006/table">
            <a:tbl>
              <a:tblPr/>
              <a:tblGrid>
                <a:gridCol w="1815344">
                  <a:extLst>
                    <a:ext uri="{9D8B030D-6E8A-4147-A177-3AD203B41FA5}">
                      <a16:colId xmlns:a16="http://schemas.microsoft.com/office/drawing/2014/main" val="3267664"/>
                    </a:ext>
                  </a:extLst>
                </a:gridCol>
                <a:gridCol w="3120011">
                  <a:extLst>
                    <a:ext uri="{9D8B030D-6E8A-4147-A177-3AD203B41FA5}">
                      <a16:colId xmlns:a16="http://schemas.microsoft.com/office/drawing/2014/main" val="1290830161"/>
                    </a:ext>
                  </a:extLst>
                </a:gridCol>
                <a:gridCol w="5580412">
                  <a:extLst>
                    <a:ext uri="{9D8B030D-6E8A-4147-A177-3AD203B41FA5}">
                      <a16:colId xmlns:a16="http://schemas.microsoft.com/office/drawing/2014/main" val="129434185"/>
                    </a:ext>
                  </a:extLst>
                </a:gridCol>
              </a:tblGrid>
              <a:tr h="0">
                <a:tc>
                  <a:txBody>
                    <a:bodyPr/>
                    <a:lstStyle/>
                    <a:p>
                      <a:pPr rtl="0"/>
                      <a:r>
                        <a:rPr lang="ko-KR" altLang="en-US" sz="1200" dirty="0">
                          <a:latin typeface="Pretendard" panose="02000503000000020004" pitchFamily="50" charset="-127"/>
                          <a:ea typeface="Pretendard" panose="02000503000000020004" pitchFamily="50" charset="-127"/>
                          <a:cs typeface="Pretendard" panose="02000503000000020004" pitchFamily="50" charset="-127"/>
                        </a:rPr>
                        <a:t>대상</a:t>
                      </a:r>
                    </a:p>
                  </a:txBody>
                  <a:tcPr marL="29601" marR="29601" marT="14800" marB="14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0"/>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사유</a:t>
                      </a:r>
                    </a:p>
                  </a:txBody>
                  <a:tcPr marL="29601" marR="29601" marT="14800" marB="14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rtl="0"/>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본 사례</a:t>
                      </a:r>
                    </a:p>
                  </a:txBody>
                  <a:tcPr marL="29601" marR="29601" marT="14800" marB="14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35907388"/>
                  </a:ext>
                </a:extLst>
              </a:tr>
              <a:tr h="330973">
                <a:tc>
                  <a:txBody>
                    <a:bodyPr/>
                    <a:lstStyle/>
                    <a:p>
                      <a:pPr rtl="0"/>
                      <a:r>
                        <a:rPr lang="ko-KR" altLang="en-US" sz="1200">
                          <a:latin typeface="Pretendard" panose="02000503000000020004" pitchFamily="50" charset="-127"/>
                          <a:ea typeface="Pretendard" panose="02000503000000020004" pitchFamily="50" charset="-127"/>
                          <a:cs typeface="Pretendard" panose="02000503000000020004" pitchFamily="50" charset="-127"/>
                        </a:rPr>
                        <a:t>실패 후 폐기된 시도</a:t>
                      </a:r>
                    </a:p>
                  </a:txBody>
                  <a:tcPr marL="29601" marR="29601" marT="14800" marB="14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ko-KR" altLang="en-US" sz="1200">
                          <a:effectLst/>
                          <a:latin typeface="Pretendard" panose="02000503000000020004" pitchFamily="50" charset="-127"/>
                          <a:ea typeface="Pretendard" panose="02000503000000020004" pitchFamily="50" charset="-127"/>
                          <a:cs typeface="Pretendard" panose="02000503000000020004" pitchFamily="50" charset="-127"/>
                        </a:rPr>
                        <a:t>이후 단계에 전제로 전달되지 않아 재작성에 불필요</a:t>
                      </a:r>
                    </a:p>
                  </a:txBody>
                  <a:tcPr marL="29601" marR="29601" marT="14800" marB="14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sz="1200">
                          <a:effectLst/>
                          <a:latin typeface="Pretendard" panose="02000503000000020004" pitchFamily="50" charset="-127"/>
                          <a:ea typeface="Pretendard" panose="02000503000000020004" pitchFamily="50" charset="-127"/>
                          <a:cs typeface="Pretendard" panose="02000503000000020004" pitchFamily="50" charset="-127"/>
                        </a:rPr>
                        <a:t>Step 2</a:t>
                      </a:r>
                      <a:r>
                        <a:rPr lang="ko-KR" altLang="en-US" sz="1200">
                          <a:effectLst/>
                          <a:latin typeface="Pretendard" panose="02000503000000020004" pitchFamily="50" charset="-127"/>
                          <a:ea typeface="Pretendard" panose="02000503000000020004" pitchFamily="50" charset="-127"/>
                          <a:cs typeface="Pretendard" panose="02000503000000020004" pitchFamily="50" charset="-127"/>
                        </a:rPr>
                        <a:t>의 </a:t>
                      </a:r>
                      <a:r>
                        <a:rPr lang="en-US" sz="1200">
                          <a:effectLst/>
                          <a:latin typeface="Pretendard" panose="02000503000000020004" pitchFamily="50" charset="-127"/>
                          <a:ea typeface="Pretendard" panose="02000503000000020004" pitchFamily="50" charset="-127"/>
                          <a:cs typeface="Pretendard" panose="02000503000000020004" pitchFamily="50" charset="-127"/>
                        </a:rPr>
                        <a:t>IndentationError </a:t>
                      </a:r>
                      <a:r>
                        <a:rPr lang="ko-KR" altLang="en-US" sz="1200">
                          <a:effectLst/>
                          <a:latin typeface="Pretendard" panose="02000503000000020004" pitchFamily="50" charset="-127"/>
                          <a:ea typeface="Pretendard" panose="02000503000000020004" pitchFamily="50" charset="-127"/>
                          <a:cs typeface="Pretendard" panose="02000503000000020004" pitchFamily="50" charset="-127"/>
                        </a:rPr>
                        <a:t>및 해당 실행 실패</a:t>
                      </a:r>
                    </a:p>
                  </a:txBody>
                  <a:tcPr marL="29601" marR="29601" marT="14800" marB="14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6410531"/>
                  </a:ext>
                </a:extLst>
              </a:tr>
              <a:tr h="450124">
                <a:tc>
                  <a:txBody>
                    <a:bodyPr/>
                    <a:lstStyle/>
                    <a:p>
                      <a:pPr rtl="0"/>
                      <a:r>
                        <a:rPr lang="ko-KR" altLang="en-US" sz="1200">
                          <a:latin typeface="Pretendard" panose="02000503000000020004" pitchFamily="50" charset="-127"/>
                          <a:ea typeface="Pretendard" panose="02000503000000020004" pitchFamily="50" charset="-127"/>
                          <a:cs typeface="Pretendard" panose="02000503000000020004" pitchFamily="50" charset="-127"/>
                        </a:rPr>
                        <a:t>상류에서 이미 해소된 문제</a:t>
                      </a:r>
                    </a:p>
                  </a:txBody>
                  <a:tcPr marL="29601" marR="29601" marT="14800" marB="14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현재 상태를 왜곡하고 불필요한 재수정을 유발</a:t>
                      </a:r>
                    </a:p>
                  </a:txBody>
                  <a:tcPr marL="29601" marR="29601" marT="14800" marB="14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altLang="ko-KR" sz="1200">
                          <a:effectLst/>
                          <a:latin typeface="Pretendard" panose="02000503000000020004" pitchFamily="50" charset="-127"/>
                          <a:ea typeface="Pretendard" panose="02000503000000020004" pitchFamily="50" charset="-127"/>
                          <a:cs typeface="Pretendard" panose="02000503000000020004" pitchFamily="50" charset="-127"/>
                        </a:rPr>
                        <a:t>Step 3</a:t>
                      </a:r>
                      <a:r>
                        <a:rPr lang="ko-KR" altLang="en-US" sz="1200">
                          <a:effectLst/>
                          <a:latin typeface="Pretendard" panose="02000503000000020004" pitchFamily="50" charset="-127"/>
                          <a:ea typeface="Pretendard" panose="02000503000000020004" pitchFamily="50" charset="-127"/>
                          <a:cs typeface="Pretendard" panose="02000503000000020004" pitchFamily="50" charset="-127"/>
                        </a:rPr>
                        <a:t>에서 이미 정정된 들여쓰기 문제</a:t>
                      </a:r>
                    </a:p>
                  </a:txBody>
                  <a:tcPr marL="29601" marR="29601" marT="14800" marB="14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0478813"/>
                  </a:ext>
                </a:extLst>
              </a:tr>
              <a:tr h="370690">
                <a:tc>
                  <a:txBody>
                    <a:bodyPr/>
                    <a:lstStyle/>
                    <a:p>
                      <a:pPr rtl="0"/>
                      <a:r>
                        <a:rPr lang="ko-KR" altLang="en-US" sz="1200">
                          <a:latin typeface="Pretendard" panose="02000503000000020004" pitchFamily="50" charset="-127"/>
                          <a:ea typeface="Pretendard" panose="02000503000000020004" pitchFamily="50" charset="-127"/>
                          <a:cs typeface="Pretendard" panose="02000503000000020004" pitchFamily="50" charset="-127"/>
                        </a:rPr>
                        <a:t>원문 코드</a:t>
                      </a:r>
                      <a:r>
                        <a:rPr lang="en-US" altLang="ko-KR" sz="1200">
                          <a:latin typeface="Pretendard" panose="02000503000000020004" pitchFamily="50" charset="-127"/>
                          <a:ea typeface="Pretendard" panose="02000503000000020004" pitchFamily="50" charset="-127"/>
                          <a:cs typeface="Pretendard" panose="02000503000000020004" pitchFamily="50" charset="-127"/>
                        </a:rPr>
                        <a:t>·</a:t>
                      </a:r>
                      <a:r>
                        <a:rPr lang="ko-KR" altLang="en-US" sz="1200">
                          <a:latin typeface="Pretendard" panose="02000503000000020004" pitchFamily="50" charset="-127"/>
                          <a:ea typeface="Pretendard" panose="02000503000000020004" pitchFamily="50" charset="-127"/>
                          <a:cs typeface="Pretendard" panose="02000503000000020004" pitchFamily="50" charset="-127"/>
                        </a:rPr>
                        <a:t>출력 전문</a:t>
                      </a:r>
                    </a:p>
                  </a:txBody>
                  <a:tcPr marL="29601" marR="29601" marT="14800" marB="14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ko-KR" altLang="en-US" sz="1200">
                          <a:effectLst/>
                          <a:latin typeface="Pretendard" panose="02000503000000020004" pitchFamily="50" charset="-127"/>
                          <a:ea typeface="Pretendard" panose="02000503000000020004" pitchFamily="50" charset="-127"/>
                          <a:cs typeface="Pretendard" panose="02000503000000020004" pitchFamily="50" charset="-127"/>
                        </a:rPr>
                        <a:t>사실만 남기면 충분하며</a:t>
                      </a:r>
                      <a:r>
                        <a:rPr lang="en-US" altLang="ko-KR" sz="1200">
                          <a:effectLst/>
                          <a:latin typeface="Pretendard" panose="02000503000000020004" pitchFamily="50" charset="-127"/>
                          <a:ea typeface="Pretendard" panose="02000503000000020004" pitchFamily="50" charset="-127"/>
                          <a:cs typeface="Pretendard" panose="02000503000000020004" pitchFamily="50" charset="-127"/>
                        </a:rPr>
                        <a:t>, </a:t>
                      </a:r>
                      <a:r>
                        <a:rPr lang="ko-KR" altLang="en-US" sz="1200">
                          <a:effectLst/>
                          <a:latin typeface="Pretendard" panose="02000503000000020004" pitchFamily="50" charset="-127"/>
                          <a:ea typeface="Pretendard" panose="02000503000000020004" pitchFamily="50" charset="-127"/>
                          <a:cs typeface="Pretendard" panose="02000503000000020004" pitchFamily="50" charset="-127"/>
                        </a:rPr>
                        <a:t>컨텍스트 비용이 큼</a:t>
                      </a:r>
                    </a:p>
                  </a:txBody>
                  <a:tcPr marL="29601" marR="29601" marT="14800" marB="14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altLang="ko-KR" sz="1200">
                          <a:effectLst/>
                          <a:latin typeface="Pretendard" panose="02000503000000020004" pitchFamily="50" charset="-127"/>
                          <a:ea typeface="Pretendard" panose="02000503000000020004" pitchFamily="50" charset="-127"/>
                          <a:cs typeface="Pretendard" panose="02000503000000020004" pitchFamily="50" charset="-127"/>
                        </a:rPr>
                        <a:t>Step 4</a:t>
                      </a:r>
                      <a:r>
                        <a:rPr lang="ko-KR" altLang="en-US" sz="1200">
                          <a:effectLst/>
                          <a:latin typeface="Pretendard" panose="02000503000000020004" pitchFamily="50" charset="-127"/>
                          <a:ea typeface="Pretendard" panose="02000503000000020004" pitchFamily="50" charset="-127"/>
                          <a:cs typeface="Pretendard" panose="02000503000000020004" pitchFamily="50" charset="-127"/>
                        </a:rPr>
                        <a:t>의 </a:t>
                      </a:r>
                      <a:r>
                        <a:rPr lang="en-US" altLang="ko-KR" sz="1200">
                          <a:effectLst/>
                          <a:latin typeface="Pretendard" panose="02000503000000020004" pitchFamily="50" charset="-127"/>
                          <a:ea typeface="Pretendard" panose="02000503000000020004" pitchFamily="50" charset="-127"/>
                          <a:cs typeface="Pretendard" panose="02000503000000020004" pitchFamily="50" charset="-127"/>
                        </a:rPr>
                        <a:t>20×9 </a:t>
                      </a:r>
                      <a:r>
                        <a:rPr lang="ko-KR" altLang="en-US" sz="1200">
                          <a:effectLst/>
                          <a:latin typeface="Pretendard" panose="02000503000000020004" pitchFamily="50" charset="-127"/>
                          <a:ea typeface="Pretendard" panose="02000503000000020004" pitchFamily="50" charset="-127"/>
                          <a:cs typeface="Pretendard" panose="02000503000000020004" pitchFamily="50" charset="-127"/>
                        </a:rPr>
                        <a:t>데이터프레임 출력 전문 → </a:t>
                      </a:r>
                      <a:r>
                        <a:rPr lang="en-US" altLang="ko-KR" sz="1200">
                          <a:effectLst/>
                          <a:latin typeface="Pretendard" panose="02000503000000020004" pitchFamily="50" charset="-127"/>
                          <a:ea typeface="Pretendard" panose="02000503000000020004" pitchFamily="50" charset="-127"/>
                          <a:cs typeface="Pretendard" panose="02000503000000020004" pitchFamily="50" charset="-127"/>
                        </a:rPr>
                        <a:t>"</a:t>
                      </a:r>
                      <a:r>
                        <a:rPr lang="ko-KR" altLang="en-US" sz="1200">
                          <a:effectLst/>
                          <a:latin typeface="Pretendard" panose="02000503000000020004" pitchFamily="50" charset="-127"/>
                          <a:ea typeface="Pretendard" panose="02000503000000020004" pitchFamily="50" charset="-127"/>
                          <a:cs typeface="Pretendard" panose="02000503000000020004" pitchFamily="50" charset="-127"/>
                        </a:rPr>
                        <a:t>격자 </a:t>
                      </a:r>
                      <a:r>
                        <a:rPr lang="en-US" altLang="ko-KR" sz="1200">
                          <a:effectLst/>
                          <a:latin typeface="Pretendard" panose="02000503000000020004" pitchFamily="50" charset="-127"/>
                          <a:ea typeface="Pretendard" panose="02000503000000020004" pitchFamily="50" charset="-127"/>
                          <a:cs typeface="Pretendard" panose="02000503000000020004" pitchFamily="50" charset="-127"/>
                        </a:rPr>
                        <a:t>20×9, START/END </a:t>
                      </a:r>
                      <a:r>
                        <a:rPr lang="ko-KR" altLang="en-US" sz="1200">
                          <a:effectLst/>
                          <a:latin typeface="Pretendard" panose="02000503000000020004" pitchFamily="50" charset="-127"/>
                          <a:ea typeface="Pretendard" panose="02000503000000020004" pitchFamily="50" charset="-127"/>
                          <a:cs typeface="Pretendard" panose="02000503000000020004" pitchFamily="50" charset="-127"/>
                        </a:rPr>
                        <a:t>좌표</a:t>
                      </a:r>
                      <a:r>
                        <a:rPr lang="en-US" altLang="ko-KR" sz="1200">
                          <a:effectLst/>
                          <a:latin typeface="Pretendard" panose="02000503000000020004" pitchFamily="50" charset="-127"/>
                          <a:ea typeface="Pretendard" panose="02000503000000020004" pitchFamily="50" charset="-127"/>
                          <a:cs typeface="Pretendard" panose="02000503000000020004" pitchFamily="50" charset="-127"/>
                        </a:rPr>
                        <a:t>" </a:t>
                      </a:r>
                      <a:r>
                        <a:rPr lang="ko-KR" altLang="en-US" sz="1200">
                          <a:effectLst/>
                          <a:latin typeface="Pretendard" panose="02000503000000020004" pitchFamily="50" charset="-127"/>
                          <a:ea typeface="Pretendard" panose="02000503000000020004" pitchFamily="50" charset="-127"/>
                          <a:cs typeface="Pretendard" panose="02000503000000020004" pitchFamily="50" charset="-127"/>
                        </a:rPr>
                        <a:t>사실로 압축</a:t>
                      </a:r>
                    </a:p>
                  </a:txBody>
                  <a:tcPr marL="29601" marR="29601" marT="14800" marB="14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3682701"/>
                  </a:ext>
                </a:extLst>
              </a:tr>
              <a:tr h="330973">
                <a:tc>
                  <a:txBody>
                    <a:bodyPr/>
                    <a:lstStyle/>
                    <a:p>
                      <a:pPr rtl="0"/>
                      <a:r>
                        <a:rPr lang="ko-KR" altLang="en-US" sz="1200">
                          <a:latin typeface="Pretendard" panose="02000503000000020004" pitchFamily="50" charset="-127"/>
                          <a:ea typeface="Pretendard" panose="02000503000000020004" pitchFamily="50" charset="-127"/>
                          <a:cs typeface="Pretendard" panose="02000503000000020004" pitchFamily="50" charset="-127"/>
                        </a:rPr>
                        <a:t>중복</a:t>
                      </a:r>
                      <a:r>
                        <a:rPr lang="en-US" altLang="ko-KR" sz="1200">
                          <a:latin typeface="Pretendard" panose="02000503000000020004" pitchFamily="50" charset="-127"/>
                          <a:ea typeface="Pretendard" panose="02000503000000020004" pitchFamily="50" charset="-127"/>
                          <a:cs typeface="Pretendard" panose="02000503000000020004" pitchFamily="50" charset="-127"/>
                        </a:rPr>
                        <a:t>·</a:t>
                      </a:r>
                      <a:r>
                        <a:rPr lang="ko-KR" altLang="en-US" sz="1200">
                          <a:latin typeface="Pretendard" panose="02000503000000020004" pitchFamily="50" charset="-127"/>
                          <a:ea typeface="Pretendard" panose="02000503000000020004" pitchFamily="50" charset="-127"/>
                          <a:cs typeface="Pretendard" panose="02000503000000020004" pitchFamily="50" charset="-127"/>
                        </a:rPr>
                        <a:t>의례적 발화</a:t>
                      </a:r>
                    </a:p>
                  </a:txBody>
                  <a:tcPr marL="29601" marR="29601" marT="14800" marB="14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ko-KR" altLang="en-US" sz="1200">
                          <a:effectLst/>
                          <a:latin typeface="Pretendard" panose="02000503000000020004" pitchFamily="50" charset="-127"/>
                          <a:ea typeface="Pretendard" panose="02000503000000020004" pitchFamily="50" charset="-127"/>
                          <a:cs typeface="Pretendard" panose="02000503000000020004" pitchFamily="50" charset="-127"/>
                        </a:rPr>
                        <a:t>정보량 없음</a:t>
                      </a:r>
                    </a:p>
                  </a:txBody>
                  <a:tcPr marL="29601" marR="29601" marT="14800" marB="14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ko-KR" altLang="en-US" sz="1200">
                          <a:effectLst/>
                          <a:latin typeface="Pretendard" panose="02000503000000020004" pitchFamily="50" charset="-127"/>
                          <a:ea typeface="Pretendard" panose="02000503000000020004" pitchFamily="50" charset="-127"/>
                          <a:cs typeface="Pretendard" panose="02000503000000020004" pitchFamily="50" charset="-127"/>
                        </a:rPr>
                        <a:t>계획 재진술</a:t>
                      </a:r>
                      <a:r>
                        <a:rPr lang="en-US" altLang="ko-KR" sz="1200">
                          <a:effectLst/>
                          <a:latin typeface="Pretendard" panose="02000503000000020004" pitchFamily="50" charset="-127"/>
                          <a:ea typeface="Pretendard" panose="02000503000000020004" pitchFamily="50" charset="-127"/>
                          <a:cs typeface="Pretendard" panose="02000503000000020004" pitchFamily="50" charset="-127"/>
                        </a:rPr>
                        <a:t>, </a:t>
                      </a:r>
                      <a:r>
                        <a:rPr lang="ko-KR" altLang="en-US" sz="1200">
                          <a:effectLst/>
                          <a:latin typeface="Pretendard" panose="02000503000000020004" pitchFamily="50" charset="-127"/>
                          <a:ea typeface="Pretendard" panose="02000503000000020004" pitchFamily="50" charset="-127"/>
                          <a:cs typeface="Pretendard" panose="02000503000000020004" pitchFamily="50" charset="-127"/>
                        </a:rPr>
                        <a:t>확인 요청 문구</a:t>
                      </a:r>
                    </a:p>
                  </a:txBody>
                  <a:tcPr marL="29601" marR="29601" marT="14800" marB="14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5361707"/>
                  </a:ext>
                </a:extLst>
              </a:tr>
              <a:tr h="370690">
                <a:tc>
                  <a:txBody>
                    <a:bodyPr/>
                    <a:lstStyle/>
                    <a:p>
                      <a:pPr rtl="0"/>
                      <a:r>
                        <a:rPr lang="en-US" altLang="ko-KR" sz="1200">
                          <a:latin typeface="Pretendard" panose="02000503000000020004" pitchFamily="50" charset="-127"/>
                          <a:ea typeface="Pretendard" panose="02000503000000020004" pitchFamily="50" charset="-127"/>
                          <a:cs typeface="Pretendard" panose="02000503000000020004" pitchFamily="50" charset="-127"/>
                        </a:rPr>
                        <a:t>s* </a:t>
                      </a:r>
                      <a:r>
                        <a:rPr lang="ko-KR" altLang="en-US" sz="1200">
                          <a:latin typeface="Pretendard" panose="02000503000000020004" pitchFamily="50" charset="-127"/>
                          <a:ea typeface="Pretendard" panose="02000503000000020004" pitchFamily="50" charset="-127"/>
                          <a:cs typeface="Pretendard" panose="02000503000000020004" pitchFamily="50" charset="-127"/>
                        </a:rPr>
                        <a:t>이후 단계의 내용</a:t>
                      </a:r>
                    </a:p>
                  </a:txBody>
                  <a:tcPr marL="29601" marR="29601" marT="14800" marB="14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ko-KR" altLang="en-US" sz="1200">
                          <a:effectLst/>
                          <a:latin typeface="Pretendard" panose="02000503000000020004" pitchFamily="50" charset="-127"/>
                          <a:ea typeface="Pretendard" panose="02000503000000020004" pitchFamily="50" charset="-127"/>
                          <a:cs typeface="Pretendard" panose="02000503000000020004" pitchFamily="50" charset="-127"/>
                        </a:rPr>
                        <a:t>재생성 대상이므로 주입 시 정답 누설</a:t>
                      </a:r>
                    </a:p>
                  </a:txBody>
                  <a:tcPr marL="29601" marR="29601" marT="14800" marB="14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sz="1200" dirty="0">
                          <a:effectLst/>
                          <a:latin typeface="Pretendard" panose="02000503000000020004" pitchFamily="50" charset="-127"/>
                          <a:ea typeface="Pretendard" panose="02000503000000020004" pitchFamily="50" charset="-127"/>
                          <a:cs typeface="Pretendard" panose="02000503000000020004" pitchFamily="50" charset="-127"/>
                        </a:rPr>
                        <a:t>Step 6~10 </a:t>
                      </a:r>
                      <a:r>
                        <a:rPr lang="ko-KR" altLang="en-US" sz="1200" dirty="0">
                          <a:effectLst/>
                          <a:latin typeface="Pretendard" panose="02000503000000020004" pitchFamily="50" charset="-127"/>
                          <a:ea typeface="Pretendard" panose="02000503000000020004" pitchFamily="50" charset="-127"/>
                          <a:cs typeface="Pretendard" panose="02000503000000020004" pitchFamily="50" charset="-127"/>
                        </a:rPr>
                        <a:t>전부</a:t>
                      </a:r>
                    </a:p>
                  </a:txBody>
                  <a:tcPr marL="29601" marR="29601" marT="14800" marB="14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906773"/>
                  </a:ext>
                </a:extLst>
              </a:tr>
            </a:tbl>
          </a:graphicData>
        </a:graphic>
      </p:graphicFrame>
      <p:sp>
        <p:nvSpPr>
          <p:cNvPr id="7" name="Text 3">
            <a:extLst>
              <a:ext uri="{FF2B5EF4-FFF2-40B4-BE49-F238E27FC236}">
                <a16:creationId xmlns:a16="http://schemas.microsoft.com/office/drawing/2014/main" id="{22169071-10C6-4858-B87D-4A304CC1E9B8}"/>
              </a:ext>
            </a:extLst>
          </p:cNvPr>
          <p:cNvSpPr/>
          <p:nvPr/>
        </p:nvSpPr>
        <p:spPr>
          <a:xfrm>
            <a:off x="486878" y="5737336"/>
            <a:ext cx="8229600" cy="365760"/>
          </a:xfrm>
          <a:prstGeom prst="rect">
            <a:avLst/>
          </a:prstGeom>
          <a:noFill/>
          <a:ln/>
        </p:spPr>
        <p:txBody>
          <a:bodyPr wrap="square" rtlCol="0" anchor="ctr"/>
          <a:lstStyle/>
          <a:p>
            <a:pPr marL="0" indent="0">
              <a:buNone/>
            </a:pPr>
            <a:r>
              <a:rPr lang="ko-KR" altLang="en-US" sz="135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공유 메모리 출력 포맷 </a:t>
            </a:r>
            <a:r>
              <a:rPr lang="en-US" altLang="ko-KR" sz="1350" b="1" dirty="0">
                <a:solidFill>
                  <a:srgbClr val="1F3864"/>
                </a:solidFill>
                <a:latin typeface="Pretendard" panose="02000503000000020004" pitchFamily="50" charset="-127"/>
                <a:ea typeface="Pretendard" panose="02000503000000020004" pitchFamily="50" charset="-127"/>
                <a:cs typeface="Pretendard" panose="02000503000000020004" pitchFamily="50" charset="-127"/>
              </a:rPr>
              <a:t>(Appendix.)</a:t>
            </a:r>
            <a:endParaRPr lang="en-US" sz="13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0" name="TextBox 9">
            <a:extLst>
              <a:ext uri="{FF2B5EF4-FFF2-40B4-BE49-F238E27FC236}">
                <a16:creationId xmlns:a16="http://schemas.microsoft.com/office/drawing/2014/main" id="{AF081F58-CF30-4D02-B96B-626E487CE952}"/>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12</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extLst>
      <p:ext uri="{BB962C8B-B14F-4D97-AF65-F5344CB8AC3E}">
        <p14:creationId xmlns:p14="http://schemas.microsoft.com/office/powerpoint/2010/main" val="4095487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ext 0">
            <a:extLst>
              <a:ext uri="{FF2B5EF4-FFF2-40B4-BE49-F238E27FC236}">
                <a16:creationId xmlns:a16="http://schemas.microsoft.com/office/drawing/2014/main" id="{14D5DFA2-2E7C-4B20-930F-63D56B352D03}"/>
              </a:ext>
            </a:extLst>
          </p:cNvPr>
          <p:cNvSpPr/>
          <p:nvPr/>
        </p:nvSpPr>
        <p:spPr>
          <a:xfrm>
            <a:off x="502920" y="274320"/>
            <a:ext cx="10789920" cy="502920"/>
          </a:xfrm>
          <a:prstGeom prst="rect">
            <a:avLst/>
          </a:prstGeom>
          <a:noFill/>
          <a:ln/>
        </p:spPr>
        <p:txBody>
          <a:bodyPr wrap="square" rtlCol="0" anchor="ctr"/>
          <a:lstStyle/>
          <a:p>
            <a:pPr marL="0" indent="0">
              <a:buNone/>
            </a:pPr>
            <a:r>
              <a:rPr lang="en-US" sz="24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Phase 2. 오류 단계 교정: </a:t>
            </a:r>
            <a:r>
              <a:rPr lang="ko-KR" altLang="en-US" sz="24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공유 메모리 구축</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4" name="Text 4">
            <a:extLst>
              <a:ext uri="{FF2B5EF4-FFF2-40B4-BE49-F238E27FC236}">
                <a16:creationId xmlns:a16="http://schemas.microsoft.com/office/drawing/2014/main" id="{A050F466-D392-4E01-9641-9AAE597695C6}"/>
              </a:ext>
            </a:extLst>
          </p:cNvPr>
          <p:cNvSpPr/>
          <p:nvPr/>
        </p:nvSpPr>
        <p:spPr>
          <a:xfrm>
            <a:off x="3608173" y="1939707"/>
            <a:ext cx="914400" cy="685800"/>
          </a:xfrm>
          <a:prstGeom prst="roundRect">
            <a:avLst>
              <a:gd name="adj" fmla="val 6667"/>
            </a:avLst>
          </a:prstGeom>
          <a:solidFill>
            <a:srgbClr val="F2F2F2"/>
          </a:solidFill>
          <a:ln w="12700">
            <a:solidFill>
              <a:srgbClr val="595959"/>
            </a:solidFill>
          </a:ln>
        </p:spPr>
        <p:txBody>
          <a:bodyPr wrap="square" lIns="54864" tIns="54864" rIns="54864" bIns="54864" rtlCol="0" anchor="ctr"/>
          <a:lstStyle/>
          <a:p>
            <a:pPr marL="0" indent="0" algn="ctr">
              <a:buNone/>
            </a:pPr>
            <a:r>
              <a:rPr lang="en-US" sz="13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1</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5" name="Text 5">
            <a:extLst>
              <a:ext uri="{FF2B5EF4-FFF2-40B4-BE49-F238E27FC236}">
                <a16:creationId xmlns:a16="http://schemas.microsoft.com/office/drawing/2014/main" id="{1C226696-22B1-422C-AA4B-05115F78669C}"/>
              </a:ext>
            </a:extLst>
          </p:cNvPr>
          <p:cNvSpPr/>
          <p:nvPr/>
        </p:nvSpPr>
        <p:spPr>
          <a:xfrm>
            <a:off x="4678021" y="1939707"/>
            <a:ext cx="914400" cy="685800"/>
          </a:xfrm>
          <a:prstGeom prst="roundRect">
            <a:avLst>
              <a:gd name="adj" fmla="val 6667"/>
            </a:avLst>
          </a:prstGeom>
          <a:solidFill>
            <a:srgbClr val="F2F2F2"/>
          </a:solidFill>
          <a:ln w="12700">
            <a:solidFill>
              <a:srgbClr val="595959"/>
            </a:solidFill>
          </a:ln>
        </p:spPr>
        <p:txBody>
          <a:bodyPr wrap="square" lIns="54864" tIns="54864" rIns="54864" bIns="54864" rtlCol="0" anchor="ctr"/>
          <a:lstStyle/>
          <a:p>
            <a:pPr marL="0" indent="0" algn="ctr">
              <a:buNone/>
            </a:pPr>
            <a:r>
              <a:rPr lang="en-US" sz="13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2</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6" name="Text 6">
            <a:extLst>
              <a:ext uri="{FF2B5EF4-FFF2-40B4-BE49-F238E27FC236}">
                <a16:creationId xmlns:a16="http://schemas.microsoft.com/office/drawing/2014/main" id="{EC7DED2B-AF0E-48AE-AEEC-C15110A21A99}"/>
              </a:ext>
            </a:extLst>
          </p:cNvPr>
          <p:cNvSpPr/>
          <p:nvPr/>
        </p:nvSpPr>
        <p:spPr>
          <a:xfrm>
            <a:off x="5747869" y="1939707"/>
            <a:ext cx="914400" cy="685800"/>
          </a:xfrm>
          <a:prstGeom prst="roundRect">
            <a:avLst>
              <a:gd name="adj" fmla="val 6667"/>
            </a:avLst>
          </a:prstGeom>
          <a:solidFill>
            <a:srgbClr val="F2F2F2"/>
          </a:solidFill>
          <a:ln w="12700">
            <a:solidFill>
              <a:srgbClr val="595959"/>
            </a:solidFill>
          </a:ln>
        </p:spPr>
        <p:txBody>
          <a:bodyPr wrap="square" lIns="54864" tIns="54864" rIns="54864" bIns="54864" rtlCol="0" anchor="ctr"/>
          <a:lstStyle/>
          <a:p>
            <a:pPr marL="0" indent="0" algn="ctr">
              <a:buNone/>
            </a:pPr>
            <a:r>
              <a:rPr lang="en-US" sz="13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3</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7" name="Text 7">
            <a:extLst>
              <a:ext uri="{FF2B5EF4-FFF2-40B4-BE49-F238E27FC236}">
                <a16:creationId xmlns:a16="http://schemas.microsoft.com/office/drawing/2014/main" id="{6A7B83C3-940A-4B2E-A1D0-55267CF1F72B}"/>
              </a:ext>
            </a:extLst>
          </p:cNvPr>
          <p:cNvSpPr/>
          <p:nvPr/>
        </p:nvSpPr>
        <p:spPr>
          <a:xfrm>
            <a:off x="6817717" y="1939707"/>
            <a:ext cx="914400" cy="685800"/>
          </a:xfrm>
          <a:prstGeom prst="roundRect">
            <a:avLst>
              <a:gd name="adj" fmla="val 6667"/>
            </a:avLst>
          </a:prstGeom>
          <a:solidFill>
            <a:srgbClr val="F2F2F2"/>
          </a:solidFill>
          <a:ln w="12700">
            <a:solidFill>
              <a:srgbClr val="595959"/>
            </a:solidFill>
          </a:ln>
        </p:spPr>
        <p:txBody>
          <a:bodyPr wrap="square" lIns="54864" tIns="54864" rIns="54864" bIns="54864" rtlCol="0" anchor="ctr"/>
          <a:lstStyle/>
          <a:p>
            <a:pPr marL="0" indent="0" algn="ctr">
              <a:buNone/>
            </a:pPr>
            <a:r>
              <a:rPr lang="en-US" sz="13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4</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8" name="Text 9">
            <a:extLst>
              <a:ext uri="{FF2B5EF4-FFF2-40B4-BE49-F238E27FC236}">
                <a16:creationId xmlns:a16="http://schemas.microsoft.com/office/drawing/2014/main" id="{999D3D42-BA1A-416B-8380-4EC505CE4BB3}"/>
              </a:ext>
            </a:extLst>
          </p:cNvPr>
          <p:cNvSpPr/>
          <p:nvPr/>
        </p:nvSpPr>
        <p:spPr>
          <a:xfrm>
            <a:off x="7887565" y="1939707"/>
            <a:ext cx="914400" cy="685800"/>
          </a:xfrm>
          <a:prstGeom prst="roundRect">
            <a:avLst>
              <a:gd name="adj" fmla="val 6667"/>
            </a:avLst>
          </a:prstGeom>
          <a:solidFill>
            <a:srgbClr val="C0392B"/>
          </a:solidFill>
          <a:ln w="12700">
            <a:solidFill>
              <a:srgbClr val="C0392B"/>
            </a:solidFill>
          </a:ln>
        </p:spPr>
        <p:txBody>
          <a:bodyPr wrap="square" lIns="54864" tIns="54864" rIns="54864" bIns="54864" rtlCol="0" anchor="ctr"/>
          <a:lstStyle/>
          <a:p>
            <a:pPr marL="0" indent="0" algn="ctr">
              <a:buNone/>
            </a:pPr>
            <a:r>
              <a:rPr lang="en-US" sz="13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s*</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9" name="Text 15">
            <a:extLst>
              <a:ext uri="{FF2B5EF4-FFF2-40B4-BE49-F238E27FC236}">
                <a16:creationId xmlns:a16="http://schemas.microsoft.com/office/drawing/2014/main" id="{BF9437E9-48EB-485F-A642-F49ECBFEBC9E}"/>
              </a:ext>
            </a:extLst>
          </p:cNvPr>
          <p:cNvSpPr/>
          <p:nvPr/>
        </p:nvSpPr>
        <p:spPr>
          <a:xfrm>
            <a:off x="4146740" y="1415615"/>
            <a:ext cx="3017520" cy="548640"/>
          </a:xfrm>
          <a:prstGeom prst="rect">
            <a:avLst/>
          </a:prstGeom>
          <a:noFill/>
          <a:ln/>
        </p:spPr>
        <p:txBody>
          <a:bodyPr wrap="square" rtlCol="0" anchor="ctr"/>
          <a:lstStyle/>
          <a:p>
            <a:pPr marL="0" indent="0" algn="ctr">
              <a:buNone/>
            </a:pPr>
            <a:r>
              <a:rPr lang="en-US" sz="1200" dirty="0" err="1">
                <a:solidFill>
                  <a:srgbClr val="595959"/>
                </a:solidFill>
                <a:latin typeface="Pretendard" panose="02000503000000020004" pitchFamily="50" charset="-127"/>
                <a:ea typeface="Pretendard" panose="02000503000000020004" pitchFamily="50" charset="-127"/>
                <a:cs typeface="Pretendard" panose="02000503000000020004" pitchFamily="50" charset="-127"/>
              </a:rPr>
              <a:t>상류</a:t>
            </a:r>
            <a:r>
              <a:rPr lang="en-US" sz="1200" dirty="0">
                <a:solidFill>
                  <a:srgbClr val="595959"/>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595959"/>
                </a:solidFill>
                <a:latin typeface="Pretendard" panose="02000503000000020004" pitchFamily="50" charset="-127"/>
                <a:ea typeface="Pretendard" panose="02000503000000020004" pitchFamily="50" charset="-127"/>
                <a:cs typeface="Pretendard" panose="02000503000000020004" pitchFamily="50" charset="-127"/>
              </a:rPr>
              <a:t>궤적</a:t>
            </a:r>
            <a:r>
              <a:rPr lang="en-US" altLang="ko-KR" sz="1200" dirty="0">
                <a:solidFill>
                  <a:srgbClr val="595959"/>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595959"/>
                </a:solidFill>
                <a:latin typeface="Pretendard" panose="02000503000000020004" pitchFamily="50" charset="-127"/>
                <a:ea typeface="Pretendard" panose="02000503000000020004" pitchFamily="50" charset="-127"/>
                <a:cs typeface="Pretendard" panose="02000503000000020004" pitchFamily="50" charset="-127"/>
              </a:rPr>
              <a:t>현행유지</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0" name="Text 16">
            <a:extLst>
              <a:ext uri="{FF2B5EF4-FFF2-40B4-BE49-F238E27FC236}">
                <a16:creationId xmlns:a16="http://schemas.microsoft.com/office/drawing/2014/main" id="{E1DD66D3-8BB3-45F7-A332-C9E9647F516D}"/>
              </a:ext>
            </a:extLst>
          </p:cNvPr>
          <p:cNvSpPr/>
          <p:nvPr/>
        </p:nvSpPr>
        <p:spPr>
          <a:xfrm>
            <a:off x="7510802" y="1440174"/>
            <a:ext cx="1580387" cy="548640"/>
          </a:xfrm>
          <a:prstGeom prst="rect">
            <a:avLst/>
          </a:prstGeom>
          <a:noFill/>
          <a:ln/>
        </p:spPr>
        <p:txBody>
          <a:bodyPr wrap="square" rtlCol="0" anchor="ctr"/>
          <a:lstStyle/>
          <a:p>
            <a:pPr marL="0" indent="0" algn="ctr">
              <a:buNone/>
            </a:pPr>
            <a:r>
              <a:rPr lang="ko-KR" altLang="en-US" sz="1200" b="1" dirty="0">
                <a:solidFill>
                  <a:srgbClr val="B7791F"/>
                </a:solidFill>
                <a:latin typeface="Pretendard" panose="02000503000000020004" pitchFamily="50" charset="-127"/>
                <a:ea typeface="Pretendard" panose="02000503000000020004" pitchFamily="50" charset="-127"/>
                <a:cs typeface="Pretendard" panose="02000503000000020004" pitchFamily="50" charset="-127"/>
              </a:rPr>
              <a:t>s* 교정</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1" name="Text 3">
            <a:extLst>
              <a:ext uri="{FF2B5EF4-FFF2-40B4-BE49-F238E27FC236}">
                <a16:creationId xmlns:a16="http://schemas.microsoft.com/office/drawing/2014/main" id="{9C31C08A-2FB0-4619-A637-DC7D7D264E4F}"/>
              </a:ext>
            </a:extLst>
          </p:cNvPr>
          <p:cNvSpPr/>
          <p:nvPr/>
        </p:nvSpPr>
        <p:spPr>
          <a:xfrm>
            <a:off x="211668" y="1071189"/>
            <a:ext cx="5808131" cy="320040"/>
          </a:xfrm>
          <a:prstGeom prst="rect">
            <a:avLst/>
          </a:prstGeom>
          <a:noFill/>
          <a:ln/>
        </p:spPr>
        <p:txBody>
          <a:bodyPr wrap="square" rtlCol="0" anchor="ctr"/>
          <a:lstStyle/>
          <a:p>
            <a:pPr marL="0" indent="0">
              <a:buNone/>
            </a:pPr>
            <a:r>
              <a:rPr lang="ko-KR" altLang="en-US" sz="1600" b="1"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수리에이저전트가</a:t>
            </a:r>
            <a:r>
              <a:rPr lang="ko-KR" altLang="en-US" sz="16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페르소나</a:t>
            </a:r>
            <a:r>
              <a:rPr lang="en-US" altLang="ko-KR" sz="16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a:t>
            </a:r>
            <a:r>
              <a:rPr lang="ko-KR" altLang="en-US" sz="16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공용메모리를 이용하여 </a:t>
            </a:r>
            <a:r>
              <a:rPr lang="en-US" altLang="ko-KR" sz="16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s* </a:t>
            </a:r>
            <a:r>
              <a:rPr lang="ko-KR" altLang="en-US" sz="16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교정</a:t>
            </a:r>
            <a:endParaRPr lang="en-US" sz="16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2" name="TextBox 31">
            <a:extLst>
              <a:ext uri="{FF2B5EF4-FFF2-40B4-BE49-F238E27FC236}">
                <a16:creationId xmlns:a16="http://schemas.microsoft.com/office/drawing/2014/main" id="{9313F728-99A5-4253-A1AF-6B962592F6DC}"/>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13</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extLst>
      <p:ext uri="{BB962C8B-B14F-4D97-AF65-F5344CB8AC3E}">
        <p14:creationId xmlns:p14="http://schemas.microsoft.com/office/powerpoint/2010/main" val="1798174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3">
            <a:extLst>
              <a:ext uri="{FF2B5EF4-FFF2-40B4-BE49-F238E27FC236}">
                <a16:creationId xmlns:a16="http://schemas.microsoft.com/office/drawing/2014/main" id="{A1AE34FB-C224-42ED-2CD6-891FE53C3B43}"/>
              </a:ext>
            </a:extLst>
          </p:cNvPr>
          <p:cNvSpPr/>
          <p:nvPr/>
        </p:nvSpPr>
        <p:spPr>
          <a:xfrm>
            <a:off x="4825060" y="1478063"/>
            <a:ext cx="2285405" cy="777038"/>
          </a:xfrm>
          <a:prstGeom prst="roundRect">
            <a:avLst>
              <a:gd name="adj" fmla="val 18627"/>
            </a:avLst>
          </a:prstGeom>
          <a:solidFill>
            <a:schemeClr val="bg1">
              <a:lumMod val="95000"/>
            </a:schemeClr>
          </a:solidFill>
          <a:ln w="12700">
            <a:solidFill>
              <a:schemeClr val="bg1">
                <a:lumMod val="75000"/>
              </a:schemeClr>
            </a:solidFill>
          </a:ln>
        </p:spPr>
        <p:txBody>
          <a:bodyPr wrap="square" lIns="54850" tIns="54850" rIns="54850" bIns="54850" rtlCol="0" anchor="ctr"/>
          <a:lstStyle/>
          <a:p>
            <a:pPr algn="ctr"/>
            <a:r>
              <a:rPr lang="en-US" altLang="ko-KR" sz="1100" b="1" dirty="0">
                <a:latin typeface="Pretendard" panose="02000503000000020004" pitchFamily="2" charset="-127"/>
                <a:ea typeface="Pretendard" panose="02000503000000020004" pitchFamily="2" charset="-127"/>
                <a:cs typeface="Pretendard" panose="02000503000000020004" pitchFamily="2" charset="-127"/>
              </a:rPr>
              <a:t>1-5 step</a:t>
            </a:r>
            <a:r>
              <a:rPr lang="ko-KR" altLang="en-US" sz="1100" b="1" dirty="0">
                <a:latin typeface="Pretendard" panose="02000503000000020004" pitchFamily="2" charset="-127"/>
                <a:ea typeface="Pretendard" panose="02000503000000020004" pitchFamily="2" charset="-127"/>
                <a:cs typeface="Pretendard" panose="02000503000000020004" pitchFamily="2" charset="-127"/>
              </a:rPr>
              <a:t> </a:t>
            </a:r>
            <a:endParaRPr lang="en-US" altLang="ko-KR" sz="1100" b="1" dirty="0">
              <a:latin typeface="Pretendard" panose="02000503000000020004" pitchFamily="2" charset="-127"/>
              <a:ea typeface="Pretendard" panose="02000503000000020004" pitchFamily="2" charset="-127"/>
              <a:cs typeface="Pretendard" panose="02000503000000020004" pitchFamily="2" charset="-127"/>
            </a:endParaRPr>
          </a:p>
          <a:p>
            <a:pPr algn="ctr"/>
            <a:r>
              <a:rPr lang="ko-KR" altLang="en-US" sz="1100" b="1" dirty="0">
                <a:latin typeface="Pretendard" panose="02000503000000020004" pitchFamily="2" charset="-127"/>
                <a:ea typeface="Pretendard" panose="02000503000000020004" pitchFamily="2" charset="-127"/>
                <a:cs typeface="Pretendard" panose="02000503000000020004" pitchFamily="2" charset="-127"/>
              </a:rPr>
              <a:t>결과 로그(교정 반영) 입력</a:t>
            </a:r>
            <a:endParaRPr lang="en-US" altLang="ko-KR" sz="1100" b="1"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7" name="Text 14">
            <a:extLst>
              <a:ext uri="{FF2B5EF4-FFF2-40B4-BE49-F238E27FC236}">
                <a16:creationId xmlns:a16="http://schemas.microsoft.com/office/drawing/2014/main" id="{0F0CDF66-D458-D555-F088-97B59982A4F1}"/>
              </a:ext>
            </a:extLst>
          </p:cNvPr>
          <p:cNvSpPr/>
          <p:nvPr/>
        </p:nvSpPr>
        <p:spPr>
          <a:xfrm>
            <a:off x="4832679" y="5768994"/>
            <a:ext cx="2285405" cy="777038"/>
          </a:xfrm>
          <a:prstGeom prst="roundRect">
            <a:avLst>
              <a:gd name="adj" fmla="val 5882"/>
            </a:avLst>
          </a:prstGeom>
          <a:solidFill>
            <a:srgbClr val="FBEAE8"/>
          </a:solidFill>
          <a:ln w="12700">
            <a:solidFill>
              <a:srgbClr val="C0392B"/>
            </a:solidFill>
          </a:ln>
        </p:spPr>
        <p:txBody>
          <a:bodyPr wrap="square" lIns="54850" tIns="54850" rIns="54850" bIns="54850" rtlCol="0" anchor="ctr"/>
          <a:lstStyle/>
          <a:p>
            <a:pPr algn="ctr"/>
            <a:r>
              <a:rPr lang="ko-KR" altLang="en-US" sz="1150" b="1" dirty="0">
                <a:latin typeface="Pretendard" panose="02000503000000020004" pitchFamily="2" charset="-127"/>
                <a:ea typeface="Pretendard" panose="02000503000000020004" pitchFamily="2" charset="-127"/>
                <a:cs typeface="Pretendard" panose="02000503000000020004" pitchFamily="2" charset="-127"/>
              </a:rPr>
              <a:t>에이전트 실행</a:t>
            </a:r>
            <a:endParaRPr lang="en-US" altLang="ko-KR" sz="1150" b="1" dirty="0">
              <a:latin typeface="Pretendard" panose="02000503000000020004" pitchFamily="2" charset="-127"/>
              <a:ea typeface="Pretendard" panose="02000503000000020004" pitchFamily="2" charset="-127"/>
              <a:cs typeface="Pretendard" panose="02000503000000020004" pitchFamily="2" charset="-127"/>
            </a:endParaRPr>
          </a:p>
          <a:p>
            <a:pPr algn="ctr"/>
            <a:r>
              <a:rPr lang="en-US" sz="1150" dirty="0">
                <a:latin typeface="Pretendard" panose="02000503000000020004" pitchFamily="2" charset="-127"/>
                <a:ea typeface="Pretendard" panose="02000503000000020004" pitchFamily="2" charset="-127"/>
                <a:cs typeface="Pretendard" panose="02000503000000020004" pitchFamily="2" charset="-127"/>
              </a:rPr>
              <a:t>Step 6~11</a:t>
            </a:r>
            <a:r>
              <a:rPr lang="ko-KR" altLang="en-US" sz="1150" dirty="0">
                <a:latin typeface="Pretendard" panose="02000503000000020004" pitchFamily="2" charset="-127"/>
                <a:ea typeface="Pretendard" panose="02000503000000020004" pitchFamily="2" charset="-127"/>
                <a:cs typeface="Pretendard" panose="02000503000000020004" pitchFamily="2" charset="-127"/>
              </a:rPr>
              <a:t> </a:t>
            </a:r>
            <a:r>
              <a:rPr lang="en-US" altLang="ko-KR" sz="1150" dirty="0">
                <a:latin typeface="Pretendard" panose="02000503000000020004" pitchFamily="2" charset="-127"/>
                <a:ea typeface="Pretendard" panose="02000503000000020004" pitchFamily="2" charset="-127"/>
                <a:cs typeface="Pretendard" panose="02000503000000020004" pitchFamily="2" charset="-127"/>
              </a:rPr>
              <a:t>…</a:t>
            </a:r>
            <a:endParaRPr lang="en-US" sz="1150"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9" name="Text 15">
            <a:extLst>
              <a:ext uri="{FF2B5EF4-FFF2-40B4-BE49-F238E27FC236}">
                <a16:creationId xmlns:a16="http://schemas.microsoft.com/office/drawing/2014/main" id="{3A7D16D4-427B-AC27-6680-ADA7A9D523E6}"/>
              </a:ext>
            </a:extLst>
          </p:cNvPr>
          <p:cNvSpPr/>
          <p:nvPr/>
        </p:nvSpPr>
        <p:spPr>
          <a:xfrm>
            <a:off x="3199885" y="3003963"/>
            <a:ext cx="2454271" cy="507657"/>
          </a:xfrm>
          <a:prstGeom prst="roundRect">
            <a:avLst>
              <a:gd name="adj" fmla="val 5882"/>
            </a:avLst>
          </a:prstGeom>
          <a:solidFill>
            <a:srgbClr val="EDF2F9"/>
          </a:solidFill>
          <a:ln w="12700">
            <a:solidFill>
              <a:srgbClr val="2E5FA3"/>
            </a:solidFill>
          </a:ln>
        </p:spPr>
        <p:txBody>
          <a:bodyPr wrap="square" lIns="54850" tIns="54850" rIns="54850" bIns="54850" rtlCol="0" anchor="ctr"/>
          <a:lstStyle/>
          <a:p>
            <a:pPr algn="ctr"/>
            <a:r>
              <a:rPr lang="ko-KR" altLang="en-US" sz="1150" b="1" dirty="0">
                <a:latin typeface="Pretendard" panose="02000503000000020004" pitchFamily="2" charset="-127"/>
                <a:ea typeface="Pretendard" panose="02000503000000020004" pitchFamily="2" charset="-127"/>
                <a:cs typeface="Pretendard" panose="02000503000000020004" pitchFamily="2" charset="-127"/>
              </a:rPr>
              <a:t>에이전트 정의</a:t>
            </a:r>
            <a:endParaRPr lang="en-US" altLang="ko-KR" sz="1150" b="1" dirty="0">
              <a:latin typeface="Pretendard" panose="02000503000000020004" pitchFamily="2" charset="-127"/>
              <a:ea typeface="Pretendard" panose="02000503000000020004" pitchFamily="2" charset="-127"/>
              <a:cs typeface="Pretendard" panose="02000503000000020004" pitchFamily="2" charset="-127"/>
            </a:endParaRPr>
          </a:p>
          <a:p>
            <a:pPr algn="ctr"/>
            <a:r>
              <a:rPr lang="ko-KR" altLang="en-US" sz="1000" dirty="0">
                <a:latin typeface="Pretendard" panose="02000503000000020004" pitchFamily="2" charset="-127"/>
                <a:ea typeface="Pretendard" panose="02000503000000020004" pitchFamily="2" charset="-127"/>
                <a:cs typeface="Pretendard" panose="02000503000000020004" pitchFamily="2" charset="-127"/>
              </a:rPr>
              <a:t>필요한 역할 새로 정의</a:t>
            </a:r>
            <a:endParaRPr lang="en-US" sz="1000"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11" name="Text 16">
            <a:extLst>
              <a:ext uri="{FF2B5EF4-FFF2-40B4-BE49-F238E27FC236}">
                <a16:creationId xmlns:a16="http://schemas.microsoft.com/office/drawing/2014/main" id="{C79D62E6-C061-7403-6640-A8D366DA3A87}"/>
              </a:ext>
            </a:extLst>
          </p:cNvPr>
          <p:cNvSpPr/>
          <p:nvPr/>
        </p:nvSpPr>
        <p:spPr>
          <a:xfrm>
            <a:off x="4832679" y="4566564"/>
            <a:ext cx="2285405" cy="777038"/>
          </a:xfrm>
          <a:prstGeom prst="roundRect">
            <a:avLst>
              <a:gd name="adj" fmla="val 5882"/>
            </a:avLst>
          </a:prstGeom>
          <a:solidFill>
            <a:srgbClr val="FDF3E1"/>
          </a:solidFill>
          <a:ln w="12700">
            <a:solidFill>
              <a:srgbClr val="B7791F"/>
            </a:solidFill>
          </a:ln>
        </p:spPr>
        <p:txBody>
          <a:bodyPr wrap="square" lIns="54850" tIns="54850" rIns="54850" bIns="54850" rtlCol="0" anchor="ctr"/>
          <a:lstStyle/>
          <a:p>
            <a:pPr algn="ctr"/>
            <a:r>
              <a:rPr lang="ko-KR" altLang="en-US" sz="1150" b="1" dirty="0" err="1">
                <a:latin typeface="Pretendard" panose="02000503000000020004" pitchFamily="2" charset="-127"/>
                <a:ea typeface="Pretendard" panose="02000503000000020004" pitchFamily="2" charset="-127"/>
                <a:cs typeface="Pretendard" panose="02000503000000020004" pitchFamily="2" charset="-127"/>
              </a:rPr>
              <a:t>오케스트레이터</a:t>
            </a:r>
            <a:endParaRPr lang="en-US" altLang="ko-KR" sz="1150" b="1" dirty="0">
              <a:latin typeface="Pretendard" panose="02000503000000020004" pitchFamily="2" charset="-127"/>
              <a:ea typeface="Pretendard" panose="02000503000000020004" pitchFamily="2" charset="-127"/>
              <a:cs typeface="Pretendard" panose="02000503000000020004" pitchFamily="2" charset="-127"/>
            </a:endParaRPr>
          </a:p>
          <a:p>
            <a:pPr algn="ctr"/>
            <a:r>
              <a:rPr lang="ko-KR" altLang="en-US" sz="1150" dirty="0">
                <a:latin typeface="Pretendard" panose="02000503000000020004" pitchFamily="2" charset="-127"/>
                <a:ea typeface="Pretendard" panose="02000503000000020004" pitchFamily="2" charset="-127"/>
                <a:cs typeface="Pretendard" panose="02000503000000020004" pitchFamily="2" charset="-127"/>
              </a:rPr>
              <a:t>다음 에이전트 결정</a:t>
            </a:r>
            <a:endParaRPr lang="en-US" altLang="ko-KR" sz="1150"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25" name="Shape 17">
            <a:extLst>
              <a:ext uri="{FF2B5EF4-FFF2-40B4-BE49-F238E27FC236}">
                <a16:creationId xmlns:a16="http://schemas.microsoft.com/office/drawing/2014/main" id="{2971463C-7ACA-1961-0AEB-C29AE23A3CA7}"/>
              </a:ext>
            </a:extLst>
          </p:cNvPr>
          <p:cNvSpPr/>
          <p:nvPr/>
        </p:nvSpPr>
        <p:spPr>
          <a:xfrm>
            <a:off x="5929673" y="2255101"/>
            <a:ext cx="0" cy="301673"/>
          </a:xfrm>
          <a:prstGeom prst="line">
            <a:avLst/>
          </a:prstGeom>
          <a:noFill/>
          <a:ln w="22225">
            <a:solidFill>
              <a:srgbClr val="595959"/>
            </a:solidFill>
            <a:prstDash val="solid"/>
            <a:tailEnd type="triangle"/>
          </a:ln>
        </p:spPr>
        <p:txBody>
          <a:bodyPr/>
          <a:lstStyle/>
          <a:p>
            <a:endParaRPr lang="ko-KR" altLang="en-US" sz="1799"/>
          </a:p>
        </p:txBody>
      </p:sp>
      <p:sp>
        <p:nvSpPr>
          <p:cNvPr id="26" name="사각형: 둥근 모서리 25">
            <a:extLst>
              <a:ext uri="{FF2B5EF4-FFF2-40B4-BE49-F238E27FC236}">
                <a16:creationId xmlns:a16="http://schemas.microsoft.com/office/drawing/2014/main" id="{560287FA-03E7-1258-8053-251305E8253A}"/>
              </a:ext>
            </a:extLst>
          </p:cNvPr>
          <p:cNvSpPr/>
          <p:nvPr/>
        </p:nvSpPr>
        <p:spPr>
          <a:xfrm>
            <a:off x="2744389" y="2583902"/>
            <a:ext cx="6700045" cy="1330105"/>
          </a:xfrm>
          <a:prstGeom prst="roundRect">
            <a:avLst/>
          </a:prstGeom>
          <a:noFill/>
          <a:ln>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799"/>
          </a:p>
        </p:txBody>
      </p:sp>
      <p:sp>
        <p:nvSpPr>
          <p:cNvPr id="28" name="TextBox 27">
            <a:extLst>
              <a:ext uri="{FF2B5EF4-FFF2-40B4-BE49-F238E27FC236}">
                <a16:creationId xmlns:a16="http://schemas.microsoft.com/office/drawing/2014/main" id="{C657987B-371E-2785-B643-8594EA1ABB57}"/>
              </a:ext>
            </a:extLst>
          </p:cNvPr>
          <p:cNvSpPr txBox="1"/>
          <p:nvPr/>
        </p:nvSpPr>
        <p:spPr>
          <a:xfrm>
            <a:off x="2521084" y="2605603"/>
            <a:ext cx="2387855" cy="276927"/>
          </a:xfrm>
          <a:prstGeom prst="rect">
            <a:avLst/>
          </a:prstGeom>
          <a:noFill/>
        </p:spPr>
        <p:txBody>
          <a:bodyPr wrap="square">
            <a:spAutoFit/>
          </a:bodyPr>
          <a:lstStyle/>
          <a:p>
            <a:pPr algn="ct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하류 궤적 생성 에이전트 정의</a:t>
            </a:r>
            <a:endParaRPr lang="en-US" altLang="ko-KR" sz="1200" b="1"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34" name="Text 15">
            <a:extLst>
              <a:ext uri="{FF2B5EF4-FFF2-40B4-BE49-F238E27FC236}">
                <a16:creationId xmlns:a16="http://schemas.microsoft.com/office/drawing/2014/main" id="{4E1E08BE-2FB2-8FBD-A006-83C339986651}"/>
              </a:ext>
            </a:extLst>
          </p:cNvPr>
          <p:cNvSpPr/>
          <p:nvPr/>
        </p:nvSpPr>
        <p:spPr>
          <a:xfrm>
            <a:off x="6233124" y="3001528"/>
            <a:ext cx="2454271" cy="507657"/>
          </a:xfrm>
          <a:prstGeom prst="roundRect">
            <a:avLst>
              <a:gd name="adj" fmla="val 5882"/>
            </a:avLst>
          </a:prstGeom>
          <a:solidFill>
            <a:srgbClr val="F1E8F8"/>
          </a:solidFill>
          <a:ln w="12700">
            <a:solidFill>
              <a:srgbClr val="7030A0"/>
            </a:solidFill>
          </a:ln>
        </p:spPr>
        <p:txBody>
          <a:bodyPr wrap="square" lIns="54850" tIns="54850" rIns="54850" bIns="54850" rtlCol="0" anchor="ctr"/>
          <a:lstStyle/>
          <a:p>
            <a:pPr algn="ctr"/>
            <a:r>
              <a:rPr lang="ko-KR" altLang="en-US" sz="1150" b="1" dirty="0">
                <a:latin typeface="Pretendard" panose="02000503000000020004" pitchFamily="2" charset="-127"/>
                <a:ea typeface="Pretendard" panose="02000503000000020004" pitchFamily="2" charset="-127"/>
                <a:cs typeface="Pretendard" panose="02000503000000020004" pitchFamily="2" charset="-127"/>
              </a:rPr>
              <a:t>프롬프트 생성</a:t>
            </a:r>
            <a:endParaRPr lang="en-US" altLang="ko-KR" sz="1150" b="1" dirty="0">
              <a:latin typeface="Pretendard" panose="02000503000000020004" pitchFamily="2" charset="-127"/>
              <a:ea typeface="Pretendard" panose="02000503000000020004" pitchFamily="2" charset="-127"/>
              <a:cs typeface="Pretendard" panose="02000503000000020004" pitchFamily="2" charset="-127"/>
            </a:endParaRPr>
          </a:p>
          <a:p>
            <a:pPr algn="ctr"/>
            <a:r>
              <a:rPr lang="ko-KR" altLang="en-US" sz="1000" dirty="0">
                <a:latin typeface="Pretendard" panose="02000503000000020004" pitchFamily="2" charset="-127"/>
                <a:ea typeface="Pretendard" panose="02000503000000020004" pitchFamily="2" charset="-127"/>
                <a:cs typeface="Pretendard" panose="02000503000000020004" pitchFamily="2" charset="-127"/>
              </a:rPr>
              <a:t>역할별 </a:t>
            </a:r>
            <a:r>
              <a:rPr lang="ko-KR" altLang="en-US" sz="1000" dirty="0" err="1">
                <a:latin typeface="Pretendard" panose="02000503000000020004" pitchFamily="2" charset="-127"/>
                <a:ea typeface="Pretendard" panose="02000503000000020004" pitchFamily="2" charset="-127"/>
                <a:cs typeface="Pretendard" panose="02000503000000020004" pitchFamily="2" charset="-127"/>
              </a:rPr>
              <a:t>지시문</a:t>
            </a:r>
            <a:r>
              <a:rPr lang="ko-KR" altLang="en-US" sz="1000" dirty="0">
                <a:latin typeface="Pretendard" panose="02000503000000020004" pitchFamily="2" charset="-127"/>
                <a:ea typeface="Pretendard" panose="02000503000000020004" pitchFamily="2" charset="-127"/>
                <a:cs typeface="Pretendard" panose="02000503000000020004" pitchFamily="2" charset="-127"/>
              </a:rPr>
              <a:t> 작성</a:t>
            </a:r>
            <a:endParaRPr lang="en-US" sz="1000"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36" name="Shape 17">
            <a:extLst>
              <a:ext uri="{FF2B5EF4-FFF2-40B4-BE49-F238E27FC236}">
                <a16:creationId xmlns:a16="http://schemas.microsoft.com/office/drawing/2014/main" id="{99A74039-247D-2CF7-6C65-B5E69EA10148}"/>
              </a:ext>
            </a:extLst>
          </p:cNvPr>
          <p:cNvSpPr/>
          <p:nvPr/>
        </p:nvSpPr>
        <p:spPr>
          <a:xfrm>
            <a:off x="5654157" y="3255356"/>
            <a:ext cx="578968" cy="0"/>
          </a:xfrm>
          <a:prstGeom prst="line">
            <a:avLst/>
          </a:prstGeom>
          <a:noFill/>
          <a:ln w="22225">
            <a:solidFill>
              <a:srgbClr val="595959"/>
            </a:solidFill>
            <a:prstDash val="solid"/>
            <a:tailEnd type="triangle"/>
          </a:ln>
        </p:spPr>
        <p:txBody>
          <a:bodyPr/>
          <a:lstStyle/>
          <a:p>
            <a:endParaRPr lang="ko-KR" altLang="en-US" sz="1799"/>
          </a:p>
        </p:txBody>
      </p:sp>
      <p:sp>
        <p:nvSpPr>
          <p:cNvPr id="38" name="Shape 17">
            <a:extLst>
              <a:ext uri="{FF2B5EF4-FFF2-40B4-BE49-F238E27FC236}">
                <a16:creationId xmlns:a16="http://schemas.microsoft.com/office/drawing/2014/main" id="{836EDF12-144E-0922-3A2D-D0336BBCCC39}"/>
              </a:ext>
            </a:extLst>
          </p:cNvPr>
          <p:cNvSpPr/>
          <p:nvPr/>
        </p:nvSpPr>
        <p:spPr>
          <a:xfrm>
            <a:off x="5952527" y="3885356"/>
            <a:ext cx="0" cy="301673"/>
          </a:xfrm>
          <a:prstGeom prst="line">
            <a:avLst/>
          </a:prstGeom>
          <a:noFill/>
          <a:ln w="22225">
            <a:solidFill>
              <a:srgbClr val="595959"/>
            </a:solidFill>
            <a:prstDash val="solid"/>
            <a:tailEnd type="triangle"/>
          </a:ln>
        </p:spPr>
        <p:txBody>
          <a:bodyPr/>
          <a:lstStyle/>
          <a:p>
            <a:endParaRPr lang="ko-KR" altLang="en-US" sz="1799"/>
          </a:p>
        </p:txBody>
      </p:sp>
      <p:sp>
        <p:nvSpPr>
          <p:cNvPr id="40" name="사각형: 둥근 모서리 39">
            <a:extLst>
              <a:ext uri="{FF2B5EF4-FFF2-40B4-BE49-F238E27FC236}">
                <a16:creationId xmlns:a16="http://schemas.microsoft.com/office/drawing/2014/main" id="{5468B78A-1AEC-BD6B-F51A-E7B93D8EDF75}"/>
              </a:ext>
            </a:extLst>
          </p:cNvPr>
          <p:cNvSpPr/>
          <p:nvPr/>
        </p:nvSpPr>
        <p:spPr>
          <a:xfrm>
            <a:off x="3956607" y="4214613"/>
            <a:ext cx="4022313" cy="2579303"/>
          </a:xfrm>
          <a:prstGeom prst="roundRect">
            <a:avLst>
              <a:gd name="adj" fmla="val 9454"/>
            </a:avLst>
          </a:prstGeom>
          <a:noFill/>
          <a:ln>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799"/>
          </a:p>
        </p:txBody>
      </p:sp>
      <p:sp>
        <p:nvSpPr>
          <p:cNvPr id="42" name="TextBox 41">
            <a:extLst>
              <a:ext uri="{FF2B5EF4-FFF2-40B4-BE49-F238E27FC236}">
                <a16:creationId xmlns:a16="http://schemas.microsoft.com/office/drawing/2014/main" id="{B73887F9-6302-13C3-F228-6D676FA641B4}"/>
              </a:ext>
            </a:extLst>
          </p:cNvPr>
          <p:cNvSpPr txBox="1"/>
          <p:nvPr/>
        </p:nvSpPr>
        <p:spPr>
          <a:xfrm>
            <a:off x="3922326" y="4256479"/>
            <a:ext cx="594709" cy="276927"/>
          </a:xfrm>
          <a:prstGeom prst="rect">
            <a:avLst/>
          </a:prstGeom>
          <a:noFill/>
        </p:spPr>
        <p:txBody>
          <a:bodyPr wrap="square">
            <a:spAutoFit/>
          </a:bodyPr>
          <a:lstStyle/>
          <a:p>
            <a:pPr algn="ctr"/>
            <a:r>
              <a:rPr lang="ko-KR" altLang="en-US" sz="1200" b="1" dirty="0">
                <a:latin typeface="Pretendard" panose="02000503000000020004" pitchFamily="2" charset="-127"/>
                <a:ea typeface="Pretendard" panose="02000503000000020004" pitchFamily="2" charset="-127"/>
                <a:cs typeface="Pretendard" panose="02000503000000020004" pitchFamily="2" charset="-127"/>
              </a:rPr>
              <a:t>실행</a:t>
            </a:r>
            <a:endParaRPr lang="en-US" altLang="ko-KR" sz="1200" b="1"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44" name="Shape 17">
            <a:extLst>
              <a:ext uri="{FF2B5EF4-FFF2-40B4-BE49-F238E27FC236}">
                <a16:creationId xmlns:a16="http://schemas.microsoft.com/office/drawing/2014/main" id="{5EC3639C-F710-0FF8-0112-0B1C92F9D785}"/>
              </a:ext>
            </a:extLst>
          </p:cNvPr>
          <p:cNvSpPr/>
          <p:nvPr/>
        </p:nvSpPr>
        <p:spPr>
          <a:xfrm>
            <a:off x="5967763" y="5343603"/>
            <a:ext cx="0" cy="425392"/>
          </a:xfrm>
          <a:prstGeom prst="line">
            <a:avLst/>
          </a:prstGeom>
          <a:noFill/>
          <a:ln w="22225">
            <a:solidFill>
              <a:srgbClr val="595959"/>
            </a:solidFill>
            <a:prstDash val="solid"/>
            <a:tailEnd type="triangle"/>
          </a:ln>
        </p:spPr>
        <p:txBody>
          <a:bodyPr/>
          <a:lstStyle/>
          <a:p>
            <a:endParaRPr lang="ko-KR" altLang="en-US" sz="1799"/>
          </a:p>
        </p:txBody>
      </p:sp>
      <p:cxnSp>
        <p:nvCxnSpPr>
          <p:cNvPr id="47" name="연결선: 구부러짐 46">
            <a:extLst>
              <a:ext uri="{FF2B5EF4-FFF2-40B4-BE49-F238E27FC236}">
                <a16:creationId xmlns:a16="http://schemas.microsoft.com/office/drawing/2014/main" id="{620EC2E0-CB1D-D91E-D2FB-64B7AA166B6B}"/>
              </a:ext>
            </a:extLst>
          </p:cNvPr>
          <p:cNvCxnSpPr>
            <a:cxnSpLocks/>
            <a:stCxn id="7" idx="3"/>
            <a:endCxn id="11" idx="3"/>
          </p:cNvCxnSpPr>
          <p:nvPr/>
        </p:nvCxnSpPr>
        <p:spPr>
          <a:xfrm flipV="1">
            <a:off x="7118083" y="4955085"/>
            <a:ext cx="12697" cy="1202430"/>
          </a:xfrm>
          <a:prstGeom prst="curvedConnector3">
            <a:avLst>
              <a:gd name="adj1" fmla="val 1800000"/>
            </a:avLst>
          </a:prstGeom>
          <a:ln w="127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7A8B2FD0-BF81-EDF4-D512-3660574862B8}"/>
              </a:ext>
            </a:extLst>
          </p:cNvPr>
          <p:cNvSpPr txBox="1"/>
          <p:nvPr/>
        </p:nvSpPr>
        <p:spPr>
          <a:xfrm>
            <a:off x="7390429" y="5395054"/>
            <a:ext cx="1146510" cy="261542"/>
          </a:xfrm>
          <a:prstGeom prst="rect">
            <a:avLst/>
          </a:prstGeom>
          <a:noFill/>
        </p:spPr>
        <p:txBody>
          <a:bodyPr wrap="square">
            <a:spAutoFit/>
          </a:bodyPr>
          <a:lstStyle/>
          <a:p>
            <a:r>
              <a:rPr lang="ko-KR" altLang="ko-KR" sz="1100" dirty="0">
                <a:latin typeface="Pretendard" panose="02000503000000020004" pitchFamily="2" charset="-127"/>
                <a:ea typeface="Pretendard" panose="02000503000000020004" pitchFamily="2" charset="-127"/>
                <a:cs typeface="Pretendard" panose="02000503000000020004" pitchFamily="2" charset="-127"/>
              </a:rPr>
              <a:t>↻ 반복</a:t>
            </a:r>
            <a:endParaRPr lang="ko-KR" altLang="en-US" sz="1100"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41" name="Text 0">
            <a:extLst>
              <a:ext uri="{FF2B5EF4-FFF2-40B4-BE49-F238E27FC236}">
                <a16:creationId xmlns:a16="http://schemas.microsoft.com/office/drawing/2014/main" id="{129BE98B-79CD-4204-A5B6-428E9EAED76A}"/>
              </a:ext>
            </a:extLst>
          </p:cNvPr>
          <p:cNvSpPr/>
          <p:nvPr/>
        </p:nvSpPr>
        <p:spPr>
          <a:xfrm>
            <a:off x="502920" y="274320"/>
            <a:ext cx="10789920" cy="502920"/>
          </a:xfrm>
          <a:prstGeom prst="rect">
            <a:avLst/>
          </a:prstGeom>
          <a:noFill/>
          <a:ln/>
        </p:spPr>
        <p:txBody>
          <a:bodyPr wrap="square" rtlCol="0" anchor="ctr"/>
          <a:lstStyle/>
          <a:p>
            <a:pPr marL="0" indent="0">
              <a:buNone/>
            </a:pPr>
            <a:r>
              <a:rPr lang="en-US" sz="24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Phase 3. </a:t>
            </a:r>
            <a:r>
              <a:rPr lang="ko-KR" altLang="en-US" sz="24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하류 궤적 재생성</a:t>
            </a:r>
            <a:endParaRPr lang="en-US" sz="2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9" name="Text 4">
            <a:extLst>
              <a:ext uri="{FF2B5EF4-FFF2-40B4-BE49-F238E27FC236}">
                <a16:creationId xmlns:a16="http://schemas.microsoft.com/office/drawing/2014/main" id="{7B204657-C115-41A4-B187-518769C6753D}"/>
              </a:ext>
            </a:extLst>
          </p:cNvPr>
          <p:cNvSpPr/>
          <p:nvPr/>
        </p:nvSpPr>
        <p:spPr>
          <a:xfrm>
            <a:off x="4847236" y="1055289"/>
            <a:ext cx="380579" cy="349713"/>
          </a:xfrm>
          <a:prstGeom prst="roundRect">
            <a:avLst>
              <a:gd name="adj" fmla="val 6667"/>
            </a:avLst>
          </a:prstGeom>
          <a:solidFill>
            <a:srgbClr val="F2F2F2"/>
          </a:solidFill>
          <a:ln w="12700">
            <a:solidFill>
              <a:srgbClr val="595959"/>
            </a:solidFill>
          </a:ln>
        </p:spPr>
        <p:txBody>
          <a:bodyPr wrap="square" lIns="54864" tIns="54864" rIns="54864" bIns="54864" rtlCol="0" anchor="ctr"/>
          <a:lstStyle/>
          <a:p>
            <a:pPr marL="0" indent="0" algn="ctr">
              <a:buNone/>
            </a:pPr>
            <a:r>
              <a:rPr lang="en-US" sz="13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1</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0" name="Text 5">
            <a:extLst>
              <a:ext uri="{FF2B5EF4-FFF2-40B4-BE49-F238E27FC236}">
                <a16:creationId xmlns:a16="http://schemas.microsoft.com/office/drawing/2014/main" id="{C96DE2FE-1FF5-465F-ABAB-68836DA61744}"/>
              </a:ext>
            </a:extLst>
          </p:cNvPr>
          <p:cNvSpPr/>
          <p:nvPr/>
        </p:nvSpPr>
        <p:spPr>
          <a:xfrm>
            <a:off x="5315898" y="1050609"/>
            <a:ext cx="380579" cy="349713"/>
          </a:xfrm>
          <a:prstGeom prst="roundRect">
            <a:avLst>
              <a:gd name="adj" fmla="val 6667"/>
            </a:avLst>
          </a:prstGeom>
          <a:solidFill>
            <a:srgbClr val="F2F2F2"/>
          </a:solidFill>
          <a:ln w="12700">
            <a:solidFill>
              <a:srgbClr val="595959"/>
            </a:solidFill>
          </a:ln>
        </p:spPr>
        <p:txBody>
          <a:bodyPr wrap="square" lIns="54864" tIns="54864" rIns="54864" bIns="54864" rtlCol="0" anchor="ctr"/>
          <a:lstStyle/>
          <a:p>
            <a:pPr marL="0" indent="0" algn="ctr">
              <a:buNone/>
            </a:pPr>
            <a:r>
              <a:rPr lang="en-US" sz="13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2</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1" name="Text 6">
            <a:extLst>
              <a:ext uri="{FF2B5EF4-FFF2-40B4-BE49-F238E27FC236}">
                <a16:creationId xmlns:a16="http://schemas.microsoft.com/office/drawing/2014/main" id="{D9F18E52-D5C7-4D29-A99C-645137B6A627}"/>
              </a:ext>
            </a:extLst>
          </p:cNvPr>
          <p:cNvSpPr/>
          <p:nvPr/>
        </p:nvSpPr>
        <p:spPr>
          <a:xfrm>
            <a:off x="5788846" y="1039712"/>
            <a:ext cx="380579" cy="349713"/>
          </a:xfrm>
          <a:prstGeom prst="roundRect">
            <a:avLst>
              <a:gd name="adj" fmla="val 6667"/>
            </a:avLst>
          </a:prstGeom>
          <a:solidFill>
            <a:srgbClr val="F2F2F2"/>
          </a:solidFill>
          <a:ln w="12700">
            <a:solidFill>
              <a:srgbClr val="595959"/>
            </a:solidFill>
          </a:ln>
        </p:spPr>
        <p:txBody>
          <a:bodyPr wrap="square" lIns="54864" tIns="54864" rIns="54864" bIns="54864" rtlCol="0" anchor="ctr"/>
          <a:lstStyle/>
          <a:p>
            <a:pPr marL="0" indent="0" algn="ctr">
              <a:buNone/>
            </a:pPr>
            <a:r>
              <a:rPr lang="en-US" sz="13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3</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2" name="Text 7">
            <a:extLst>
              <a:ext uri="{FF2B5EF4-FFF2-40B4-BE49-F238E27FC236}">
                <a16:creationId xmlns:a16="http://schemas.microsoft.com/office/drawing/2014/main" id="{4B7CC9AD-067E-402D-96AA-B63FC49E8827}"/>
              </a:ext>
            </a:extLst>
          </p:cNvPr>
          <p:cNvSpPr/>
          <p:nvPr/>
        </p:nvSpPr>
        <p:spPr>
          <a:xfrm>
            <a:off x="6257508" y="1039711"/>
            <a:ext cx="380579" cy="349713"/>
          </a:xfrm>
          <a:prstGeom prst="roundRect">
            <a:avLst>
              <a:gd name="adj" fmla="val 6667"/>
            </a:avLst>
          </a:prstGeom>
          <a:solidFill>
            <a:srgbClr val="F2F2F2"/>
          </a:solidFill>
          <a:ln w="12700">
            <a:solidFill>
              <a:srgbClr val="595959"/>
            </a:solidFill>
          </a:ln>
        </p:spPr>
        <p:txBody>
          <a:bodyPr wrap="square" lIns="54864" tIns="54864" rIns="54864" bIns="54864" rtlCol="0" anchor="ctr"/>
          <a:lstStyle/>
          <a:p>
            <a:pPr marL="0" indent="0" algn="ctr">
              <a:buNone/>
            </a:pPr>
            <a:r>
              <a:rPr lang="en-US" sz="13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4</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3" name="Text 9">
            <a:extLst>
              <a:ext uri="{FF2B5EF4-FFF2-40B4-BE49-F238E27FC236}">
                <a16:creationId xmlns:a16="http://schemas.microsoft.com/office/drawing/2014/main" id="{AF273694-66EF-4A76-A0CA-F5C0EDBB39AA}"/>
              </a:ext>
            </a:extLst>
          </p:cNvPr>
          <p:cNvSpPr/>
          <p:nvPr/>
        </p:nvSpPr>
        <p:spPr>
          <a:xfrm>
            <a:off x="6726170" y="1039710"/>
            <a:ext cx="380579" cy="349713"/>
          </a:xfrm>
          <a:prstGeom prst="roundRect">
            <a:avLst>
              <a:gd name="adj" fmla="val 6667"/>
            </a:avLst>
          </a:prstGeom>
          <a:solidFill>
            <a:srgbClr val="C0392B"/>
          </a:solidFill>
          <a:ln w="12700">
            <a:solidFill>
              <a:srgbClr val="C0392B"/>
            </a:solidFill>
          </a:ln>
        </p:spPr>
        <p:txBody>
          <a:bodyPr wrap="square" lIns="54864" tIns="54864" rIns="54864" bIns="54864" rtlCol="0" anchor="ctr"/>
          <a:lstStyle/>
          <a:p>
            <a:pPr marL="0" indent="0" algn="ctr">
              <a:buNone/>
            </a:pPr>
            <a:r>
              <a:rPr lang="en-US" sz="1300"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rPr>
              <a:t>s*</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4" name="Text 15">
            <a:extLst>
              <a:ext uri="{FF2B5EF4-FFF2-40B4-BE49-F238E27FC236}">
                <a16:creationId xmlns:a16="http://schemas.microsoft.com/office/drawing/2014/main" id="{9698F607-242A-4644-A935-DBC3EEC6B33D}"/>
              </a:ext>
            </a:extLst>
          </p:cNvPr>
          <p:cNvSpPr/>
          <p:nvPr/>
        </p:nvSpPr>
        <p:spPr>
          <a:xfrm>
            <a:off x="4906283" y="735198"/>
            <a:ext cx="1580387" cy="245731"/>
          </a:xfrm>
          <a:prstGeom prst="rect">
            <a:avLst/>
          </a:prstGeom>
          <a:noFill/>
          <a:ln/>
        </p:spPr>
        <p:txBody>
          <a:bodyPr wrap="square" rtlCol="0" anchor="ctr"/>
          <a:lstStyle/>
          <a:p>
            <a:pPr marL="0" indent="0" algn="ctr">
              <a:buNone/>
            </a:pPr>
            <a:r>
              <a:rPr lang="en-US" sz="1200" dirty="0" err="1">
                <a:solidFill>
                  <a:srgbClr val="595959"/>
                </a:solidFill>
                <a:latin typeface="Pretendard" panose="02000503000000020004" pitchFamily="50" charset="-127"/>
                <a:ea typeface="Pretendard" panose="02000503000000020004" pitchFamily="50" charset="-127"/>
                <a:cs typeface="Pretendard" panose="02000503000000020004" pitchFamily="50" charset="-127"/>
              </a:rPr>
              <a:t>상류</a:t>
            </a:r>
            <a:r>
              <a:rPr lang="en-US" sz="1200" dirty="0">
                <a:solidFill>
                  <a:srgbClr val="595959"/>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595959"/>
                </a:solidFill>
                <a:latin typeface="Pretendard" panose="02000503000000020004" pitchFamily="50" charset="-127"/>
                <a:ea typeface="Pretendard" panose="02000503000000020004" pitchFamily="50" charset="-127"/>
                <a:cs typeface="Pretendard" panose="02000503000000020004" pitchFamily="50" charset="-127"/>
              </a:rPr>
              <a:t>궤적</a:t>
            </a:r>
            <a:r>
              <a:rPr lang="en-US" altLang="ko-KR" sz="1200" dirty="0">
                <a:solidFill>
                  <a:srgbClr val="595959"/>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200" dirty="0">
                <a:solidFill>
                  <a:srgbClr val="595959"/>
                </a:solidFill>
                <a:latin typeface="Pretendard" panose="02000503000000020004" pitchFamily="50" charset="-127"/>
                <a:ea typeface="Pretendard" panose="02000503000000020004" pitchFamily="50" charset="-127"/>
                <a:cs typeface="Pretendard" panose="02000503000000020004" pitchFamily="50" charset="-127"/>
              </a:rPr>
              <a:t>현행유지</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7" name="Text 16">
            <a:extLst>
              <a:ext uri="{FF2B5EF4-FFF2-40B4-BE49-F238E27FC236}">
                <a16:creationId xmlns:a16="http://schemas.microsoft.com/office/drawing/2014/main" id="{9F04B752-EE9C-4B37-BF18-75F04E04F051}"/>
              </a:ext>
            </a:extLst>
          </p:cNvPr>
          <p:cNvSpPr/>
          <p:nvPr/>
        </p:nvSpPr>
        <p:spPr>
          <a:xfrm>
            <a:off x="6475948" y="735142"/>
            <a:ext cx="881022" cy="257186"/>
          </a:xfrm>
          <a:prstGeom prst="rect">
            <a:avLst/>
          </a:prstGeom>
          <a:noFill/>
          <a:ln/>
        </p:spPr>
        <p:txBody>
          <a:bodyPr wrap="square" rtlCol="0" anchor="ctr"/>
          <a:lstStyle/>
          <a:p>
            <a:pPr marL="0" indent="0" algn="ctr">
              <a:buNone/>
            </a:pPr>
            <a:r>
              <a:rPr lang="ko-KR" altLang="en-US" sz="1200" b="1" dirty="0">
                <a:solidFill>
                  <a:srgbClr val="B7791F"/>
                </a:solidFill>
                <a:latin typeface="Pretendard" panose="02000503000000020004" pitchFamily="50" charset="-127"/>
                <a:ea typeface="Pretendard" panose="02000503000000020004" pitchFamily="50" charset="-127"/>
                <a:cs typeface="Pretendard" panose="02000503000000020004" pitchFamily="50" charset="-127"/>
              </a:rPr>
              <a:t>교정된 </a:t>
            </a:r>
            <a:r>
              <a:rPr lang="ko-KR" altLang="en-US" sz="1200" b="1" dirty="0" err="1">
                <a:solidFill>
                  <a:srgbClr val="B7791F"/>
                </a:solidFill>
                <a:latin typeface="Pretendard" panose="02000503000000020004" pitchFamily="50" charset="-127"/>
                <a:ea typeface="Pretendard" panose="02000503000000020004" pitchFamily="50" charset="-127"/>
                <a:cs typeface="Pretendard" panose="02000503000000020004" pitchFamily="50" charset="-127"/>
              </a:rPr>
              <a:t>s</a:t>
            </a:r>
            <a:r>
              <a:rPr lang="ko-KR" altLang="en-US" sz="1200" b="1" dirty="0">
                <a:solidFill>
                  <a:srgbClr val="B7791F"/>
                </a:solidFill>
                <a:latin typeface="Pretendard" panose="02000503000000020004" pitchFamily="50" charset="-127"/>
                <a:ea typeface="Pretendard" panose="02000503000000020004" pitchFamily="50" charset="-127"/>
                <a:cs typeface="Pretendard" panose="02000503000000020004" pitchFamily="50" charset="-127"/>
              </a:rPr>
              <a:t>* </a:t>
            </a:r>
            <a:endParaRPr 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9" name="Text 8">
            <a:extLst>
              <a:ext uri="{FF2B5EF4-FFF2-40B4-BE49-F238E27FC236}">
                <a16:creationId xmlns:a16="http://schemas.microsoft.com/office/drawing/2014/main" id="{08373C50-F870-4A9E-9F97-C679C177DCD2}"/>
              </a:ext>
            </a:extLst>
          </p:cNvPr>
          <p:cNvSpPr/>
          <p:nvPr/>
        </p:nvSpPr>
        <p:spPr>
          <a:xfrm>
            <a:off x="9178203" y="5220145"/>
            <a:ext cx="380579" cy="349713"/>
          </a:xfrm>
          <a:prstGeom prst="roundRect">
            <a:avLst>
              <a:gd name="adj" fmla="val 6667"/>
            </a:avLst>
          </a:prstGeom>
          <a:solidFill>
            <a:schemeClr val="accent2"/>
          </a:solidFill>
          <a:ln w="12700">
            <a:solidFill>
              <a:srgbClr val="595959"/>
            </a:solidFill>
          </a:ln>
        </p:spPr>
        <p:txBody>
          <a:bodyPr wrap="square" lIns="54864" tIns="54864" rIns="54864" bIns="54864" rtlCol="0" anchor="ctr"/>
          <a:lstStyle/>
          <a:p>
            <a:pPr marL="0" indent="0" algn="ctr">
              <a:buNone/>
            </a:pPr>
            <a:r>
              <a:rPr lang="en-US" sz="13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6</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0" name="Text 10">
            <a:extLst>
              <a:ext uri="{FF2B5EF4-FFF2-40B4-BE49-F238E27FC236}">
                <a16:creationId xmlns:a16="http://schemas.microsoft.com/office/drawing/2014/main" id="{33A2DEFF-B0FA-4469-B1BD-936328584EF0}"/>
              </a:ext>
            </a:extLst>
          </p:cNvPr>
          <p:cNvSpPr/>
          <p:nvPr/>
        </p:nvSpPr>
        <p:spPr>
          <a:xfrm>
            <a:off x="9640543" y="5220144"/>
            <a:ext cx="380579" cy="349713"/>
          </a:xfrm>
          <a:prstGeom prst="roundRect">
            <a:avLst>
              <a:gd name="adj" fmla="val 6667"/>
            </a:avLst>
          </a:prstGeom>
          <a:solidFill>
            <a:schemeClr val="accent2"/>
          </a:solidFill>
          <a:ln w="12700">
            <a:solidFill>
              <a:srgbClr val="595959"/>
            </a:solidFill>
          </a:ln>
        </p:spPr>
        <p:txBody>
          <a:bodyPr wrap="square" lIns="54864" tIns="54864" rIns="54864" bIns="54864" rtlCol="0" anchor="ctr"/>
          <a:lstStyle/>
          <a:p>
            <a:pPr marL="0" indent="0" algn="ctr">
              <a:buNone/>
            </a:pPr>
            <a:r>
              <a:rPr lang="en-US" sz="13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7</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1" name="Text 11">
            <a:extLst>
              <a:ext uri="{FF2B5EF4-FFF2-40B4-BE49-F238E27FC236}">
                <a16:creationId xmlns:a16="http://schemas.microsoft.com/office/drawing/2014/main" id="{DE605C31-7EFA-4454-B3AF-AC7C4AAD47E0}"/>
              </a:ext>
            </a:extLst>
          </p:cNvPr>
          <p:cNvSpPr/>
          <p:nvPr/>
        </p:nvSpPr>
        <p:spPr>
          <a:xfrm>
            <a:off x="10094469" y="5220143"/>
            <a:ext cx="380579" cy="349713"/>
          </a:xfrm>
          <a:prstGeom prst="roundRect">
            <a:avLst>
              <a:gd name="adj" fmla="val 6667"/>
            </a:avLst>
          </a:prstGeom>
          <a:solidFill>
            <a:schemeClr val="accent2"/>
          </a:solidFill>
          <a:ln w="12700">
            <a:solidFill>
              <a:srgbClr val="595959"/>
            </a:solidFill>
          </a:ln>
        </p:spPr>
        <p:txBody>
          <a:bodyPr wrap="square" lIns="54864" tIns="54864" rIns="54864" bIns="54864" rtlCol="0" anchor="ctr"/>
          <a:lstStyle/>
          <a:p>
            <a:pPr marL="0" indent="0" algn="ctr">
              <a:buNone/>
            </a:pPr>
            <a:r>
              <a:rPr lang="en-US" sz="13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8</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2" name="Text 12">
            <a:extLst>
              <a:ext uri="{FF2B5EF4-FFF2-40B4-BE49-F238E27FC236}">
                <a16:creationId xmlns:a16="http://schemas.microsoft.com/office/drawing/2014/main" id="{26F24CEB-0B75-4A09-8086-271E98AECF2D}"/>
              </a:ext>
            </a:extLst>
          </p:cNvPr>
          <p:cNvSpPr/>
          <p:nvPr/>
        </p:nvSpPr>
        <p:spPr>
          <a:xfrm>
            <a:off x="10548395" y="5220142"/>
            <a:ext cx="380579" cy="349713"/>
          </a:xfrm>
          <a:prstGeom prst="roundRect">
            <a:avLst>
              <a:gd name="adj" fmla="val 6667"/>
            </a:avLst>
          </a:prstGeom>
          <a:solidFill>
            <a:schemeClr val="accent2"/>
          </a:solidFill>
          <a:ln w="12700">
            <a:solidFill>
              <a:srgbClr val="595959"/>
            </a:solidFill>
          </a:ln>
        </p:spPr>
        <p:txBody>
          <a:bodyPr wrap="square" lIns="54864" tIns="54864" rIns="54864" bIns="54864" rtlCol="0" anchor="ctr"/>
          <a:lstStyle/>
          <a:p>
            <a:pPr marL="0" indent="0" algn="ctr">
              <a:buNone/>
            </a:pPr>
            <a:r>
              <a:rPr lang="en-US" sz="13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9</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3" name="Text 13">
            <a:extLst>
              <a:ext uri="{FF2B5EF4-FFF2-40B4-BE49-F238E27FC236}">
                <a16:creationId xmlns:a16="http://schemas.microsoft.com/office/drawing/2014/main" id="{E6B1A130-6ABC-49BF-8717-8AE968E3F5E5}"/>
              </a:ext>
            </a:extLst>
          </p:cNvPr>
          <p:cNvSpPr/>
          <p:nvPr/>
        </p:nvSpPr>
        <p:spPr>
          <a:xfrm>
            <a:off x="11002321" y="5220141"/>
            <a:ext cx="380579" cy="349713"/>
          </a:xfrm>
          <a:prstGeom prst="roundRect">
            <a:avLst>
              <a:gd name="adj" fmla="val 6667"/>
            </a:avLst>
          </a:prstGeom>
          <a:solidFill>
            <a:schemeClr val="accent2"/>
          </a:solidFill>
          <a:ln w="12700">
            <a:solidFill>
              <a:srgbClr val="595959"/>
            </a:solidFill>
          </a:ln>
        </p:spPr>
        <p:txBody>
          <a:bodyPr wrap="square" lIns="54864" tIns="54864" rIns="54864" bIns="54864" rtlCol="0" anchor="ctr"/>
          <a:lstStyle/>
          <a:p>
            <a:pPr marL="0" indent="0" algn="ctr">
              <a:buNone/>
            </a:pPr>
            <a:r>
              <a:rPr lang="en-US" sz="13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10</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5" name="Text 17">
            <a:extLst>
              <a:ext uri="{FF2B5EF4-FFF2-40B4-BE49-F238E27FC236}">
                <a16:creationId xmlns:a16="http://schemas.microsoft.com/office/drawing/2014/main" id="{357A3405-73BD-418C-AA11-1F4B573A8968}"/>
              </a:ext>
            </a:extLst>
          </p:cNvPr>
          <p:cNvSpPr/>
          <p:nvPr/>
        </p:nvSpPr>
        <p:spPr>
          <a:xfrm>
            <a:off x="9468083" y="4737719"/>
            <a:ext cx="1914817" cy="434731"/>
          </a:xfrm>
          <a:prstGeom prst="rect">
            <a:avLst/>
          </a:prstGeom>
          <a:noFill/>
          <a:ln/>
        </p:spPr>
        <p:txBody>
          <a:bodyPr wrap="square" rtlCol="0" anchor="ctr"/>
          <a:lstStyle/>
          <a:p>
            <a:pPr marL="0" indent="0" algn="ctr">
              <a:buNone/>
            </a:pPr>
            <a:r>
              <a:rPr lang="en-US" sz="1200" b="1" dirty="0">
                <a:solidFill>
                  <a:srgbClr val="595959"/>
                </a:solidFill>
                <a:latin typeface="Pretendard" panose="02000503000000020004" pitchFamily="50" charset="-127"/>
                <a:ea typeface="Pretendard" panose="02000503000000020004" pitchFamily="50" charset="-127"/>
                <a:cs typeface="Pretendard" panose="02000503000000020004" pitchFamily="50" charset="-127"/>
              </a:rPr>
              <a:t>하류: 교정 결과 기반</a:t>
            </a:r>
            <a:endParaRPr lang="en-US" sz="1200" b="1" dirty="0">
              <a:latin typeface="Pretendard" panose="02000503000000020004" pitchFamily="50" charset="-127"/>
              <a:ea typeface="Pretendard" panose="02000503000000020004" pitchFamily="50" charset="-127"/>
              <a:cs typeface="Pretendard" panose="02000503000000020004" pitchFamily="50" charset="-127"/>
            </a:endParaRPr>
          </a:p>
          <a:p>
            <a:pPr marL="0" indent="0" algn="ctr">
              <a:buNone/>
            </a:pPr>
            <a:r>
              <a:rPr lang="ko-KR" altLang="en-US" sz="1200" b="1" dirty="0">
                <a:solidFill>
                  <a:srgbClr val="595959"/>
                </a:solidFill>
                <a:latin typeface="Pretendard" panose="02000503000000020004" pitchFamily="50" charset="-127"/>
                <a:ea typeface="Pretendard" panose="02000503000000020004" pitchFamily="50" charset="-127"/>
                <a:cs typeface="Pretendard" panose="02000503000000020004" pitchFamily="50" charset="-127"/>
              </a:rPr>
              <a:t>궤적 </a:t>
            </a:r>
            <a:r>
              <a:rPr lang="en-US" sz="1200" b="1" dirty="0" err="1">
                <a:solidFill>
                  <a:srgbClr val="595959"/>
                </a:solidFill>
                <a:latin typeface="Pretendard" panose="02000503000000020004" pitchFamily="50" charset="-127"/>
                <a:ea typeface="Pretendard" panose="02000503000000020004" pitchFamily="50" charset="-127"/>
                <a:cs typeface="Pretendard" panose="02000503000000020004" pitchFamily="50" charset="-127"/>
              </a:rPr>
              <a:t>재생성</a:t>
            </a:r>
            <a:endParaRPr lang="en-US" sz="12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37" name="Text 13">
            <a:extLst>
              <a:ext uri="{FF2B5EF4-FFF2-40B4-BE49-F238E27FC236}">
                <a16:creationId xmlns:a16="http://schemas.microsoft.com/office/drawing/2014/main" id="{FF44D33D-37C2-49CA-A996-630B7475D7FE}"/>
              </a:ext>
            </a:extLst>
          </p:cNvPr>
          <p:cNvSpPr/>
          <p:nvPr/>
        </p:nvSpPr>
        <p:spPr>
          <a:xfrm>
            <a:off x="11456247" y="5216170"/>
            <a:ext cx="380579" cy="349713"/>
          </a:xfrm>
          <a:prstGeom prst="roundRect">
            <a:avLst>
              <a:gd name="adj" fmla="val 6667"/>
            </a:avLst>
          </a:prstGeom>
          <a:solidFill>
            <a:schemeClr val="accent2"/>
          </a:solidFill>
          <a:ln w="12700">
            <a:solidFill>
              <a:srgbClr val="595959"/>
            </a:solidFill>
          </a:ln>
        </p:spPr>
        <p:txBody>
          <a:bodyPr wrap="square" lIns="54864" tIns="54864" rIns="54864" bIns="54864" rtlCol="0" anchor="ctr"/>
          <a:lstStyle/>
          <a:p>
            <a:pPr marL="0" indent="0" algn="ctr">
              <a:buNone/>
            </a:pPr>
            <a:r>
              <a:rPr lang="en-US" sz="130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11</a:t>
            </a:r>
            <a:endParaRPr lang="en-US" sz="13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2" name="화살표: 오른쪽 1">
            <a:extLst>
              <a:ext uri="{FF2B5EF4-FFF2-40B4-BE49-F238E27FC236}">
                <a16:creationId xmlns:a16="http://schemas.microsoft.com/office/drawing/2014/main" id="{85A0EBB3-A925-47B5-A022-532383915CF9}"/>
              </a:ext>
            </a:extLst>
          </p:cNvPr>
          <p:cNvSpPr/>
          <p:nvPr/>
        </p:nvSpPr>
        <p:spPr>
          <a:xfrm>
            <a:off x="8142566" y="4510254"/>
            <a:ext cx="846677" cy="161713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TextBox 42">
            <a:extLst>
              <a:ext uri="{FF2B5EF4-FFF2-40B4-BE49-F238E27FC236}">
                <a16:creationId xmlns:a16="http://schemas.microsoft.com/office/drawing/2014/main" id="{0C088666-E171-42CB-8D0F-004A6902E4E2}"/>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14</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extLst>
      <p:ext uri="{BB962C8B-B14F-4D97-AF65-F5344CB8AC3E}">
        <p14:creationId xmlns:p14="http://schemas.microsoft.com/office/powerpoint/2010/main" val="5491631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0789920" cy="548640"/>
          </a:xfrm>
          <a:prstGeom prst="rect">
            <a:avLst/>
          </a:prstGeom>
          <a:noFill/>
          <a:ln/>
        </p:spPr>
        <p:txBody>
          <a:bodyPr wrap="square" rtlCol="0" anchor="ctr"/>
          <a:lstStyle/>
          <a:p>
            <a:pPr marL="0" indent="0">
              <a:buNone/>
            </a:pPr>
            <a:r>
              <a:rPr lang="en-US" sz="25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발명 결론</a:t>
            </a:r>
            <a:endParaRPr lang="en-US" sz="2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 name="Text 2"/>
          <p:cNvSpPr/>
          <p:nvPr/>
        </p:nvSpPr>
        <p:spPr>
          <a:xfrm>
            <a:off x="822960" y="1554480"/>
            <a:ext cx="10607040" cy="3931920"/>
          </a:xfrm>
          <a:prstGeom prst="rect">
            <a:avLst/>
          </a:prstGeom>
          <a:noFill/>
          <a:ln/>
        </p:spPr>
        <p:txBody>
          <a:bodyPr wrap="square" rtlCol="0" anchor="ctr"/>
          <a:lstStyle/>
          <a:p>
            <a:pPr marL="285750" indent="-285750">
              <a:lnSpc>
                <a:spcPct val="155000"/>
              </a:lnSpc>
              <a:buSzPct val="100000"/>
              <a:buFont typeface="Arial" panose="020B0604020202020204" pitchFamily="34" charset="0"/>
              <a:buChar char="•"/>
            </a:pP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MAS의 step 단위 상호작용 로그만을 입력으로 하는 사후(post-hoc)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궤적</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수리</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시스템</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ko-KR" altLang="ko-KR"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시스템 </a:t>
            </a:r>
            <a:r>
              <a:rPr lang="ko-KR" alt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환경</a:t>
            </a:r>
            <a:r>
              <a:rPr lang="ko-KR" altLang="ko-KR"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과 무관하게 동작</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역방향</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추적으로</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가장</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이른</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결정적</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오류</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단계를</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식별하고</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해당</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단계만</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교정</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후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하류를</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전체</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재생성</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ko-KR" altLang="ko-KR"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수리 조직은 </a:t>
            </a:r>
            <a:r>
              <a:rPr lang="ko-KR" alt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고정 구조가 아니라</a:t>
            </a:r>
            <a:r>
              <a:rPr lang="ko-KR" altLang="ko-KR"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로그로부터 페르소나를 </a:t>
            </a:r>
            <a:r>
              <a:rPr lang="ko-KR" altLang="ko-KR"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역추출하고</a:t>
            </a:r>
            <a:r>
              <a:rPr lang="ko-KR" altLang="ko-KR"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공유 메모리를 요약하여 수리 에이전트를 동적으로 구성 </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오류 단계는 교정 지시를 받은 수리 에이전트가 교정하며,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이후</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궤적은</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전체</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재생성</a:t>
            </a:r>
            <a:r>
              <a:rPr lang="en-US" sz="1550"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실패한 MAS 작업을 전체 재실행·수작업 디버깅 없이 자동 복구하는 궤적 </a:t>
            </a:r>
            <a:r>
              <a:rPr lang="en-US" sz="1550" b="1"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수리</a:t>
            </a:r>
            <a:r>
              <a:rPr lang="en-US" sz="155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b="1"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방법</a:t>
            </a:r>
            <a:r>
              <a:rPr lang="en-US" sz="155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및 </a:t>
            </a:r>
            <a:r>
              <a:rPr lang="en-US" sz="1550" b="1"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장치</a:t>
            </a:r>
            <a:r>
              <a:rPr lang="en-US" sz="155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 </a:t>
            </a:r>
            <a:r>
              <a:rPr lang="en-US" sz="1550" b="1" dirty="0" err="1">
                <a:solidFill>
                  <a:srgbClr val="1A1A1A"/>
                </a:solidFill>
                <a:latin typeface="Pretendard" panose="02000503000000020004" pitchFamily="50" charset="-127"/>
                <a:ea typeface="Pretendard" panose="02000503000000020004" pitchFamily="50" charset="-127"/>
                <a:cs typeface="Pretendard" panose="02000503000000020004" pitchFamily="50" charset="-127"/>
              </a:rPr>
              <a:t>확보</a:t>
            </a:r>
            <a:endParaRPr lang="en-US" sz="155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endParaRPr>
          </a:p>
          <a:p>
            <a:pPr marL="285750" indent="-285750">
              <a:lnSpc>
                <a:spcPct val="155000"/>
              </a:lnSpc>
              <a:buSzPct val="100000"/>
              <a:buFont typeface="Arial" panose="020B0604020202020204" pitchFamily="34" charset="0"/>
              <a:buChar char="•"/>
            </a:pPr>
            <a:r>
              <a:rPr lang="ko-KR" altLang="en-US" sz="1600" dirty="0">
                <a:latin typeface="Pretendard" panose="02000503000000020004" pitchFamily="50" charset="-127"/>
                <a:ea typeface="Pretendard" panose="02000503000000020004" pitchFamily="50" charset="-127"/>
                <a:cs typeface="Pretendard" panose="02000503000000020004" pitchFamily="50" charset="-127"/>
              </a:rPr>
              <a:t>본 발명은 </a:t>
            </a:r>
            <a:r>
              <a:rPr lang="en-US" altLang="ko-KR" sz="1600" dirty="0">
                <a:latin typeface="Pretendard" panose="02000503000000020004" pitchFamily="50" charset="-127"/>
                <a:ea typeface="Pretendard" panose="02000503000000020004" pitchFamily="50" charset="-127"/>
                <a:cs typeface="Pretendard" panose="02000503000000020004" pitchFamily="50" charset="-127"/>
              </a:rPr>
              <a:t>MAS </a:t>
            </a:r>
            <a:r>
              <a:rPr lang="ko-KR" altLang="en-US" sz="1600" dirty="0">
                <a:latin typeface="Pretendard" panose="02000503000000020004" pitchFamily="50" charset="-127"/>
                <a:ea typeface="Pretendard" panose="02000503000000020004" pitchFamily="50" charset="-127"/>
                <a:cs typeface="Pretendard" panose="02000503000000020004" pitchFamily="50" charset="-127"/>
              </a:rPr>
              <a:t>궤적 로그만으로 수리 조직을 컴파일하는 사후 수리</a:t>
            </a:r>
            <a:endParaRPr lang="en-US" sz="15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 name="TextBox 4">
            <a:extLst>
              <a:ext uri="{FF2B5EF4-FFF2-40B4-BE49-F238E27FC236}">
                <a16:creationId xmlns:a16="http://schemas.microsoft.com/office/drawing/2014/main" id="{B88F9D48-3DC9-40ED-B0AD-D3A1A301EFF4}"/>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15</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2834640"/>
            <a:ext cx="10515600" cy="1097280"/>
          </a:xfrm>
          <a:prstGeom prst="rect">
            <a:avLst/>
          </a:prstGeom>
          <a:noFill/>
          <a:ln/>
        </p:spPr>
        <p:txBody>
          <a:bodyPr wrap="square" rtlCol="0" anchor="ctr"/>
          <a:lstStyle/>
          <a:p>
            <a:pPr marL="0" indent="0" algn="ctr">
              <a:buNone/>
            </a:pPr>
            <a:r>
              <a:rPr lang="en-US" sz="4000" b="1" dirty="0">
                <a:solidFill>
                  <a:srgbClr val="1A1A1A"/>
                </a:solidFill>
                <a:latin typeface="Pretendard" panose="02000503000000020004" pitchFamily="50" charset="-127"/>
                <a:ea typeface="Pretendard" panose="02000503000000020004" pitchFamily="50" charset="-127"/>
                <a:cs typeface="Pretendard" panose="02000503000000020004" pitchFamily="50" charset="-127"/>
              </a:rPr>
              <a:t>감사합니다</a:t>
            </a:r>
            <a:endParaRPr lang="en-US" sz="400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E9B9F990-6F5A-4692-991C-CD7671751311}"/>
              </a:ext>
            </a:extLst>
          </p:cNvPr>
          <p:cNvSpPr/>
          <p:nvPr/>
        </p:nvSpPr>
        <p:spPr>
          <a:xfrm>
            <a:off x="502920" y="274320"/>
            <a:ext cx="10789920" cy="548640"/>
          </a:xfrm>
          <a:prstGeom prst="rect">
            <a:avLst/>
          </a:prstGeom>
          <a:noFill/>
          <a:ln/>
        </p:spPr>
        <p:txBody>
          <a:bodyPr wrap="square" rtlCol="0" anchor="ctr"/>
          <a:lstStyle/>
          <a:p>
            <a:pPr marL="0" indent="0">
              <a:buNone/>
            </a:pPr>
            <a:r>
              <a:rPr lang="en-US" sz="2500" b="1" dirty="0">
                <a:latin typeface="Pretendard" panose="02000503000000020004" pitchFamily="50" charset="-127"/>
                <a:ea typeface="Pretendard" panose="02000503000000020004" pitchFamily="50" charset="-127"/>
                <a:cs typeface="Pretendard" panose="02000503000000020004" pitchFamily="50" charset="-127"/>
              </a:rPr>
              <a:t>Appendix. </a:t>
            </a:r>
            <a:r>
              <a:rPr lang="ko-KR" altLang="en-US" sz="2500" b="1" dirty="0">
                <a:latin typeface="Pretendard" panose="02000503000000020004" pitchFamily="50" charset="-127"/>
                <a:ea typeface="Pretendard" panose="02000503000000020004" pitchFamily="50" charset="-127"/>
                <a:cs typeface="Pretendard" panose="02000503000000020004" pitchFamily="50" charset="-127"/>
              </a:rPr>
              <a:t>발명 이해 확인</a:t>
            </a:r>
            <a:endParaRPr lang="en-US" sz="2500" dirty="0">
              <a:latin typeface="Pretendard" panose="02000503000000020004" pitchFamily="50" charset="-127"/>
              <a:ea typeface="Pretendard" panose="02000503000000020004" pitchFamily="50" charset="-127"/>
              <a:cs typeface="Pretendard" panose="02000503000000020004" pitchFamily="50" charset="-127"/>
            </a:endParaRPr>
          </a:p>
        </p:txBody>
      </p:sp>
      <p:graphicFrame>
        <p:nvGraphicFramePr>
          <p:cNvPr id="4" name="표 3">
            <a:extLst>
              <a:ext uri="{FF2B5EF4-FFF2-40B4-BE49-F238E27FC236}">
                <a16:creationId xmlns:a16="http://schemas.microsoft.com/office/drawing/2014/main" id="{32083E07-DB82-4903-9C42-9BC4D76E0870}"/>
              </a:ext>
            </a:extLst>
          </p:cNvPr>
          <p:cNvGraphicFramePr>
            <a:graphicFrameLocks noGrp="1"/>
          </p:cNvGraphicFramePr>
          <p:nvPr>
            <p:extLst>
              <p:ext uri="{D42A27DB-BD31-4B8C-83A1-F6EECF244321}">
                <p14:modId xmlns:p14="http://schemas.microsoft.com/office/powerpoint/2010/main" val="1665719479"/>
              </p:ext>
            </p:extLst>
          </p:nvPr>
        </p:nvGraphicFramePr>
        <p:xfrm>
          <a:off x="265304" y="852465"/>
          <a:ext cx="11658216" cy="2866992"/>
        </p:xfrm>
        <a:graphic>
          <a:graphicData uri="http://schemas.openxmlformats.org/drawingml/2006/table">
            <a:tbl>
              <a:tblPr>
                <a:tableStyleId>{5C22544A-7EE6-4342-B048-85BDC9FD1C3A}</a:tableStyleId>
              </a:tblPr>
              <a:tblGrid>
                <a:gridCol w="1216251">
                  <a:extLst>
                    <a:ext uri="{9D8B030D-6E8A-4147-A177-3AD203B41FA5}">
                      <a16:colId xmlns:a16="http://schemas.microsoft.com/office/drawing/2014/main" val="4185233555"/>
                    </a:ext>
                  </a:extLst>
                </a:gridCol>
                <a:gridCol w="10441965">
                  <a:extLst>
                    <a:ext uri="{9D8B030D-6E8A-4147-A177-3AD203B41FA5}">
                      <a16:colId xmlns:a16="http://schemas.microsoft.com/office/drawing/2014/main" val="1113968235"/>
                    </a:ext>
                  </a:extLst>
                </a:gridCol>
              </a:tblGrid>
              <a:tr h="433858">
                <a:tc>
                  <a:txBody>
                    <a:bodyPr/>
                    <a:lstStyle/>
                    <a:p>
                      <a:pPr algn="ctr" latinLnBrk="1">
                        <a:lnSpc>
                          <a:spcPct val="116000"/>
                        </a:lnSpc>
                        <a:spcAft>
                          <a:spcPts val="500"/>
                        </a:spcAft>
                      </a:pPr>
                      <a:r>
                        <a:rPr lang="en-US" sz="1200" b="0" dirty="0">
                          <a:effectLst/>
                          <a:latin typeface="Pretendard" panose="02000503000000020004" pitchFamily="50" charset="-127"/>
                          <a:ea typeface="Pretendard" panose="02000503000000020004" pitchFamily="50" charset="-127"/>
                          <a:cs typeface="Pretendard" panose="02000503000000020004" pitchFamily="50" charset="-127"/>
                        </a:rPr>
                        <a:t>(a)</a:t>
                      </a:r>
                      <a:endParaRPr lang="ko-KR" sz="1200" b="0" dirty="0">
                        <a:effectLst/>
                        <a:latin typeface="Pretendard" panose="02000503000000020004" pitchFamily="50" charset="-127"/>
                        <a:ea typeface="Pretendard" panose="02000503000000020004" pitchFamily="50" charset="-127"/>
                        <a:cs typeface="Pretendard" panose="02000503000000020004" pitchFamily="50" charset="-127"/>
                      </a:endParaRPr>
                    </a:p>
                  </a:txBody>
                  <a:tcPr marL="69850" marR="69850" marT="44450" marB="44450" anchor="ctr"/>
                </a:tc>
                <a:tc>
                  <a:txBody>
                    <a:bodyPr/>
                    <a:lstStyle/>
                    <a:p>
                      <a:pPr latinLnBrk="1">
                        <a:lnSpc>
                          <a:spcPct val="116000"/>
                        </a:lnSpc>
                        <a:spcAft>
                          <a:spcPts val="500"/>
                        </a:spcAft>
                      </a:pPr>
                      <a:r>
                        <a:rPr lang="ko-KR" sz="1200" b="0" dirty="0">
                          <a:effectLst/>
                          <a:latin typeface="Pretendard" panose="02000503000000020004" pitchFamily="50" charset="-127"/>
                          <a:ea typeface="Pretendard" panose="02000503000000020004" pitchFamily="50" charset="-127"/>
                          <a:cs typeface="Pretendard" panose="02000503000000020004" pitchFamily="50" charset="-127"/>
                        </a:rPr>
                        <a:t>각 단계가 에이전트 식별자와 해당 에이전트의 출력을 포함하는</a:t>
                      </a:r>
                      <a:r>
                        <a:rPr lang="en-US" sz="1200" b="0" dirty="0">
                          <a:effectLst/>
                          <a:latin typeface="Pretendard" panose="02000503000000020004" pitchFamily="50" charset="-127"/>
                          <a:ea typeface="Pretendard" panose="02000503000000020004" pitchFamily="50" charset="-127"/>
                          <a:cs typeface="Pretendard" panose="02000503000000020004" pitchFamily="50" charset="-127"/>
                        </a:rPr>
                        <a:t>, </a:t>
                      </a:r>
                      <a:r>
                        <a:rPr lang="ko-KR" sz="1200" b="0" dirty="0" err="1">
                          <a:effectLst/>
                          <a:latin typeface="Pretendard" panose="02000503000000020004" pitchFamily="50" charset="-127"/>
                          <a:ea typeface="Pretendard" panose="02000503000000020004" pitchFamily="50" charset="-127"/>
                          <a:cs typeface="Pretendard" panose="02000503000000020004" pitchFamily="50" charset="-127"/>
                        </a:rPr>
                        <a:t>멀티에이전트</a:t>
                      </a:r>
                      <a:r>
                        <a:rPr lang="ko-KR" sz="1200" b="0" dirty="0">
                          <a:effectLst/>
                          <a:latin typeface="Pretendard" panose="02000503000000020004" pitchFamily="50" charset="-127"/>
                          <a:ea typeface="Pretendard" panose="02000503000000020004" pitchFamily="50" charset="-127"/>
                          <a:cs typeface="Pretendard" panose="02000503000000020004" pitchFamily="50" charset="-127"/>
                        </a:rPr>
                        <a:t> 시스템의 실패 궤적 로그 및 작업 명세를 </a:t>
                      </a:r>
                      <a:r>
                        <a:rPr lang="ko-KR" sz="1200" b="0" dirty="0" err="1">
                          <a:effectLst/>
                          <a:latin typeface="Pretendard" panose="02000503000000020004" pitchFamily="50" charset="-127"/>
                          <a:ea typeface="Pretendard" panose="02000503000000020004" pitchFamily="50" charset="-127"/>
                          <a:cs typeface="Pretendard" panose="02000503000000020004" pitchFamily="50" charset="-127"/>
                        </a:rPr>
                        <a:t>입력받는</a:t>
                      </a:r>
                      <a:r>
                        <a:rPr lang="ko-KR" sz="1200" b="0" dirty="0">
                          <a:effectLst/>
                          <a:latin typeface="Pretendard" panose="02000503000000020004" pitchFamily="50" charset="-127"/>
                          <a:ea typeface="Pretendard" panose="02000503000000020004" pitchFamily="50" charset="-127"/>
                          <a:cs typeface="Pretendard" panose="02000503000000020004" pitchFamily="50" charset="-127"/>
                        </a:rPr>
                        <a:t> 단계</a:t>
                      </a:r>
                    </a:p>
                  </a:txBody>
                  <a:tcPr marL="69850" marR="69850" marT="44450" marB="44450" anchor="ctr"/>
                </a:tc>
                <a:extLst>
                  <a:ext uri="{0D108BD9-81ED-4DB2-BD59-A6C34878D82A}">
                    <a16:rowId xmlns:a16="http://schemas.microsoft.com/office/drawing/2014/main" val="2709035938"/>
                  </a:ext>
                </a:extLst>
              </a:tr>
              <a:tr h="608573">
                <a:tc>
                  <a:txBody>
                    <a:bodyPr/>
                    <a:lstStyle/>
                    <a:p>
                      <a:pPr algn="ctr" latinLnBrk="1">
                        <a:lnSpc>
                          <a:spcPct val="116000"/>
                        </a:lnSpc>
                        <a:spcAft>
                          <a:spcPts val="500"/>
                        </a:spcAft>
                      </a:pPr>
                      <a:r>
                        <a:rPr lang="en-US" sz="1200" b="0" dirty="0">
                          <a:solidFill>
                            <a:srgbClr val="FF0000"/>
                          </a:solidFill>
                          <a:effectLst/>
                          <a:latin typeface="Pretendard" panose="02000503000000020004" pitchFamily="50" charset="-127"/>
                          <a:ea typeface="Pretendard" panose="02000503000000020004" pitchFamily="50" charset="-127"/>
                          <a:cs typeface="Pretendard" panose="02000503000000020004" pitchFamily="50" charset="-127"/>
                        </a:rPr>
                        <a:t>(b)</a:t>
                      </a:r>
                      <a:endParaRPr lang="ko-KR" sz="1200" b="0" dirty="0">
                        <a:solidFill>
                          <a:srgbClr val="FF0000"/>
                        </a:solidFill>
                        <a:effectLst/>
                        <a:latin typeface="Pretendard" panose="02000503000000020004" pitchFamily="50" charset="-127"/>
                        <a:ea typeface="Pretendard" panose="02000503000000020004" pitchFamily="50" charset="-127"/>
                        <a:cs typeface="Pretendard" panose="02000503000000020004" pitchFamily="50" charset="-127"/>
                      </a:endParaRPr>
                    </a:p>
                  </a:txBody>
                  <a:tcPr marL="69850" marR="69850" marT="44450" marB="44450" anchor="ctr"/>
                </a:tc>
                <a:tc>
                  <a:txBody>
                    <a:bodyPr/>
                    <a:lstStyle/>
                    <a:p>
                      <a:pPr latinLnBrk="1">
                        <a:lnSpc>
                          <a:spcPct val="116000"/>
                        </a:lnSpc>
                        <a:spcAft>
                          <a:spcPts val="500"/>
                        </a:spcAft>
                      </a:pPr>
                      <a:r>
                        <a:rPr lang="ko-KR" sz="1200" b="0" dirty="0">
                          <a:effectLst/>
                          <a:latin typeface="Pretendard" panose="02000503000000020004" pitchFamily="50" charset="-127"/>
                          <a:ea typeface="Pretendard" panose="02000503000000020004" pitchFamily="50" charset="-127"/>
                          <a:cs typeface="Pretendard" panose="02000503000000020004" pitchFamily="50" charset="-127"/>
                        </a:rPr>
                        <a:t>작업 명세와 최종 출력을 대조하여 결함을 정의하고</a:t>
                      </a:r>
                      <a:r>
                        <a:rPr lang="en-US" sz="1200" b="0" dirty="0">
                          <a:effectLst/>
                          <a:latin typeface="Pretendard" panose="02000503000000020004" pitchFamily="50" charset="-127"/>
                          <a:ea typeface="Pretendard" panose="02000503000000020004" pitchFamily="50" charset="-127"/>
                          <a:cs typeface="Pretendard" panose="02000503000000020004" pitchFamily="50" charset="-127"/>
                        </a:rPr>
                        <a:t>, </a:t>
                      </a:r>
                      <a:r>
                        <a:rPr lang="ko-KR" sz="1200" b="0" dirty="0">
                          <a:effectLst/>
                          <a:latin typeface="Pretendard" panose="02000503000000020004" pitchFamily="50" charset="-127"/>
                          <a:ea typeface="Pretendard" panose="02000503000000020004" pitchFamily="50" charset="-127"/>
                          <a:cs typeface="Pretendard" panose="02000503000000020004" pitchFamily="50" charset="-127"/>
                        </a:rPr>
                        <a:t>지목된 단계에 대하여 해당 결함이 그 단계에서 발생한 것인지 이전 단계의 </a:t>
                      </a:r>
                      <a:r>
                        <a:rPr lang="ko-KR" sz="1200" b="0" dirty="0" err="1">
                          <a:effectLst/>
                          <a:latin typeface="Pretendard" panose="02000503000000020004" pitchFamily="50" charset="-127"/>
                          <a:ea typeface="Pretendard" panose="02000503000000020004" pitchFamily="50" charset="-127"/>
                          <a:cs typeface="Pretendard" panose="02000503000000020004" pitchFamily="50" charset="-127"/>
                        </a:rPr>
                        <a:t>출력으로부터</a:t>
                      </a:r>
                      <a:r>
                        <a:rPr lang="ko-KR" sz="1200" b="0" dirty="0">
                          <a:effectLst/>
                          <a:latin typeface="Pretendard" panose="02000503000000020004" pitchFamily="50" charset="-127"/>
                          <a:ea typeface="Pretendard" panose="02000503000000020004" pitchFamily="50" charset="-127"/>
                          <a:cs typeface="Pretendard" panose="02000503000000020004" pitchFamily="50" charset="-127"/>
                        </a:rPr>
                        <a:t> 상속된 것인지를 판정하되 상속으로 판정되면 출처 단계로 이동하여 판정을 반복함으로써</a:t>
                      </a:r>
                      <a:r>
                        <a:rPr lang="en-US" sz="1200" b="0" dirty="0">
                          <a:effectLst/>
                          <a:latin typeface="Pretendard" panose="02000503000000020004" pitchFamily="50" charset="-127"/>
                          <a:ea typeface="Pretendard" panose="02000503000000020004" pitchFamily="50" charset="-127"/>
                          <a:cs typeface="Pretendard" panose="02000503000000020004" pitchFamily="50" charset="-127"/>
                        </a:rPr>
                        <a:t>, </a:t>
                      </a:r>
                      <a:r>
                        <a:rPr lang="ko-KR" sz="1200" b="0" dirty="0">
                          <a:effectLst/>
                          <a:latin typeface="Pretendard" panose="02000503000000020004" pitchFamily="50" charset="-127"/>
                          <a:ea typeface="Pretendard" panose="02000503000000020004" pitchFamily="50" charset="-127"/>
                          <a:cs typeface="Pretendard" panose="02000503000000020004" pitchFamily="50" charset="-127"/>
                        </a:rPr>
                        <a:t>발생으로 판정되는 단계를 결정적 오류 단계로 식별하는 단계</a:t>
                      </a:r>
                    </a:p>
                  </a:txBody>
                  <a:tcPr marL="69850" marR="69850" marT="44450" marB="44450" anchor="ctr"/>
                </a:tc>
                <a:extLst>
                  <a:ext uri="{0D108BD9-81ED-4DB2-BD59-A6C34878D82A}">
                    <a16:rowId xmlns:a16="http://schemas.microsoft.com/office/drawing/2014/main" val="2969305796"/>
                  </a:ext>
                </a:extLst>
              </a:tr>
              <a:tr h="433858">
                <a:tc>
                  <a:txBody>
                    <a:bodyPr/>
                    <a:lstStyle/>
                    <a:p>
                      <a:pPr algn="ctr" latinLnBrk="1">
                        <a:lnSpc>
                          <a:spcPct val="116000"/>
                        </a:lnSpc>
                        <a:spcAft>
                          <a:spcPts val="500"/>
                        </a:spcAft>
                      </a:pPr>
                      <a:r>
                        <a:rPr lang="en-US" sz="1200" b="0" dirty="0">
                          <a:effectLst/>
                          <a:latin typeface="Pretendard" panose="02000503000000020004" pitchFamily="50" charset="-127"/>
                          <a:ea typeface="Pretendard" panose="02000503000000020004" pitchFamily="50" charset="-127"/>
                          <a:cs typeface="Pretendard" panose="02000503000000020004" pitchFamily="50" charset="-127"/>
                        </a:rPr>
                        <a:t>(c)</a:t>
                      </a:r>
                      <a:endParaRPr lang="ko-KR" sz="1200" b="0" dirty="0">
                        <a:effectLst/>
                        <a:latin typeface="Pretendard" panose="02000503000000020004" pitchFamily="50" charset="-127"/>
                        <a:ea typeface="Pretendard" panose="02000503000000020004" pitchFamily="50" charset="-127"/>
                        <a:cs typeface="Pretendard" panose="02000503000000020004" pitchFamily="50" charset="-127"/>
                      </a:endParaRPr>
                    </a:p>
                  </a:txBody>
                  <a:tcPr marL="69850" marR="69850" marT="44450" marB="44450" anchor="ctr"/>
                </a:tc>
                <a:tc>
                  <a:txBody>
                    <a:bodyPr/>
                    <a:lstStyle/>
                    <a:p>
                      <a:pPr latinLnBrk="1">
                        <a:lnSpc>
                          <a:spcPct val="116000"/>
                        </a:lnSpc>
                        <a:spcAft>
                          <a:spcPts val="500"/>
                        </a:spcAft>
                      </a:pPr>
                      <a:r>
                        <a:rPr lang="ko-KR" sz="1200" b="0" dirty="0">
                          <a:effectLst/>
                          <a:latin typeface="Pretendard" panose="02000503000000020004" pitchFamily="50" charset="-127"/>
                          <a:ea typeface="Pretendard" panose="02000503000000020004" pitchFamily="50" charset="-127"/>
                          <a:cs typeface="Pretendard" panose="02000503000000020004" pitchFamily="50" charset="-127"/>
                        </a:rPr>
                        <a:t>상기 결정적 오류 단계의 에이전트가 로그에 남긴 </a:t>
                      </a:r>
                      <a:r>
                        <a:rPr lang="ko-KR" sz="1200" b="0" dirty="0" err="1">
                          <a:effectLst/>
                          <a:latin typeface="Pretendard" panose="02000503000000020004" pitchFamily="50" charset="-127"/>
                          <a:ea typeface="Pretendard" panose="02000503000000020004" pitchFamily="50" charset="-127"/>
                          <a:cs typeface="Pretendard" panose="02000503000000020004" pitchFamily="50" charset="-127"/>
                        </a:rPr>
                        <a:t>출력으로부터</a:t>
                      </a:r>
                      <a:r>
                        <a:rPr lang="ko-KR" sz="1200" b="0" dirty="0">
                          <a:effectLst/>
                          <a:latin typeface="Pretendard" panose="02000503000000020004" pitchFamily="50" charset="-127"/>
                          <a:ea typeface="Pretendard" panose="02000503000000020004" pitchFamily="50" charset="-127"/>
                          <a:cs typeface="Pretendard" panose="02000503000000020004" pitchFamily="50" charset="-127"/>
                        </a:rPr>
                        <a:t> 역할</a:t>
                      </a:r>
                      <a:r>
                        <a:rPr lang="en-US" sz="1200" b="0" dirty="0">
                          <a:effectLst/>
                          <a:latin typeface="Pretendard" panose="02000503000000020004" pitchFamily="50" charset="-127"/>
                          <a:ea typeface="Pretendard" panose="02000503000000020004" pitchFamily="50" charset="-127"/>
                          <a:cs typeface="Pretendard" panose="02000503000000020004" pitchFamily="50" charset="-127"/>
                        </a:rPr>
                        <a:t>, </a:t>
                      </a:r>
                      <a:r>
                        <a:rPr lang="ko-KR" sz="1200" b="0" dirty="0">
                          <a:effectLst/>
                          <a:latin typeface="Pretendard" panose="02000503000000020004" pitchFamily="50" charset="-127"/>
                          <a:ea typeface="Pretendard" panose="02000503000000020004" pitchFamily="50" charset="-127"/>
                          <a:cs typeface="Pretendard" panose="02000503000000020004" pitchFamily="50" charset="-127"/>
                        </a:rPr>
                        <a:t>도구</a:t>
                      </a:r>
                      <a:r>
                        <a:rPr lang="en-US" sz="1200" b="0" dirty="0">
                          <a:effectLst/>
                          <a:latin typeface="Pretendard" panose="02000503000000020004" pitchFamily="50" charset="-127"/>
                          <a:ea typeface="Pretendard" panose="02000503000000020004" pitchFamily="50" charset="-127"/>
                          <a:cs typeface="Pretendard" panose="02000503000000020004" pitchFamily="50" charset="-127"/>
                        </a:rPr>
                        <a:t>, </a:t>
                      </a:r>
                      <a:r>
                        <a:rPr lang="ko-KR" sz="1200" b="0" dirty="0">
                          <a:effectLst/>
                          <a:latin typeface="Pretendard" panose="02000503000000020004" pitchFamily="50" charset="-127"/>
                          <a:ea typeface="Pretendard" panose="02000503000000020004" pitchFamily="50" charset="-127"/>
                          <a:cs typeface="Pretendard" panose="02000503000000020004" pitchFamily="50" charset="-127"/>
                        </a:rPr>
                        <a:t>출력 형식 및 말투를 포함하는 페르소나를 </a:t>
                      </a:r>
                      <a:r>
                        <a:rPr lang="ko-KR" sz="1200" b="0" dirty="0" err="1">
                          <a:effectLst/>
                          <a:latin typeface="Pretendard" panose="02000503000000020004" pitchFamily="50" charset="-127"/>
                          <a:ea typeface="Pretendard" panose="02000503000000020004" pitchFamily="50" charset="-127"/>
                          <a:cs typeface="Pretendard" panose="02000503000000020004" pitchFamily="50" charset="-127"/>
                        </a:rPr>
                        <a:t>역추출하고</a:t>
                      </a:r>
                      <a:r>
                        <a:rPr lang="en-US" sz="1200" b="0" dirty="0">
                          <a:effectLst/>
                          <a:latin typeface="Pretendard" panose="02000503000000020004" pitchFamily="50" charset="-127"/>
                          <a:ea typeface="Pretendard" panose="02000503000000020004" pitchFamily="50" charset="-127"/>
                          <a:cs typeface="Pretendard" panose="02000503000000020004" pitchFamily="50" charset="-127"/>
                        </a:rPr>
                        <a:t>, </a:t>
                      </a:r>
                      <a:r>
                        <a:rPr lang="ko-KR" sz="1200" b="0" dirty="0">
                          <a:effectLst/>
                          <a:latin typeface="Pretendard" panose="02000503000000020004" pitchFamily="50" charset="-127"/>
                          <a:ea typeface="Pretendard" panose="02000503000000020004" pitchFamily="50" charset="-127"/>
                          <a:cs typeface="Pretendard" panose="02000503000000020004" pitchFamily="50" charset="-127"/>
                        </a:rPr>
                        <a:t>해당 단계 직전까지의 궤적을 요약하여 공유 메모리를 생성하는 단계</a:t>
                      </a:r>
                    </a:p>
                  </a:txBody>
                  <a:tcPr marL="69850" marR="69850" marT="44450" marB="44450" anchor="ctr"/>
                </a:tc>
                <a:extLst>
                  <a:ext uri="{0D108BD9-81ED-4DB2-BD59-A6C34878D82A}">
                    <a16:rowId xmlns:a16="http://schemas.microsoft.com/office/drawing/2014/main" val="2289995717"/>
                  </a:ext>
                </a:extLst>
              </a:tr>
              <a:tr h="259144">
                <a:tc>
                  <a:txBody>
                    <a:bodyPr/>
                    <a:lstStyle/>
                    <a:p>
                      <a:pPr algn="ctr" latinLnBrk="1">
                        <a:lnSpc>
                          <a:spcPct val="116000"/>
                        </a:lnSpc>
                        <a:spcAft>
                          <a:spcPts val="500"/>
                        </a:spcAft>
                      </a:pPr>
                      <a:r>
                        <a:rPr lang="en-US" sz="1200" b="0">
                          <a:effectLst/>
                          <a:latin typeface="Pretendard" panose="02000503000000020004" pitchFamily="50" charset="-127"/>
                          <a:ea typeface="Pretendard" panose="02000503000000020004" pitchFamily="50" charset="-127"/>
                          <a:cs typeface="Pretendard" panose="02000503000000020004" pitchFamily="50" charset="-127"/>
                        </a:rPr>
                        <a:t>(d)</a:t>
                      </a:r>
                      <a:endParaRPr lang="ko-KR" sz="1200" b="0">
                        <a:effectLst/>
                        <a:latin typeface="Pretendard" panose="02000503000000020004" pitchFamily="50" charset="-127"/>
                        <a:ea typeface="Pretendard" panose="02000503000000020004" pitchFamily="50" charset="-127"/>
                        <a:cs typeface="Pretendard" panose="02000503000000020004" pitchFamily="50" charset="-127"/>
                      </a:endParaRPr>
                    </a:p>
                  </a:txBody>
                  <a:tcPr marL="69850" marR="69850" marT="44450" marB="44450" anchor="ctr"/>
                </a:tc>
                <a:tc>
                  <a:txBody>
                    <a:bodyPr/>
                    <a:lstStyle/>
                    <a:p>
                      <a:pPr latinLnBrk="1">
                        <a:lnSpc>
                          <a:spcPct val="116000"/>
                        </a:lnSpc>
                        <a:spcAft>
                          <a:spcPts val="500"/>
                        </a:spcAft>
                      </a:pPr>
                      <a:r>
                        <a:rPr lang="ko-KR" sz="1200" b="0">
                          <a:effectLst/>
                          <a:latin typeface="Pretendard" panose="02000503000000020004" pitchFamily="50" charset="-127"/>
                          <a:ea typeface="Pretendard" panose="02000503000000020004" pitchFamily="50" charset="-127"/>
                          <a:cs typeface="Pretendard" panose="02000503000000020004" pitchFamily="50" charset="-127"/>
                        </a:rPr>
                        <a:t>상기 페르소나</a:t>
                      </a:r>
                      <a:r>
                        <a:rPr lang="en-US" sz="1200" b="0">
                          <a:effectLst/>
                          <a:latin typeface="Pretendard" panose="02000503000000020004" pitchFamily="50" charset="-127"/>
                          <a:ea typeface="Pretendard" panose="02000503000000020004" pitchFamily="50" charset="-127"/>
                          <a:cs typeface="Pretendard" panose="02000503000000020004" pitchFamily="50" charset="-127"/>
                        </a:rPr>
                        <a:t>, </a:t>
                      </a:r>
                      <a:r>
                        <a:rPr lang="ko-KR" sz="1200" b="0">
                          <a:effectLst/>
                          <a:latin typeface="Pretendard" panose="02000503000000020004" pitchFamily="50" charset="-127"/>
                          <a:ea typeface="Pretendard" panose="02000503000000020004" pitchFamily="50" charset="-127"/>
                          <a:cs typeface="Pretendard" panose="02000503000000020004" pitchFamily="50" charset="-127"/>
                        </a:rPr>
                        <a:t>공유 메모리 및 교정 지시를 수리 에이전트에 제공하여 상기 결정적 오류 단계의 출력을 교정하는 단계</a:t>
                      </a:r>
                    </a:p>
                  </a:txBody>
                  <a:tcPr marL="69850" marR="69850" marT="44450" marB="44450" anchor="ctr"/>
                </a:tc>
                <a:extLst>
                  <a:ext uri="{0D108BD9-81ED-4DB2-BD59-A6C34878D82A}">
                    <a16:rowId xmlns:a16="http://schemas.microsoft.com/office/drawing/2014/main" val="1021683115"/>
                  </a:ext>
                </a:extLst>
              </a:tr>
              <a:tr h="608573">
                <a:tc>
                  <a:txBody>
                    <a:bodyPr/>
                    <a:lstStyle/>
                    <a:p>
                      <a:pPr algn="ctr" latinLnBrk="1">
                        <a:lnSpc>
                          <a:spcPct val="116000"/>
                        </a:lnSpc>
                        <a:spcAft>
                          <a:spcPts val="500"/>
                        </a:spcAft>
                      </a:pPr>
                      <a:r>
                        <a:rPr lang="en-US" sz="1200" b="0" dirty="0">
                          <a:solidFill>
                            <a:srgbClr val="FF0000"/>
                          </a:solidFill>
                          <a:effectLst/>
                          <a:latin typeface="Pretendard" panose="02000503000000020004" pitchFamily="50" charset="-127"/>
                          <a:ea typeface="Pretendard" panose="02000503000000020004" pitchFamily="50" charset="-127"/>
                          <a:cs typeface="Pretendard" panose="02000503000000020004" pitchFamily="50" charset="-127"/>
                        </a:rPr>
                        <a:t>(e)</a:t>
                      </a:r>
                      <a:endParaRPr lang="ko-KR" sz="1200" b="0" dirty="0">
                        <a:solidFill>
                          <a:srgbClr val="FF0000"/>
                        </a:solidFill>
                        <a:effectLst/>
                        <a:latin typeface="Pretendard" panose="02000503000000020004" pitchFamily="50" charset="-127"/>
                        <a:ea typeface="Pretendard" panose="02000503000000020004" pitchFamily="50" charset="-127"/>
                        <a:cs typeface="Pretendard" panose="02000503000000020004" pitchFamily="50" charset="-127"/>
                      </a:endParaRPr>
                    </a:p>
                  </a:txBody>
                  <a:tcPr marL="69850" marR="69850" marT="44450" marB="44450" anchor="ctr"/>
                </a:tc>
                <a:tc>
                  <a:txBody>
                    <a:bodyPr/>
                    <a:lstStyle/>
                    <a:p>
                      <a:pPr latinLnBrk="1">
                        <a:lnSpc>
                          <a:spcPct val="116000"/>
                        </a:lnSpc>
                        <a:spcAft>
                          <a:spcPts val="500"/>
                        </a:spcAft>
                      </a:pPr>
                      <a:r>
                        <a:rPr lang="ko-KR" sz="1200" b="0" dirty="0">
                          <a:effectLst/>
                          <a:latin typeface="Pretendard" panose="02000503000000020004" pitchFamily="50" charset="-127"/>
                          <a:ea typeface="Pretendard" panose="02000503000000020004" pitchFamily="50" charset="-127"/>
                          <a:cs typeface="Pretendard" panose="02000503000000020004" pitchFamily="50" charset="-127"/>
                        </a:rPr>
                        <a:t>교정된 출력을 입력으로 하여 상기 결정적 오류 단계 이후의 궤적을 </a:t>
                      </a:r>
                      <a:r>
                        <a:rPr lang="ko-KR" sz="1200" b="0" dirty="0" err="1">
                          <a:effectLst/>
                          <a:latin typeface="Pretendard" panose="02000503000000020004" pitchFamily="50" charset="-127"/>
                          <a:ea typeface="Pretendard" panose="02000503000000020004" pitchFamily="50" charset="-127"/>
                          <a:cs typeface="Pretendard" panose="02000503000000020004" pitchFamily="50" charset="-127"/>
                        </a:rPr>
                        <a:t>재생성하되</a:t>
                      </a:r>
                      <a:r>
                        <a:rPr lang="en-US" sz="1200" b="0" dirty="0">
                          <a:effectLst/>
                          <a:latin typeface="Pretendard" panose="02000503000000020004" pitchFamily="50" charset="-127"/>
                          <a:ea typeface="Pretendard" panose="02000503000000020004" pitchFamily="50" charset="-127"/>
                          <a:cs typeface="Pretendard" panose="02000503000000020004" pitchFamily="50" charset="-127"/>
                        </a:rPr>
                        <a:t>, </a:t>
                      </a:r>
                      <a:r>
                        <a:rPr lang="ko-KR" sz="1200" b="0" dirty="0">
                          <a:effectLst/>
                          <a:latin typeface="Pretendard" panose="02000503000000020004" pitchFamily="50" charset="-127"/>
                          <a:ea typeface="Pretendard" panose="02000503000000020004" pitchFamily="50" charset="-127"/>
                          <a:cs typeface="Pretendard" panose="02000503000000020004" pitchFamily="50" charset="-127"/>
                        </a:rPr>
                        <a:t>각 단계를 재실행 가능 단계와 외부 상태 변경을 수반하는 재실행 불가 단계로 구분하고 재실행 불가 단계에 대해서는 원 궤적에 기록된 결과를 재사용하는 단계</a:t>
                      </a:r>
                    </a:p>
                  </a:txBody>
                  <a:tcPr marL="69850" marR="69850" marT="44450" marB="44450" anchor="ctr"/>
                </a:tc>
                <a:extLst>
                  <a:ext uri="{0D108BD9-81ED-4DB2-BD59-A6C34878D82A}">
                    <a16:rowId xmlns:a16="http://schemas.microsoft.com/office/drawing/2014/main" val="2090058696"/>
                  </a:ext>
                </a:extLst>
              </a:tr>
              <a:tr h="433858">
                <a:tc>
                  <a:txBody>
                    <a:bodyPr/>
                    <a:lstStyle/>
                    <a:p>
                      <a:pPr algn="ctr" latinLnBrk="1">
                        <a:lnSpc>
                          <a:spcPct val="116000"/>
                        </a:lnSpc>
                        <a:spcAft>
                          <a:spcPts val="500"/>
                        </a:spcAft>
                      </a:pPr>
                      <a:r>
                        <a:rPr lang="en-US" sz="1200" b="0" dirty="0">
                          <a:solidFill>
                            <a:srgbClr val="FF0000"/>
                          </a:solidFill>
                          <a:effectLst/>
                          <a:latin typeface="Pretendard" panose="02000503000000020004" pitchFamily="50" charset="-127"/>
                          <a:ea typeface="Pretendard" panose="02000503000000020004" pitchFamily="50" charset="-127"/>
                          <a:cs typeface="Pretendard" panose="02000503000000020004" pitchFamily="50" charset="-127"/>
                        </a:rPr>
                        <a:t>(f)</a:t>
                      </a:r>
                      <a:endParaRPr lang="ko-KR" sz="1200" b="0" dirty="0">
                        <a:solidFill>
                          <a:srgbClr val="FF0000"/>
                        </a:solidFill>
                        <a:effectLst/>
                        <a:latin typeface="Pretendard" panose="02000503000000020004" pitchFamily="50" charset="-127"/>
                        <a:ea typeface="Pretendard" panose="02000503000000020004" pitchFamily="50" charset="-127"/>
                        <a:cs typeface="Pretendard" panose="02000503000000020004" pitchFamily="50" charset="-127"/>
                      </a:endParaRPr>
                    </a:p>
                  </a:txBody>
                  <a:tcPr marL="69850" marR="69850" marT="44450" marB="44450" anchor="ctr"/>
                </a:tc>
                <a:tc>
                  <a:txBody>
                    <a:bodyPr/>
                    <a:lstStyle/>
                    <a:p>
                      <a:pPr latinLnBrk="1">
                        <a:lnSpc>
                          <a:spcPct val="116000"/>
                        </a:lnSpc>
                        <a:spcAft>
                          <a:spcPts val="500"/>
                        </a:spcAft>
                      </a:pPr>
                      <a:r>
                        <a:rPr lang="ko-KR" sz="1200" b="0" dirty="0">
                          <a:effectLst/>
                          <a:latin typeface="Pretendard" panose="02000503000000020004" pitchFamily="50" charset="-127"/>
                          <a:ea typeface="Pretendard" panose="02000503000000020004" pitchFamily="50" charset="-127"/>
                          <a:cs typeface="Pretendard" panose="02000503000000020004" pitchFamily="50" charset="-127"/>
                        </a:rPr>
                        <a:t>작업 명세로부터 추출한 성공 조건에 따라 </a:t>
                      </a:r>
                      <a:r>
                        <a:rPr lang="ko-KR" sz="1200" b="0" dirty="0" err="1">
                          <a:effectLst/>
                          <a:latin typeface="Pretendard" panose="02000503000000020004" pitchFamily="50" charset="-127"/>
                          <a:ea typeface="Pretendard" panose="02000503000000020004" pitchFamily="50" charset="-127"/>
                          <a:cs typeface="Pretendard" panose="02000503000000020004" pitchFamily="50" charset="-127"/>
                        </a:rPr>
                        <a:t>재생성된</a:t>
                      </a:r>
                      <a:r>
                        <a:rPr lang="ko-KR" sz="1200" b="0" dirty="0">
                          <a:effectLst/>
                          <a:latin typeface="Pretendard" panose="02000503000000020004" pitchFamily="50" charset="-127"/>
                          <a:ea typeface="Pretendard" panose="02000503000000020004" pitchFamily="50" charset="-127"/>
                          <a:cs typeface="Pretendard" panose="02000503000000020004" pitchFamily="50" charset="-127"/>
                        </a:rPr>
                        <a:t> 궤적의 성공 여부를 판정하고</a:t>
                      </a:r>
                      <a:r>
                        <a:rPr lang="en-US" sz="1200" b="0" dirty="0">
                          <a:effectLst/>
                          <a:latin typeface="Pretendard" panose="02000503000000020004" pitchFamily="50" charset="-127"/>
                          <a:ea typeface="Pretendard" panose="02000503000000020004" pitchFamily="50" charset="-127"/>
                          <a:cs typeface="Pretendard" panose="02000503000000020004" pitchFamily="50" charset="-127"/>
                        </a:rPr>
                        <a:t>, </a:t>
                      </a:r>
                      <a:r>
                        <a:rPr lang="ko-KR" sz="1200" b="0" dirty="0">
                          <a:effectLst/>
                          <a:latin typeface="Pretendard" panose="02000503000000020004" pitchFamily="50" charset="-127"/>
                          <a:ea typeface="Pretendard" panose="02000503000000020004" pitchFamily="50" charset="-127"/>
                          <a:cs typeface="Pretendard" panose="02000503000000020004" pitchFamily="50" charset="-127"/>
                        </a:rPr>
                        <a:t>실패 시 상기 결정적 오류 단계를 상속으로 간주하여</a:t>
                      </a:r>
                      <a:r>
                        <a:rPr lang="en-US" sz="1200" b="0" dirty="0">
                          <a:effectLst/>
                          <a:latin typeface="Pretendard" panose="02000503000000020004" pitchFamily="50" charset="-127"/>
                          <a:ea typeface="Pretendard" panose="02000503000000020004" pitchFamily="50" charset="-127"/>
                          <a:cs typeface="Pretendard" panose="02000503000000020004" pitchFamily="50" charset="-127"/>
                        </a:rPr>
                        <a:t> (b)</a:t>
                      </a:r>
                      <a:r>
                        <a:rPr lang="ko-KR" sz="1200" b="0" dirty="0">
                          <a:effectLst/>
                          <a:latin typeface="Pretendard" panose="02000503000000020004" pitchFamily="50" charset="-127"/>
                          <a:ea typeface="Pretendard" panose="02000503000000020004" pitchFamily="50" charset="-127"/>
                          <a:cs typeface="Pretendard" panose="02000503000000020004" pitchFamily="50" charset="-127"/>
                        </a:rPr>
                        <a:t>의 판정을 상류로 재개하는 단계</a:t>
                      </a:r>
                    </a:p>
                  </a:txBody>
                  <a:tcPr marL="69850" marR="69850" marT="44450" marB="44450" anchor="ctr"/>
                </a:tc>
                <a:extLst>
                  <a:ext uri="{0D108BD9-81ED-4DB2-BD59-A6C34878D82A}">
                    <a16:rowId xmlns:a16="http://schemas.microsoft.com/office/drawing/2014/main" val="3954805382"/>
                  </a:ext>
                </a:extLst>
              </a:tr>
            </a:tbl>
          </a:graphicData>
        </a:graphic>
      </p:graphicFrame>
      <p:sp>
        <p:nvSpPr>
          <p:cNvPr id="6" name="TextBox 5">
            <a:extLst>
              <a:ext uri="{FF2B5EF4-FFF2-40B4-BE49-F238E27FC236}">
                <a16:creationId xmlns:a16="http://schemas.microsoft.com/office/drawing/2014/main" id="{716D1738-6756-4B24-A1D3-75C342B014AD}"/>
              </a:ext>
            </a:extLst>
          </p:cNvPr>
          <p:cNvSpPr txBox="1"/>
          <p:nvPr/>
        </p:nvSpPr>
        <p:spPr>
          <a:xfrm>
            <a:off x="265305" y="3748962"/>
            <a:ext cx="11658215" cy="1073179"/>
          </a:xfrm>
          <a:prstGeom prst="rect">
            <a:avLst/>
          </a:prstGeom>
          <a:noFill/>
        </p:spPr>
        <p:txBody>
          <a:bodyPr wrap="square">
            <a:spAutoFit/>
          </a:bodyPr>
          <a:lstStyle/>
          <a:p>
            <a:pPr latinLnBrk="1">
              <a:lnSpc>
                <a:spcPct val="116000"/>
              </a:lnSpc>
              <a:spcAft>
                <a:spcPts val="500"/>
              </a:spcAft>
            </a:pPr>
            <a:r>
              <a:rPr lang="en-US" altLang="ko-KR" sz="1400" b="0" dirty="0">
                <a:effectLst/>
                <a:latin typeface="Pretendard" panose="02000503000000020004" pitchFamily="50" charset="-127"/>
                <a:ea typeface="Pretendard" panose="02000503000000020004" pitchFamily="50" charset="-127"/>
                <a:cs typeface="Pretendard" panose="02000503000000020004" pitchFamily="50" charset="-127"/>
              </a:rPr>
              <a:t>(b) </a:t>
            </a:r>
            <a:r>
              <a:rPr lang="ko-KR" altLang="ko-KR" sz="1400" b="0" dirty="0">
                <a:effectLst/>
                <a:latin typeface="Pretendard" panose="02000503000000020004" pitchFamily="50" charset="-127"/>
                <a:ea typeface="Pretendard" panose="02000503000000020004" pitchFamily="50" charset="-127"/>
                <a:cs typeface="Pretendard" panose="02000503000000020004" pitchFamily="50" charset="-127"/>
              </a:rPr>
              <a:t>작업 명세와 최종 출력을 대조하여 결함을 정의하고</a:t>
            </a:r>
            <a:r>
              <a:rPr lang="en-US" altLang="ko-KR" sz="1400" b="0" dirty="0">
                <a:effectLst/>
                <a:latin typeface="Pretendard" panose="02000503000000020004" pitchFamily="50" charset="-127"/>
                <a:ea typeface="Pretendard" panose="02000503000000020004" pitchFamily="50" charset="-127"/>
                <a:cs typeface="Pretendard" panose="02000503000000020004" pitchFamily="50" charset="-127"/>
              </a:rPr>
              <a:t>, </a:t>
            </a:r>
            <a:r>
              <a:rPr lang="ko-KR" altLang="ko-KR" sz="1400" b="0" dirty="0">
                <a:effectLst/>
                <a:latin typeface="Pretendard" panose="02000503000000020004" pitchFamily="50" charset="-127"/>
                <a:ea typeface="Pretendard" panose="02000503000000020004" pitchFamily="50" charset="-127"/>
                <a:cs typeface="Pretendard" panose="02000503000000020004" pitchFamily="50" charset="-127"/>
              </a:rPr>
              <a:t>지목된 단계에 대하여 해당 결함이 그 단계에서 발생한 것인지 이전 단계의 </a:t>
            </a:r>
            <a:r>
              <a:rPr lang="ko-KR" altLang="ko-KR" sz="1400" b="0" dirty="0" err="1">
                <a:effectLst/>
                <a:latin typeface="Pretendard" panose="02000503000000020004" pitchFamily="50" charset="-127"/>
                <a:ea typeface="Pretendard" panose="02000503000000020004" pitchFamily="50" charset="-127"/>
                <a:cs typeface="Pretendard" panose="02000503000000020004" pitchFamily="50" charset="-127"/>
              </a:rPr>
              <a:t>출력으로부터</a:t>
            </a:r>
            <a:r>
              <a:rPr lang="ko-KR" altLang="ko-KR" sz="1400" b="0" dirty="0">
                <a:effectLst/>
                <a:latin typeface="Pretendard" panose="02000503000000020004" pitchFamily="50" charset="-127"/>
                <a:ea typeface="Pretendard" panose="02000503000000020004" pitchFamily="50" charset="-127"/>
                <a:cs typeface="Pretendard" panose="02000503000000020004" pitchFamily="50" charset="-127"/>
              </a:rPr>
              <a:t> 상속된 것인지를 판정하되 상속으로 판정되면 출처 단계로 이동하여 판정을 반복함으로써</a:t>
            </a:r>
            <a:r>
              <a:rPr lang="en-US" altLang="ko-KR" sz="1400" b="0" dirty="0">
                <a:effectLst/>
                <a:latin typeface="Pretendard" panose="02000503000000020004" pitchFamily="50" charset="-127"/>
                <a:ea typeface="Pretendard" panose="02000503000000020004" pitchFamily="50" charset="-127"/>
                <a:cs typeface="Pretendard" panose="02000503000000020004" pitchFamily="50" charset="-127"/>
              </a:rPr>
              <a:t>, </a:t>
            </a:r>
            <a:r>
              <a:rPr lang="ko-KR" altLang="ko-KR" sz="1400" b="0" dirty="0">
                <a:effectLst/>
                <a:latin typeface="Pretendard" panose="02000503000000020004" pitchFamily="50" charset="-127"/>
                <a:ea typeface="Pretendard" panose="02000503000000020004" pitchFamily="50" charset="-127"/>
                <a:cs typeface="Pretendard" panose="02000503000000020004" pitchFamily="50" charset="-127"/>
              </a:rPr>
              <a:t>발생으로 판정되는 단계를 결정적 오류 단계로 식별하</a:t>
            </a:r>
            <a:r>
              <a:rPr lang="ko-KR" altLang="en-US" sz="1400" b="1" dirty="0">
                <a:solidFill>
                  <a:srgbClr val="FF0000"/>
                </a:solidFill>
                <a:latin typeface="Pretendard" panose="02000503000000020004" pitchFamily="50" charset="-127"/>
                <a:ea typeface="Pretendard" panose="02000503000000020004" pitchFamily="50" charset="-127"/>
                <a:cs typeface="Pretendard" panose="02000503000000020004" pitchFamily="50" charset="-127"/>
              </a:rPr>
              <a:t>되</a:t>
            </a:r>
            <a:r>
              <a:rPr lang="en-US" altLang="ko-KR" sz="1400" b="1" dirty="0">
                <a:solidFill>
                  <a:srgbClr val="FF000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400" b="1" dirty="0">
                <a:solidFill>
                  <a:srgbClr val="FF0000"/>
                </a:solidFill>
                <a:latin typeface="Pretendard" panose="02000503000000020004" pitchFamily="50" charset="-127"/>
                <a:ea typeface="Pretendard" panose="02000503000000020004" pitchFamily="50" charset="-127"/>
                <a:cs typeface="Pretendard" panose="02000503000000020004" pitchFamily="50" charset="-127"/>
              </a:rPr>
              <a:t>상기 판정이 궤적의 최초 단계에 도달할 때까지 발생으로 판정되는 단계가 존재하지 않는 경우</a:t>
            </a:r>
            <a:r>
              <a:rPr lang="en-US" altLang="ko-KR" sz="1400" b="1" dirty="0">
                <a:solidFill>
                  <a:srgbClr val="FF0000"/>
                </a:solidFill>
                <a:latin typeface="Pretendard" panose="02000503000000020004" pitchFamily="50" charset="-127"/>
                <a:ea typeface="Pretendard" panose="02000503000000020004" pitchFamily="50" charset="-127"/>
                <a:cs typeface="Pretendard" panose="02000503000000020004" pitchFamily="50" charset="-127"/>
              </a:rPr>
              <a:t>, </a:t>
            </a:r>
            <a:r>
              <a:rPr lang="ko-KR" altLang="en-US" sz="1400" b="1" dirty="0">
                <a:solidFill>
                  <a:srgbClr val="FF0000"/>
                </a:solidFill>
                <a:latin typeface="Pretendard" panose="02000503000000020004" pitchFamily="50" charset="-127"/>
                <a:ea typeface="Pretendard" panose="02000503000000020004" pitchFamily="50" charset="-127"/>
                <a:cs typeface="Pretendard" panose="02000503000000020004" pitchFamily="50" charset="-127"/>
              </a:rPr>
              <a:t>상기 작업 명세로부터 상기 결함에 대응하는 요구 행동을 특정하고 행동을 수행할 수 있었던 가장 이른 단계를 결정적 오류로 식별하는 단계</a:t>
            </a:r>
            <a:endParaRPr lang="ko-KR" altLang="ko-KR" sz="1400" b="1" dirty="0">
              <a:effectLst/>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Box 6">
            <a:extLst>
              <a:ext uri="{FF2B5EF4-FFF2-40B4-BE49-F238E27FC236}">
                <a16:creationId xmlns:a16="http://schemas.microsoft.com/office/drawing/2014/main" id="{B03F0FFD-A82D-4A6E-BAC9-280A00E4D463}"/>
              </a:ext>
            </a:extLst>
          </p:cNvPr>
          <p:cNvSpPr txBox="1"/>
          <p:nvPr/>
        </p:nvSpPr>
        <p:spPr>
          <a:xfrm>
            <a:off x="265304" y="4851646"/>
            <a:ext cx="11658215" cy="1137299"/>
          </a:xfrm>
          <a:prstGeom prst="rect">
            <a:avLst/>
          </a:prstGeom>
          <a:noFill/>
        </p:spPr>
        <p:txBody>
          <a:bodyPr wrap="square">
            <a:spAutoFit/>
          </a:bodyPr>
          <a:lstStyle/>
          <a:p>
            <a:pPr latinLnBrk="1">
              <a:lnSpc>
                <a:spcPct val="116000"/>
              </a:lnSpc>
              <a:spcAft>
                <a:spcPts val="500"/>
              </a:spcAft>
            </a:pPr>
            <a:r>
              <a:rPr lang="en-US" altLang="ko-KR" sz="1400" b="0" dirty="0">
                <a:effectLst/>
                <a:latin typeface="Pretendard" panose="02000503000000020004" pitchFamily="50" charset="-127"/>
                <a:ea typeface="Pretendard" panose="02000503000000020004" pitchFamily="50" charset="-127"/>
                <a:cs typeface="Pretendard" panose="02000503000000020004" pitchFamily="50" charset="-127"/>
              </a:rPr>
              <a:t>(e.1)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상기 실패 궤적 로그 및 상기 교정된 출력에 근거하여</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상기 결정적 오류 단계 이후의 궤적 완주에 필요한 하나 이상의 에이전트 역할 및 각 역할의 지시문을 정의함으로써 </a:t>
            </a:r>
            <a:r>
              <a:rPr lang="ko-KR" altLang="en-US" sz="1400" dirty="0" err="1">
                <a:latin typeface="Pretendard" panose="02000503000000020004" pitchFamily="50" charset="-127"/>
                <a:ea typeface="Pretendard" panose="02000503000000020004" pitchFamily="50" charset="-127"/>
                <a:cs typeface="Pretendard" panose="02000503000000020004" pitchFamily="50" charset="-127"/>
              </a:rPr>
              <a:t>오케스트레이터</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 기반 에이전트 시스템을 구성하는 단계</a:t>
            </a:r>
            <a:endParaRPr lang="en-US" altLang="ko-KR" sz="1400" b="0" dirty="0">
              <a:effectLst/>
              <a:latin typeface="Pretendard" panose="02000503000000020004" pitchFamily="50" charset="-127"/>
              <a:ea typeface="Pretendard" panose="02000503000000020004" pitchFamily="50" charset="-127"/>
              <a:cs typeface="Pretendard" panose="02000503000000020004" pitchFamily="50" charset="-127"/>
            </a:endParaRPr>
          </a:p>
          <a:p>
            <a:pPr latinLnBrk="1">
              <a:lnSpc>
                <a:spcPct val="116000"/>
              </a:lnSpc>
              <a:spcAft>
                <a:spcPts val="500"/>
              </a:spcAft>
            </a:pP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(e.2)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상기 교정된 출력을 입력으로 하여 상기 </a:t>
            </a:r>
            <a:r>
              <a:rPr lang="ko-KR" altLang="en-US" sz="1400" dirty="0" err="1">
                <a:latin typeface="Pretendard" panose="02000503000000020004" pitchFamily="50" charset="-127"/>
                <a:ea typeface="Pretendard" panose="02000503000000020004" pitchFamily="50" charset="-127"/>
                <a:cs typeface="Pretendard" panose="02000503000000020004" pitchFamily="50" charset="-127"/>
              </a:rPr>
              <a:t>오케스트레이터가</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 각 단계마다 다음 에이전트를 결정함으로써 상기 결정적 오류 단계 이후의 궤적을 </a:t>
            </a:r>
            <a:r>
              <a:rPr lang="ko-KR" altLang="en-US" sz="1400" dirty="0" err="1">
                <a:latin typeface="Pretendard" panose="02000503000000020004" pitchFamily="50" charset="-127"/>
                <a:ea typeface="Pretendard" panose="02000503000000020004" pitchFamily="50" charset="-127"/>
                <a:cs typeface="Pretendard" panose="02000503000000020004" pitchFamily="50" charset="-127"/>
              </a:rPr>
              <a:t>재생성하되</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각 단계를 재실행 가능 단계와 외부 상태 변경을 수반하는 재실행 불가 단계로 구분하고 재실행 불가 단계에 대해서는 원 궤적에 기록된 결과를 재사용하는 단계</a:t>
            </a:r>
            <a:endParaRPr lang="ko-KR" altLang="ko-KR" sz="1400" b="0" dirty="0">
              <a:effectLst/>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Box 7">
            <a:extLst>
              <a:ext uri="{FF2B5EF4-FFF2-40B4-BE49-F238E27FC236}">
                <a16:creationId xmlns:a16="http://schemas.microsoft.com/office/drawing/2014/main" id="{4B093D55-EAD7-4245-B6F8-886DCDA03401}"/>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17</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extLst>
      <p:ext uri="{BB962C8B-B14F-4D97-AF65-F5344CB8AC3E}">
        <p14:creationId xmlns:p14="http://schemas.microsoft.com/office/powerpoint/2010/main" val="14022269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E9B9F990-6F5A-4692-991C-CD7671751311}"/>
              </a:ext>
            </a:extLst>
          </p:cNvPr>
          <p:cNvSpPr/>
          <p:nvPr/>
        </p:nvSpPr>
        <p:spPr>
          <a:xfrm>
            <a:off x="502920" y="274320"/>
            <a:ext cx="10789920" cy="548640"/>
          </a:xfrm>
          <a:prstGeom prst="rect">
            <a:avLst/>
          </a:prstGeom>
          <a:noFill/>
          <a:ln/>
        </p:spPr>
        <p:txBody>
          <a:bodyPr wrap="square" rtlCol="0" anchor="ctr"/>
          <a:lstStyle/>
          <a:p>
            <a:pPr marL="0" indent="0">
              <a:buNone/>
            </a:pPr>
            <a:r>
              <a:rPr lang="en-US" sz="2500" b="1" dirty="0">
                <a:latin typeface="Pretendard" panose="02000503000000020004" pitchFamily="50" charset="-127"/>
                <a:ea typeface="Pretendard" panose="02000503000000020004" pitchFamily="50" charset="-127"/>
                <a:cs typeface="Pretendard" panose="02000503000000020004" pitchFamily="50" charset="-127"/>
              </a:rPr>
              <a:t>Appendix. </a:t>
            </a:r>
            <a:r>
              <a:rPr lang="ko-KR" altLang="en-US" sz="2500" b="1" dirty="0">
                <a:latin typeface="Pretendard" panose="02000503000000020004" pitchFamily="50" charset="-127"/>
                <a:ea typeface="Pretendard" panose="02000503000000020004" pitchFamily="50" charset="-127"/>
                <a:cs typeface="Pretendard" panose="02000503000000020004" pitchFamily="50" charset="-127"/>
              </a:rPr>
              <a:t>페르소나 </a:t>
            </a:r>
            <a:r>
              <a:rPr lang="ko-KR" altLang="en-US" sz="2500" b="1" dirty="0" err="1">
                <a:latin typeface="Pretendard" panose="02000503000000020004" pitchFamily="50" charset="-127"/>
                <a:ea typeface="Pretendard" panose="02000503000000020004" pitchFamily="50" charset="-127"/>
                <a:cs typeface="Pretendard" panose="02000503000000020004" pitchFamily="50" charset="-127"/>
              </a:rPr>
              <a:t>역추출</a:t>
            </a:r>
            <a:r>
              <a:rPr lang="ko-KR" altLang="en-US" sz="2500" b="1" dirty="0">
                <a:latin typeface="Pretendard" panose="02000503000000020004" pitchFamily="50" charset="-127"/>
                <a:ea typeface="Pretendard" panose="02000503000000020004" pitchFamily="50" charset="-127"/>
                <a:cs typeface="Pretendard" panose="02000503000000020004" pitchFamily="50" charset="-127"/>
              </a:rPr>
              <a:t> 프롬프트</a:t>
            </a:r>
            <a:endParaRPr lang="en-US" sz="2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Box 7">
            <a:extLst>
              <a:ext uri="{FF2B5EF4-FFF2-40B4-BE49-F238E27FC236}">
                <a16:creationId xmlns:a16="http://schemas.microsoft.com/office/drawing/2014/main" id="{E6AA02C3-689C-4F54-BEC5-E4DA5CE5E042}"/>
              </a:ext>
            </a:extLst>
          </p:cNvPr>
          <p:cNvSpPr txBox="1"/>
          <p:nvPr/>
        </p:nvSpPr>
        <p:spPr>
          <a:xfrm>
            <a:off x="502920" y="1121415"/>
            <a:ext cx="11245515" cy="5262979"/>
          </a:xfrm>
          <a:prstGeom prst="rect">
            <a:avLst/>
          </a:prstGeom>
          <a:noFill/>
        </p:spPr>
        <p:txBody>
          <a:bodyPr wrap="square">
            <a:spAutoFit/>
          </a:bodyPr>
          <a:lstStyle/>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You are analyzing an execution log of a multi-agent system. </a:t>
            </a:r>
          </a:p>
          <a:p>
            <a:endParaRPr lang="en-US" altLang="ko-KR" sz="1400" dirty="0">
              <a:latin typeface="Pretendard" panose="02000503000000020004" pitchFamily="50" charset="-127"/>
              <a:ea typeface="Pretendard" panose="02000503000000020004" pitchFamily="50" charset="-127"/>
              <a:cs typeface="Pretendard" panose="02000503000000020004" pitchFamily="50" charset="-127"/>
            </a:endParaRP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Below are ALL utterances produced by a single agent named "{</a:t>
            </a:r>
            <a:r>
              <a:rPr lang="en-US" altLang="ko-KR" sz="1400" dirty="0" err="1">
                <a:latin typeface="Pretendard" panose="02000503000000020004" pitchFamily="50" charset="-127"/>
                <a:ea typeface="Pretendard" panose="02000503000000020004" pitchFamily="50" charset="-127"/>
                <a:cs typeface="Pretendard" panose="02000503000000020004" pitchFamily="50" charset="-127"/>
              </a:rPr>
              <a:t>agent_name</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within the failed trajectory. Your task is to reconstruct this agent's persona strictly from these utterances. Do not use any outside assumption about what an agent with this name usually does. </a:t>
            </a:r>
          </a:p>
          <a:p>
            <a:endParaRPr lang="en-US" altLang="ko-KR" sz="1400" dirty="0">
              <a:latin typeface="Pretendard" panose="02000503000000020004" pitchFamily="50" charset="-127"/>
              <a:ea typeface="Pretendard" panose="02000503000000020004" pitchFamily="50" charset="-127"/>
              <a:cs typeface="Pretendard" panose="02000503000000020004" pitchFamily="50" charset="-127"/>
            </a:endParaRP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[UTTERANCES BY {</a:t>
            </a:r>
            <a:r>
              <a:rPr lang="en-US" altLang="ko-KR" sz="1400" dirty="0" err="1">
                <a:latin typeface="Pretendard" panose="02000503000000020004" pitchFamily="50" charset="-127"/>
                <a:ea typeface="Pretendard" panose="02000503000000020004" pitchFamily="50" charset="-127"/>
                <a:cs typeface="Pretendard" panose="02000503000000020004" pitchFamily="50" charset="-127"/>
              </a:rPr>
              <a:t>agent_name</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Step {</a:t>
            </a:r>
            <a:r>
              <a:rPr lang="en-US" altLang="ko-KR" sz="1400" dirty="0" err="1">
                <a:latin typeface="Pretendard" panose="02000503000000020004" pitchFamily="50" charset="-127"/>
                <a:ea typeface="Pretendard" panose="02000503000000020004" pitchFamily="50" charset="-127"/>
                <a:cs typeface="Pretendard" panose="02000503000000020004" pitchFamily="50" charset="-127"/>
              </a:rPr>
              <a:t>i</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a:t>
            </a:r>
            <a:r>
              <a:rPr lang="en-US" altLang="ko-KR" sz="1400" dirty="0" err="1">
                <a:latin typeface="Pretendard" panose="02000503000000020004" pitchFamily="50" charset="-127"/>
                <a:ea typeface="Pretendard" panose="02000503000000020004" pitchFamily="50" charset="-127"/>
                <a:cs typeface="Pretendard" panose="02000503000000020004" pitchFamily="50" charset="-127"/>
              </a:rPr>
              <a:t>content_i</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Step {j} ---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a:t>
            </a:r>
            <a:r>
              <a:rPr lang="en-US" altLang="ko-KR" sz="1400" dirty="0" err="1">
                <a:latin typeface="Pretendard" panose="02000503000000020004" pitchFamily="50" charset="-127"/>
                <a:ea typeface="Pretendard" panose="02000503000000020004" pitchFamily="50" charset="-127"/>
                <a:cs typeface="Pretendard" panose="02000503000000020004" pitchFamily="50" charset="-127"/>
              </a:rPr>
              <a:t>content_j</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p>
          <a:p>
            <a:endParaRPr lang="en-US" altLang="ko-KR" sz="1400" dirty="0">
              <a:latin typeface="Pretendard" panose="02000503000000020004" pitchFamily="50" charset="-127"/>
              <a:ea typeface="Pretendard" panose="02000503000000020004" pitchFamily="50" charset="-127"/>
              <a:cs typeface="Pretendard" panose="02000503000000020004" pitchFamily="50" charset="-127"/>
            </a:endParaRP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Extract exactly the following four fields. </a:t>
            </a:r>
          </a:p>
          <a:p>
            <a:endParaRPr lang="en-US" altLang="ko-KR" sz="1400" dirty="0">
              <a:latin typeface="Pretendard" panose="02000503000000020004" pitchFamily="50" charset="-127"/>
              <a:ea typeface="Pretendard" panose="02000503000000020004" pitchFamily="50" charset="-127"/>
              <a:cs typeface="Pretendard" panose="02000503000000020004" pitchFamily="50" charset="-127"/>
            </a:endParaRP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1. role What function did this agent actually perform in this trajectory? State it in one sentence, grounded in what the utterances actually do. </a:t>
            </a:r>
          </a:p>
          <a:p>
            <a:endParaRPr lang="en-US" altLang="ko-KR" sz="1400" dirty="0">
              <a:latin typeface="Pretendard" panose="02000503000000020004" pitchFamily="50" charset="-127"/>
              <a:ea typeface="Pretendard" panose="02000503000000020004" pitchFamily="50" charset="-127"/>
              <a:cs typeface="Pretendard" panose="02000503000000020004" pitchFamily="50" charset="-127"/>
            </a:endParaRP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2. tools Which concrete tools, libraries, or submission mechanisms did this agent actually use? List only what appears in the utterances. </a:t>
            </a:r>
          </a:p>
          <a:p>
            <a:endParaRPr lang="en-US" altLang="ko-KR" sz="1400" dirty="0">
              <a:latin typeface="Pretendard" panose="02000503000000020004" pitchFamily="50" charset="-127"/>
              <a:ea typeface="Pretendard" panose="02000503000000020004" pitchFamily="50" charset="-127"/>
              <a:cs typeface="Pretendard" panose="02000503000000020004" pitchFamily="50" charset="-127"/>
            </a:endParaRP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3. </a:t>
            </a:r>
            <a:r>
              <a:rPr lang="en-US" altLang="ko-KR" sz="1400" dirty="0" err="1">
                <a:latin typeface="Pretendard" panose="02000503000000020004" pitchFamily="50" charset="-127"/>
                <a:ea typeface="Pretendard" panose="02000503000000020004" pitchFamily="50" charset="-127"/>
                <a:cs typeface="Pretendard" panose="02000503000000020004" pitchFamily="50" charset="-127"/>
              </a:rPr>
              <a:t>output_format</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Describe the structural pattern of this agent's outputs in order (e.g. what comes first, second, third). Be specific about markers such as code fences, filename comments, numbered lists, or closing requests. </a:t>
            </a:r>
          </a:p>
          <a:p>
            <a:endParaRPr lang="en-US" altLang="ko-KR" sz="1400" dirty="0">
              <a:latin typeface="Pretendard" panose="02000503000000020004" pitchFamily="50" charset="-127"/>
              <a:ea typeface="Pretendard" panose="02000503000000020004" pitchFamily="50" charset="-127"/>
              <a:cs typeface="Pretendard" panose="02000503000000020004" pitchFamily="50" charset="-127"/>
            </a:endParaRP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4. tone Describe the register, person, and any recurring phrasings. Quote up to two short characteristic phrases verbatim. </a:t>
            </a:r>
          </a:p>
          <a:p>
            <a:endParaRPr lang="en-US" altLang="ko-KR" sz="1400" dirty="0">
              <a:latin typeface="Pretendard" panose="02000503000000020004" pitchFamily="50" charset="-127"/>
              <a:ea typeface="Pretendard" panose="02000503000000020004" pitchFamily="50" charset="-127"/>
              <a:cs typeface="Pretendard" panose="02000503000000020004" pitchFamily="50" charset="-127"/>
            </a:endParaRP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Return JSON only, with keys: role, tools, </a:t>
            </a:r>
            <a:r>
              <a:rPr lang="en-US" altLang="ko-KR" sz="1400" dirty="0" err="1">
                <a:latin typeface="Pretendard" panose="02000503000000020004" pitchFamily="50" charset="-127"/>
                <a:ea typeface="Pretendard" panose="02000503000000020004" pitchFamily="50" charset="-127"/>
                <a:cs typeface="Pretendard" panose="02000503000000020004" pitchFamily="50" charset="-127"/>
              </a:rPr>
              <a:t>output_format</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tone. No commentary.</a:t>
            </a:r>
            <a:endParaRPr lang="ko-KR" alt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 name="TextBox 3">
            <a:extLst>
              <a:ext uri="{FF2B5EF4-FFF2-40B4-BE49-F238E27FC236}">
                <a16:creationId xmlns:a16="http://schemas.microsoft.com/office/drawing/2014/main" id="{6FC2C691-71E2-44E7-9910-2F02AF85FA7F}"/>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18</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extLst>
      <p:ext uri="{BB962C8B-B14F-4D97-AF65-F5344CB8AC3E}">
        <p14:creationId xmlns:p14="http://schemas.microsoft.com/office/powerpoint/2010/main" val="1120117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E9B9F990-6F5A-4692-991C-CD7671751311}"/>
              </a:ext>
            </a:extLst>
          </p:cNvPr>
          <p:cNvSpPr/>
          <p:nvPr/>
        </p:nvSpPr>
        <p:spPr>
          <a:xfrm>
            <a:off x="502920" y="274320"/>
            <a:ext cx="10789920" cy="548640"/>
          </a:xfrm>
          <a:prstGeom prst="rect">
            <a:avLst/>
          </a:prstGeom>
          <a:noFill/>
          <a:ln/>
        </p:spPr>
        <p:txBody>
          <a:bodyPr wrap="square" rtlCol="0" anchor="ctr"/>
          <a:lstStyle/>
          <a:p>
            <a:pPr marL="0" indent="0">
              <a:buNone/>
            </a:pPr>
            <a:r>
              <a:rPr lang="en-US" sz="2500" b="1" dirty="0">
                <a:latin typeface="Pretendard" panose="02000503000000020004" pitchFamily="50" charset="-127"/>
                <a:ea typeface="Pretendard" panose="02000503000000020004" pitchFamily="50" charset="-127"/>
                <a:cs typeface="Pretendard" panose="02000503000000020004" pitchFamily="50" charset="-127"/>
              </a:rPr>
              <a:t>Appendix. </a:t>
            </a:r>
            <a:r>
              <a:rPr lang="ko-KR" altLang="en-US" sz="2500" b="1" dirty="0">
                <a:latin typeface="Pretendard" panose="02000503000000020004" pitchFamily="50" charset="-127"/>
                <a:ea typeface="Pretendard" panose="02000503000000020004" pitchFamily="50" charset="-127"/>
                <a:cs typeface="Pretendard" panose="02000503000000020004" pitchFamily="50" charset="-127"/>
              </a:rPr>
              <a:t>공유 메모리 </a:t>
            </a:r>
            <a:r>
              <a:rPr lang="en-US" altLang="ko-KR" sz="2500" b="1" dirty="0">
                <a:latin typeface="Pretendard" panose="02000503000000020004" pitchFamily="50" charset="-127"/>
                <a:ea typeface="Pretendard" panose="02000503000000020004" pitchFamily="50" charset="-127"/>
                <a:cs typeface="Pretendard" panose="02000503000000020004" pitchFamily="50" charset="-127"/>
              </a:rPr>
              <a:t>JSON </a:t>
            </a:r>
            <a:r>
              <a:rPr lang="ko-KR" altLang="en-US" sz="2500" b="1" dirty="0">
                <a:latin typeface="Pretendard" panose="02000503000000020004" pitchFamily="50" charset="-127"/>
                <a:ea typeface="Pretendard" panose="02000503000000020004" pitchFamily="50" charset="-127"/>
                <a:cs typeface="Pretendard" panose="02000503000000020004" pitchFamily="50" charset="-127"/>
              </a:rPr>
              <a:t>포맷 예시</a:t>
            </a:r>
            <a:endParaRPr lang="en-US" sz="2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Box 7">
            <a:extLst>
              <a:ext uri="{FF2B5EF4-FFF2-40B4-BE49-F238E27FC236}">
                <a16:creationId xmlns:a16="http://schemas.microsoft.com/office/drawing/2014/main" id="{E6AA02C3-689C-4F54-BEC5-E4DA5CE5E042}"/>
              </a:ext>
            </a:extLst>
          </p:cNvPr>
          <p:cNvSpPr txBox="1"/>
          <p:nvPr/>
        </p:nvSpPr>
        <p:spPr>
          <a:xfrm>
            <a:off x="502920" y="822960"/>
            <a:ext cx="11245515" cy="5909310"/>
          </a:xfrm>
          <a:prstGeom prst="rect">
            <a:avLst/>
          </a:prstGeom>
          <a:noFill/>
        </p:spPr>
        <p:txBody>
          <a:bodyPr wrap="square">
            <a:spAutoFit/>
          </a:bodyPr>
          <a:lstStyle/>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p>
          <a:p>
            <a:r>
              <a:rPr lang="en-US" altLang="ko-KR" sz="1400" dirty="0">
                <a:solidFill>
                  <a:srgbClr val="7030A0"/>
                </a:solidFill>
                <a:latin typeface="Pretendard" panose="02000503000000020004" pitchFamily="50" charset="-127"/>
                <a:ea typeface="Pretendard" panose="02000503000000020004" pitchFamily="50" charset="-127"/>
                <a:cs typeface="Pretendard" panose="02000503000000020004" pitchFamily="50" charset="-127"/>
              </a:rPr>
              <a:t>"</a:t>
            </a:r>
            <a:r>
              <a:rPr lang="en-US" altLang="ko-KR" sz="1400" dirty="0" err="1">
                <a:solidFill>
                  <a:srgbClr val="7030A0"/>
                </a:solidFill>
                <a:latin typeface="Pretendard" panose="02000503000000020004" pitchFamily="50" charset="-127"/>
                <a:ea typeface="Pretendard" panose="02000503000000020004" pitchFamily="50" charset="-127"/>
                <a:cs typeface="Pretendard" panose="02000503000000020004" pitchFamily="50" charset="-127"/>
              </a:rPr>
              <a:t>s_star</a:t>
            </a:r>
            <a:r>
              <a:rPr lang="en-US" altLang="ko-KR" sz="1400" dirty="0">
                <a:solidFill>
                  <a:srgbClr val="7030A0"/>
                </a:solidFill>
                <a:latin typeface="Pretendard" panose="02000503000000020004" pitchFamily="50" charset="-127"/>
                <a:ea typeface="Pretendard" panose="02000503000000020004" pitchFamily="50" charset="-127"/>
                <a:cs typeface="Pretendard" panose="02000503000000020004" pitchFamily="50" charset="-127"/>
              </a:rPr>
              <a:t>"</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5, </a:t>
            </a:r>
          </a:p>
          <a:p>
            <a:r>
              <a:rPr lang="en-US" altLang="ko-KR" sz="1400" dirty="0">
                <a:solidFill>
                  <a:srgbClr val="7030A0"/>
                </a:solidFill>
                <a:latin typeface="Pretendard" panose="02000503000000020004" pitchFamily="50" charset="-127"/>
                <a:ea typeface="Pretendard" panose="02000503000000020004" pitchFamily="50" charset="-127"/>
                <a:cs typeface="Pretendard" panose="02000503000000020004" pitchFamily="50" charset="-127"/>
              </a:rPr>
              <a:t>"</a:t>
            </a:r>
            <a:r>
              <a:rPr lang="en-US" altLang="ko-KR" sz="1400" dirty="0" err="1">
                <a:solidFill>
                  <a:srgbClr val="7030A0"/>
                </a:solidFill>
                <a:latin typeface="Pretendard" panose="02000503000000020004" pitchFamily="50" charset="-127"/>
                <a:ea typeface="Pretendard" panose="02000503000000020004" pitchFamily="50" charset="-127"/>
                <a:cs typeface="Pretendard" panose="02000503000000020004" pitchFamily="50" charset="-127"/>
              </a:rPr>
              <a:t>covered_steps</a:t>
            </a:r>
            <a:r>
              <a:rPr lang="en-US" altLang="ko-KR" sz="1400" dirty="0">
                <a:solidFill>
                  <a:srgbClr val="7030A0"/>
                </a:solidFill>
                <a:latin typeface="Pretendard" panose="02000503000000020004" pitchFamily="50" charset="-127"/>
                <a:ea typeface="Pretendard" panose="02000503000000020004" pitchFamily="50" charset="-127"/>
                <a:cs typeface="Pretendard" panose="02000503000000020004" pitchFamily="50" charset="-127"/>
              </a:rPr>
              <a:t>"</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[1, 2, 3, 4], </a:t>
            </a:r>
          </a:p>
          <a:p>
            <a:r>
              <a:rPr lang="en-US" altLang="ko-KR" sz="1400" dirty="0">
                <a:solidFill>
                  <a:srgbClr val="7030A0"/>
                </a:solidFill>
                <a:latin typeface="Pretendard" panose="02000503000000020004" pitchFamily="50" charset="-127"/>
                <a:ea typeface="Pretendard" panose="02000503000000020004" pitchFamily="50" charset="-127"/>
                <a:cs typeface="Pretendard" panose="02000503000000020004" pitchFamily="50" charset="-127"/>
              </a:rPr>
              <a:t>"</a:t>
            </a:r>
            <a:r>
              <a:rPr lang="en-US" altLang="ko-KR" sz="1400" dirty="0" err="1">
                <a:solidFill>
                  <a:srgbClr val="7030A0"/>
                </a:solidFill>
                <a:latin typeface="Pretendard" panose="02000503000000020004" pitchFamily="50" charset="-127"/>
                <a:ea typeface="Pretendard" panose="02000503000000020004" pitchFamily="50" charset="-127"/>
                <a:cs typeface="Pretendard" panose="02000503000000020004" pitchFamily="50" charset="-127"/>
              </a:rPr>
              <a:t>established_facts</a:t>
            </a:r>
            <a:r>
              <a:rPr lang="en-US" altLang="ko-KR" sz="1400" dirty="0">
                <a:solidFill>
                  <a:srgbClr val="7030A0"/>
                </a:solidFill>
                <a:latin typeface="Pretendard" panose="02000503000000020004" pitchFamily="50" charset="-127"/>
                <a:ea typeface="Pretendard" panose="02000503000000020004" pitchFamily="50" charset="-127"/>
                <a:cs typeface="Pretendard" panose="02000503000000020004" pitchFamily="50" charset="-127"/>
              </a:rPr>
              <a:t>"</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대상 파일은 </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'../2023/validation/65afbc8a-89ca-4ad5-8d62-355bb401f61d.xlsx'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이며</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Sheet1</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을 </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header=None</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으로 읽어 로드에 성공하였다</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격자 크기는 </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20</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행 </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9</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열이다</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"START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셀은 </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(0, 0), END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셀은 </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(19, 8)</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이다</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"START/END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표기를 제외한 모든 셀의 값은 </a:t>
            </a:r>
            <a:r>
              <a:rPr lang="en-US" altLang="ko-KR" sz="1400" dirty="0" err="1">
                <a:latin typeface="Pretendard" panose="02000503000000020004" pitchFamily="50" charset="-127"/>
                <a:ea typeface="Pretendard" panose="02000503000000020004" pitchFamily="50" charset="-127"/>
                <a:cs typeface="Pretendard" panose="02000503000000020004" pitchFamily="50" charset="-127"/>
              </a:rPr>
              <a:t>NaN</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이다</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즉 셀 값에는 색상 정보가 존재하지 않는다</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p>
          <a:p>
            <a:r>
              <a:rPr lang="en-US" altLang="ko-KR" sz="1400" dirty="0">
                <a:solidFill>
                  <a:srgbClr val="7030A0"/>
                </a:solidFill>
                <a:latin typeface="Pretendard" panose="02000503000000020004" pitchFamily="50" charset="-127"/>
                <a:ea typeface="Pretendard" panose="02000503000000020004" pitchFamily="50" charset="-127"/>
                <a:cs typeface="Pretendard" panose="02000503000000020004" pitchFamily="50" charset="-127"/>
              </a:rPr>
              <a:t>"constraints"</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매 턴 정확히 </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2</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칸을 이동해야 하며</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2</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칸 미만 이동은 허용되지 않는다</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이동 방향은 상</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하</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좌</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우 네 방향으로 제한된다</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후진</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직전 이동의 반대 방향</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은 허용되지 않는다</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파란색 셀로는 진입할 수 없다</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"11</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번째 턴에 착지한 셀의 색상을 접두사 없는 </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6</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자리 </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hex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코드로 답해야 한다</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제공된 </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Excel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파일이 규정하는 범위 내에서 작업을 완료해야 한다</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p>
          <a:p>
            <a:r>
              <a:rPr lang="en-US" altLang="ko-KR" sz="1400" dirty="0">
                <a:solidFill>
                  <a:srgbClr val="7030A0"/>
                </a:solidFill>
                <a:latin typeface="Pretendard" panose="02000503000000020004" pitchFamily="50" charset="-127"/>
                <a:ea typeface="Pretendard" panose="02000503000000020004" pitchFamily="50" charset="-127"/>
                <a:cs typeface="Pretendard" panose="02000503000000020004" pitchFamily="50" charset="-127"/>
              </a:rPr>
              <a:t>"</a:t>
            </a:r>
            <a:r>
              <a:rPr lang="en-US" altLang="ko-KR" sz="1400" dirty="0" err="1">
                <a:solidFill>
                  <a:srgbClr val="7030A0"/>
                </a:solidFill>
                <a:latin typeface="Pretendard" panose="02000503000000020004" pitchFamily="50" charset="-127"/>
                <a:ea typeface="Pretendard" panose="02000503000000020004" pitchFamily="50" charset="-127"/>
                <a:cs typeface="Pretendard" panose="02000503000000020004" pitchFamily="50" charset="-127"/>
              </a:rPr>
              <a:t>plan_in_progress</a:t>
            </a:r>
            <a:r>
              <a:rPr lang="en-US" altLang="ko-KR" sz="1400" dirty="0">
                <a:solidFill>
                  <a:srgbClr val="7030A0"/>
                </a:solidFill>
                <a:latin typeface="Pretendard" panose="02000503000000020004" pitchFamily="50" charset="-127"/>
                <a:ea typeface="Pretendard" panose="02000503000000020004" pitchFamily="50" charset="-127"/>
                <a:cs typeface="Pretendard" panose="02000503000000020004" pitchFamily="50" charset="-127"/>
              </a:rPr>
              <a:t>"</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 </a:t>
            </a:r>
          </a:p>
          <a:p>
            <a:r>
              <a:rPr lang="en-US" altLang="ko-KR" sz="1400" dirty="0">
                <a:solidFill>
                  <a:srgbClr val="7030A0"/>
                </a:solidFill>
                <a:latin typeface="Pretendard" panose="02000503000000020004" pitchFamily="50" charset="-127"/>
                <a:ea typeface="Pretendard" panose="02000503000000020004" pitchFamily="50" charset="-127"/>
                <a:cs typeface="Pretendard" panose="02000503000000020004" pitchFamily="50" charset="-127"/>
              </a:rPr>
              <a:t>"source"</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매니저 플랜 </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5</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단계</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p>
          <a:p>
            <a:r>
              <a:rPr lang="en-US" altLang="ko-KR" sz="1400" dirty="0">
                <a:solidFill>
                  <a:srgbClr val="7030A0"/>
                </a:solidFill>
                <a:latin typeface="Pretendard" panose="02000503000000020004" pitchFamily="50" charset="-127"/>
                <a:ea typeface="Pretendard" panose="02000503000000020004" pitchFamily="50" charset="-127"/>
                <a:cs typeface="Pretendard" panose="02000503000000020004" pitchFamily="50" charset="-127"/>
              </a:rPr>
              <a:t>"</a:t>
            </a:r>
            <a:r>
              <a:rPr lang="en-US" altLang="ko-KR" sz="1400" dirty="0" err="1">
                <a:solidFill>
                  <a:srgbClr val="7030A0"/>
                </a:solidFill>
                <a:latin typeface="Pretendard" panose="02000503000000020004" pitchFamily="50" charset="-127"/>
                <a:ea typeface="Pretendard" panose="02000503000000020004" pitchFamily="50" charset="-127"/>
                <a:cs typeface="Pretendard" panose="02000503000000020004" pitchFamily="50" charset="-127"/>
              </a:rPr>
              <a:t>next_step_no</a:t>
            </a:r>
            <a:r>
              <a:rPr lang="en-US" altLang="ko-KR" sz="1400" dirty="0">
                <a:solidFill>
                  <a:srgbClr val="7030A0"/>
                </a:solidFill>
                <a:latin typeface="Pretendard" panose="02000503000000020004" pitchFamily="50" charset="-127"/>
                <a:ea typeface="Pretendard" panose="02000503000000020004" pitchFamily="50" charset="-127"/>
                <a:cs typeface="Pretendard" panose="02000503000000020004" pitchFamily="50" charset="-127"/>
              </a:rPr>
              <a:t>"</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2, </a:t>
            </a:r>
          </a:p>
          <a:p>
            <a:r>
              <a:rPr lang="en-US" altLang="ko-KR" sz="1400" dirty="0">
                <a:solidFill>
                  <a:srgbClr val="7030A0"/>
                </a:solidFill>
                <a:latin typeface="Pretendard" panose="02000503000000020004" pitchFamily="50" charset="-127"/>
                <a:ea typeface="Pretendard" panose="02000503000000020004" pitchFamily="50" charset="-127"/>
                <a:cs typeface="Pretendard" panose="02000503000000020004" pitchFamily="50" charset="-127"/>
              </a:rPr>
              <a:t>"steps"</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"no": 1, "content": "Excel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파일 로드 및 </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START/END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셀 식별</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"status":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완료</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"no": 2, "content":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이동 제약</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턴당 </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2</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칸</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후진 금지</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파란 셀 회피</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을 반영한 경로 탐색 알고리즘 개발</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"status":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미착수</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 { "no": 3, "content":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알고리즘 실행 및 </a:t>
            </a:r>
            <a:r>
              <a:rPr lang="ko-KR" altLang="en-US" sz="1400" dirty="0" err="1">
                <a:latin typeface="Pretendard" panose="02000503000000020004" pitchFamily="50" charset="-127"/>
                <a:ea typeface="Pretendard" panose="02000503000000020004" pitchFamily="50" charset="-127"/>
                <a:cs typeface="Pretendard" panose="02000503000000020004" pitchFamily="50" charset="-127"/>
              </a:rPr>
              <a:t>턴별</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 착지 셀 추적</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"status":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미착수</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"no": 4, "content": "11</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번째 턴 착지 셀의 색상 식별</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"status":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미착수</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"no": 5, "content":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색상을 </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6</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자리 </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hex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코드로 변환</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"status":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미착수</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 </a:t>
            </a:r>
          </a:p>
          <a:p>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 }</a:t>
            </a:r>
            <a:endParaRPr lang="ko-KR" altLang="en-US"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 name="TextBox 3">
            <a:extLst>
              <a:ext uri="{FF2B5EF4-FFF2-40B4-BE49-F238E27FC236}">
                <a16:creationId xmlns:a16="http://schemas.microsoft.com/office/drawing/2014/main" id="{09F8108F-077F-4881-A670-10158F2E4A29}"/>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19</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extLst>
      <p:ext uri="{BB962C8B-B14F-4D97-AF65-F5344CB8AC3E}">
        <p14:creationId xmlns:p14="http://schemas.microsoft.com/office/powerpoint/2010/main" val="30698695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E9B9F990-6F5A-4692-991C-CD7671751311}"/>
              </a:ext>
            </a:extLst>
          </p:cNvPr>
          <p:cNvSpPr/>
          <p:nvPr/>
        </p:nvSpPr>
        <p:spPr>
          <a:xfrm>
            <a:off x="502920" y="274320"/>
            <a:ext cx="10789920" cy="548640"/>
          </a:xfrm>
          <a:prstGeom prst="rect">
            <a:avLst/>
          </a:prstGeom>
          <a:noFill/>
          <a:ln/>
        </p:spPr>
        <p:txBody>
          <a:bodyPr wrap="square" rtlCol="0" anchor="ctr"/>
          <a:lstStyle/>
          <a:p>
            <a:pPr marL="0" indent="0">
              <a:buNone/>
            </a:pPr>
            <a:r>
              <a:rPr lang="en-US" sz="2500" b="1" dirty="0">
                <a:latin typeface="Pretendard" panose="02000503000000020004" pitchFamily="50" charset="-127"/>
                <a:ea typeface="Pretendard" panose="02000503000000020004" pitchFamily="50" charset="-127"/>
                <a:cs typeface="Pretendard" panose="02000503000000020004" pitchFamily="50" charset="-127"/>
              </a:rPr>
              <a:t>Appendix. </a:t>
            </a:r>
            <a:r>
              <a:rPr lang="ko-KR" altLang="en-US" sz="2500" b="1" dirty="0">
                <a:latin typeface="Pretendard" panose="02000503000000020004" pitchFamily="50" charset="-127"/>
                <a:ea typeface="Pretendard" panose="02000503000000020004" pitchFamily="50" charset="-127"/>
                <a:cs typeface="Pretendard" panose="02000503000000020004" pitchFamily="50" charset="-127"/>
              </a:rPr>
              <a:t>수리 에이전트 프롬프트</a:t>
            </a:r>
            <a:endParaRPr lang="en-US" sz="2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Box 7">
            <a:extLst>
              <a:ext uri="{FF2B5EF4-FFF2-40B4-BE49-F238E27FC236}">
                <a16:creationId xmlns:a16="http://schemas.microsoft.com/office/drawing/2014/main" id="{E6AA02C3-689C-4F54-BEC5-E4DA5CE5E042}"/>
              </a:ext>
            </a:extLst>
          </p:cNvPr>
          <p:cNvSpPr txBox="1"/>
          <p:nvPr/>
        </p:nvSpPr>
        <p:spPr>
          <a:xfrm>
            <a:off x="502920" y="822960"/>
            <a:ext cx="11245515" cy="6017032"/>
          </a:xfrm>
          <a:prstGeom prst="rect">
            <a:avLst/>
          </a:prstGeom>
          <a:noFill/>
        </p:spPr>
        <p:txBody>
          <a:bodyPr wrap="square">
            <a:spAutoFit/>
          </a:bodyPr>
          <a:lstStyle/>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[SYSTEM] </a:t>
            </a:r>
          </a:p>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You are {</a:t>
            </a:r>
            <a:r>
              <a:rPr lang="en-US" altLang="ko-KR" sz="1100" dirty="0" err="1">
                <a:latin typeface="Pretendard" panose="02000503000000020004" pitchFamily="50" charset="-127"/>
                <a:ea typeface="Pretendard" panose="02000503000000020004" pitchFamily="50" charset="-127"/>
                <a:cs typeface="Pretendard" panose="02000503000000020004" pitchFamily="50" charset="-127"/>
              </a:rPr>
              <a:t>agent_name</a:t>
            </a:r>
            <a:r>
              <a:rPr lang="en-US" altLang="ko-KR" sz="1100" dirty="0">
                <a:latin typeface="Pretendard" panose="02000503000000020004" pitchFamily="50" charset="-127"/>
                <a:ea typeface="Pretendard" panose="02000503000000020004" pitchFamily="50" charset="-127"/>
                <a:cs typeface="Pretendard" panose="02000503000000020004" pitchFamily="50" charset="-127"/>
              </a:rPr>
              <a:t>}, an agent in a multi-agent system. Your identity has been reconstructed from your own utterances in a previous execution. Adopt it exactly. </a:t>
            </a:r>
          </a:p>
          <a:p>
            <a:endParaRPr lang="en-US" altLang="ko-KR" sz="1100" dirty="0">
              <a:latin typeface="Pretendard" panose="02000503000000020004" pitchFamily="50" charset="-127"/>
              <a:ea typeface="Pretendard" panose="02000503000000020004" pitchFamily="50" charset="-127"/>
              <a:cs typeface="Pretendard" panose="02000503000000020004" pitchFamily="50" charset="-127"/>
            </a:endParaRPr>
          </a:p>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ROLE {</a:t>
            </a:r>
            <a:r>
              <a:rPr lang="en-US" altLang="ko-KR" sz="1100" dirty="0" err="1">
                <a:latin typeface="Pretendard" panose="02000503000000020004" pitchFamily="50" charset="-127"/>
                <a:ea typeface="Pretendard" panose="02000503000000020004" pitchFamily="50" charset="-127"/>
                <a:cs typeface="Pretendard" panose="02000503000000020004" pitchFamily="50" charset="-127"/>
              </a:rPr>
              <a:t>persona.role</a:t>
            </a:r>
            <a:r>
              <a:rPr lang="en-US" altLang="ko-KR" sz="1100" dirty="0">
                <a:latin typeface="Pretendard" panose="02000503000000020004" pitchFamily="50" charset="-127"/>
                <a:ea typeface="Pretendard" panose="02000503000000020004" pitchFamily="50" charset="-127"/>
                <a:cs typeface="Pretendard" panose="02000503000000020004" pitchFamily="50" charset="-127"/>
              </a:rPr>
              <a:t>}</a:t>
            </a:r>
          </a:p>
          <a:p>
            <a:endParaRPr lang="en-US" altLang="ko-KR" sz="1100" dirty="0">
              <a:latin typeface="Pretendard" panose="02000503000000020004" pitchFamily="50" charset="-127"/>
              <a:ea typeface="Pretendard" panose="02000503000000020004" pitchFamily="50" charset="-127"/>
              <a:cs typeface="Pretendard" panose="02000503000000020004" pitchFamily="50" charset="-127"/>
            </a:endParaRPr>
          </a:p>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TOOLS {</a:t>
            </a:r>
            <a:r>
              <a:rPr lang="en-US" altLang="ko-KR" sz="1100" dirty="0" err="1">
                <a:latin typeface="Pretendard" panose="02000503000000020004" pitchFamily="50" charset="-127"/>
                <a:ea typeface="Pretendard" panose="02000503000000020004" pitchFamily="50" charset="-127"/>
                <a:cs typeface="Pretendard" panose="02000503000000020004" pitchFamily="50" charset="-127"/>
              </a:rPr>
              <a:t>persona.tools</a:t>
            </a:r>
            <a:r>
              <a:rPr lang="en-US" altLang="ko-KR" sz="1100" dirty="0">
                <a:latin typeface="Pretendard" panose="02000503000000020004" pitchFamily="50" charset="-127"/>
                <a:ea typeface="Pretendard" panose="02000503000000020004" pitchFamily="50" charset="-127"/>
                <a:cs typeface="Pretendard" panose="02000503000000020004" pitchFamily="50" charset="-127"/>
              </a:rPr>
              <a:t>}</a:t>
            </a:r>
          </a:p>
          <a:p>
            <a:endParaRPr lang="en-US" altLang="ko-KR" sz="1100" dirty="0">
              <a:latin typeface="Pretendard" panose="02000503000000020004" pitchFamily="50" charset="-127"/>
              <a:ea typeface="Pretendard" panose="02000503000000020004" pitchFamily="50" charset="-127"/>
              <a:cs typeface="Pretendard" panose="02000503000000020004" pitchFamily="50" charset="-127"/>
            </a:endParaRPr>
          </a:p>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 OUTPUT FORMAT {</a:t>
            </a:r>
            <a:r>
              <a:rPr lang="en-US" altLang="ko-KR" sz="1100" dirty="0" err="1">
                <a:latin typeface="Pretendard" panose="02000503000000020004" pitchFamily="50" charset="-127"/>
                <a:ea typeface="Pretendard" panose="02000503000000020004" pitchFamily="50" charset="-127"/>
                <a:cs typeface="Pretendard" panose="02000503000000020004" pitchFamily="50" charset="-127"/>
              </a:rPr>
              <a:t>persona.output_format</a:t>
            </a:r>
            <a:r>
              <a:rPr lang="en-US" altLang="ko-KR" sz="1100" dirty="0">
                <a:latin typeface="Pretendard" panose="02000503000000020004" pitchFamily="50" charset="-127"/>
                <a:ea typeface="Pretendard" panose="02000503000000020004" pitchFamily="50" charset="-127"/>
                <a:cs typeface="Pretendard" panose="02000503000000020004" pitchFamily="50" charset="-127"/>
              </a:rPr>
              <a:t>}</a:t>
            </a:r>
          </a:p>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 You MUST follow this format. Your output will be inserted back into the original trajectory in place of your previous output.</a:t>
            </a:r>
          </a:p>
          <a:p>
            <a:endParaRPr lang="en-US" altLang="ko-KR" sz="1100" dirty="0">
              <a:latin typeface="Pretendard" panose="02000503000000020004" pitchFamily="50" charset="-127"/>
              <a:ea typeface="Pretendard" panose="02000503000000020004" pitchFamily="50" charset="-127"/>
              <a:cs typeface="Pretendard" panose="02000503000000020004" pitchFamily="50" charset="-127"/>
            </a:endParaRPr>
          </a:p>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TONE {</a:t>
            </a:r>
            <a:r>
              <a:rPr lang="en-US" altLang="ko-KR" sz="1100" dirty="0" err="1">
                <a:latin typeface="Pretendard" panose="02000503000000020004" pitchFamily="50" charset="-127"/>
                <a:ea typeface="Pretendard" panose="02000503000000020004" pitchFamily="50" charset="-127"/>
                <a:cs typeface="Pretendard" panose="02000503000000020004" pitchFamily="50" charset="-127"/>
              </a:rPr>
              <a:t>persona.tone</a:t>
            </a:r>
            <a:r>
              <a:rPr lang="en-US" altLang="ko-KR" sz="1100" dirty="0">
                <a:latin typeface="Pretendard" panose="02000503000000020004" pitchFamily="50" charset="-127"/>
                <a:ea typeface="Pretendard" panose="02000503000000020004" pitchFamily="50" charset="-127"/>
                <a:cs typeface="Pretendard" panose="02000503000000020004" pitchFamily="50" charset="-127"/>
              </a:rPr>
              <a:t>}</a:t>
            </a:r>
          </a:p>
          <a:p>
            <a:endParaRPr lang="en-US" altLang="ko-KR" sz="1100" dirty="0">
              <a:latin typeface="Pretendard" panose="02000503000000020004" pitchFamily="50" charset="-127"/>
              <a:ea typeface="Pretendard" panose="02000503000000020004" pitchFamily="50" charset="-127"/>
              <a:cs typeface="Pretendard" panose="02000503000000020004" pitchFamily="50" charset="-127"/>
            </a:endParaRPr>
          </a:p>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[CONTEXT — established state before your step] </a:t>
            </a:r>
          </a:p>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The following summarizes everything the team had established before your turn. The steps before your turn are NOT re-executed; this summary replaces them. Treat every item as already true. </a:t>
            </a:r>
          </a:p>
          <a:p>
            <a:endParaRPr lang="en-US" altLang="ko-KR" sz="1100" dirty="0">
              <a:latin typeface="Pretendard" panose="02000503000000020004" pitchFamily="50" charset="-127"/>
              <a:ea typeface="Pretendard" panose="02000503000000020004" pitchFamily="50" charset="-127"/>
              <a:cs typeface="Pretendard" panose="02000503000000020004" pitchFamily="50" charset="-127"/>
            </a:endParaRPr>
          </a:p>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ESTABLISHED FACTS {</a:t>
            </a:r>
            <a:r>
              <a:rPr lang="en-US" altLang="ko-KR" sz="1100" dirty="0" err="1">
                <a:latin typeface="Pretendard" panose="02000503000000020004" pitchFamily="50" charset="-127"/>
                <a:ea typeface="Pretendard" panose="02000503000000020004" pitchFamily="50" charset="-127"/>
                <a:cs typeface="Pretendard" panose="02000503000000020004" pitchFamily="50" charset="-127"/>
              </a:rPr>
              <a:t>memory.facts</a:t>
            </a:r>
            <a:r>
              <a:rPr lang="en-US" altLang="ko-KR" sz="1100" dirty="0">
                <a:latin typeface="Pretendard" panose="02000503000000020004" pitchFamily="50" charset="-127"/>
                <a:ea typeface="Pretendard" panose="02000503000000020004" pitchFamily="50" charset="-127"/>
                <a:cs typeface="Pretendard" panose="02000503000000020004" pitchFamily="50" charset="-127"/>
              </a:rPr>
              <a:t>} </a:t>
            </a:r>
          </a:p>
          <a:p>
            <a:endParaRPr lang="en-US" altLang="ko-KR" sz="1100" dirty="0">
              <a:latin typeface="Pretendard" panose="02000503000000020004" pitchFamily="50" charset="-127"/>
              <a:ea typeface="Pretendard" panose="02000503000000020004" pitchFamily="50" charset="-127"/>
              <a:cs typeface="Pretendard" panose="02000503000000020004" pitchFamily="50" charset="-127"/>
            </a:endParaRPr>
          </a:p>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CONSTRAINTS {</a:t>
            </a:r>
            <a:r>
              <a:rPr lang="en-US" altLang="ko-KR" sz="1100" dirty="0" err="1">
                <a:latin typeface="Pretendard" panose="02000503000000020004" pitchFamily="50" charset="-127"/>
                <a:ea typeface="Pretendard" panose="02000503000000020004" pitchFamily="50" charset="-127"/>
                <a:cs typeface="Pretendard" panose="02000503000000020004" pitchFamily="50" charset="-127"/>
              </a:rPr>
              <a:t>memory.constraints</a:t>
            </a:r>
            <a:r>
              <a:rPr lang="en-US" altLang="ko-KR" sz="1100" dirty="0">
                <a:latin typeface="Pretendard" panose="02000503000000020004" pitchFamily="50" charset="-127"/>
                <a:ea typeface="Pretendard" panose="02000503000000020004" pitchFamily="50" charset="-127"/>
                <a:cs typeface="Pretendard" panose="02000503000000020004" pitchFamily="50" charset="-127"/>
              </a:rPr>
              <a:t>} </a:t>
            </a:r>
          </a:p>
          <a:p>
            <a:endParaRPr lang="en-US" altLang="ko-KR" sz="1100" dirty="0">
              <a:latin typeface="Pretendard" panose="02000503000000020004" pitchFamily="50" charset="-127"/>
              <a:ea typeface="Pretendard" panose="02000503000000020004" pitchFamily="50" charset="-127"/>
              <a:cs typeface="Pretendard" panose="02000503000000020004" pitchFamily="50" charset="-127"/>
            </a:endParaRPr>
          </a:p>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PLAN IN PROGRESS {</a:t>
            </a:r>
            <a:r>
              <a:rPr lang="en-US" altLang="ko-KR" sz="1100" dirty="0" err="1">
                <a:latin typeface="Pretendard" panose="02000503000000020004" pitchFamily="50" charset="-127"/>
                <a:ea typeface="Pretendard" panose="02000503000000020004" pitchFamily="50" charset="-127"/>
                <a:cs typeface="Pretendard" panose="02000503000000020004" pitchFamily="50" charset="-127"/>
              </a:rPr>
              <a:t>memory.plan</a:t>
            </a:r>
            <a:r>
              <a:rPr lang="en-US" altLang="ko-KR" sz="1100" dirty="0">
                <a:latin typeface="Pretendard" panose="02000503000000020004" pitchFamily="50" charset="-127"/>
                <a:ea typeface="Pretendard" panose="02000503000000020004" pitchFamily="50" charset="-127"/>
                <a:cs typeface="Pretendard" panose="02000503000000020004" pitchFamily="50" charset="-127"/>
              </a:rPr>
              <a:t>} </a:t>
            </a:r>
          </a:p>
          <a:p>
            <a:endParaRPr lang="en-US" altLang="ko-KR" sz="1100" dirty="0">
              <a:latin typeface="Pretendard" panose="02000503000000020004" pitchFamily="50" charset="-127"/>
              <a:ea typeface="Pretendard" panose="02000503000000020004" pitchFamily="50" charset="-127"/>
              <a:cs typeface="Pretendard" panose="02000503000000020004" pitchFamily="50" charset="-127"/>
            </a:endParaRPr>
          </a:p>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[TASK SPECIFICATION] {query} </a:t>
            </a:r>
          </a:p>
          <a:p>
            <a:endParaRPr lang="en-US" altLang="ko-KR" sz="1100" dirty="0">
              <a:latin typeface="Pretendard" panose="02000503000000020004" pitchFamily="50" charset="-127"/>
              <a:ea typeface="Pretendard" panose="02000503000000020004" pitchFamily="50" charset="-127"/>
              <a:cs typeface="Pretendard" panose="02000503000000020004" pitchFamily="50" charset="-127"/>
            </a:endParaRPr>
          </a:p>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[INSTRUCTION] </a:t>
            </a:r>
          </a:p>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Your previous output at this step was: &lt;&lt;&lt;PREVIOUS OUTPUT&gt;&gt;&gt; {</a:t>
            </a:r>
            <a:r>
              <a:rPr lang="en-US" altLang="ko-KR" sz="1100" dirty="0" err="1">
                <a:latin typeface="Pretendard" panose="02000503000000020004" pitchFamily="50" charset="-127"/>
                <a:ea typeface="Pretendard" panose="02000503000000020004" pitchFamily="50" charset="-127"/>
                <a:cs typeface="Pretendard" panose="02000503000000020004" pitchFamily="50" charset="-127"/>
              </a:rPr>
              <a:t>original_output</a:t>
            </a:r>
            <a:r>
              <a:rPr lang="en-US" altLang="ko-KR" sz="1100" dirty="0">
                <a:latin typeface="Pretendard" panose="02000503000000020004" pitchFamily="50" charset="-127"/>
                <a:ea typeface="Pretendard" panose="02000503000000020004" pitchFamily="50" charset="-127"/>
                <a:cs typeface="Pretendard" panose="02000503000000020004" pitchFamily="50" charset="-127"/>
              </a:rPr>
              <a:t>} &lt;&lt;&lt;END PREVIOUS OUTPUT&gt;&gt;&gt; </a:t>
            </a:r>
          </a:p>
          <a:p>
            <a:endParaRPr lang="en-US" altLang="ko-KR" sz="1100" dirty="0">
              <a:latin typeface="Pretendard" panose="02000503000000020004" pitchFamily="50" charset="-127"/>
              <a:ea typeface="Pretendard" panose="02000503000000020004" pitchFamily="50" charset="-127"/>
              <a:cs typeface="Pretendard" panose="02000503000000020004" pitchFamily="50" charset="-127"/>
            </a:endParaRPr>
          </a:p>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That output contributed to the failure of the task for the following reason: {</a:t>
            </a:r>
            <a:r>
              <a:rPr lang="en-US" altLang="ko-KR" sz="1100" dirty="0" err="1">
                <a:latin typeface="Pretendard" panose="02000503000000020004" pitchFamily="50" charset="-127"/>
                <a:ea typeface="Pretendard" panose="02000503000000020004" pitchFamily="50" charset="-127"/>
                <a:cs typeface="Pretendard" panose="02000503000000020004" pitchFamily="50" charset="-127"/>
              </a:rPr>
              <a:t>failure_reason</a:t>
            </a:r>
            <a:r>
              <a:rPr lang="en-US" altLang="ko-KR" sz="1100" dirty="0">
                <a:latin typeface="Pretendard" panose="02000503000000020004" pitchFamily="50" charset="-127"/>
                <a:ea typeface="Pretendard" panose="02000503000000020004" pitchFamily="50" charset="-127"/>
                <a:cs typeface="Pretendard" panose="02000503000000020004" pitchFamily="50" charset="-127"/>
              </a:rPr>
              <a:t>} </a:t>
            </a:r>
          </a:p>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Produce a corrected version of your output for this same step. Requirements: </a:t>
            </a:r>
          </a:p>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 Keep the same role, the same tools, the same output format, and the same tone as specified above. The corrected output must read as if you had written it. </a:t>
            </a:r>
          </a:p>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 Fix only what is described in the reason above, together with anything that is strictly necessary for that fix to work. Do not restructure unrelated parts. </a:t>
            </a:r>
          </a:p>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 Do not reference this instruction, the failure, or the correction process in your output. Write it as a natural first attempt at this step. - Do not perform or narrate the steps that come after yours. </a:t>
            </a:r>
          </a:p>
          <a:p>
            <a:endParaRPr lang="en-US" altLang="ko-KR" sz="1100" dirty="0">
              <a:latin typeface="Pretendard" panose="02000503000000020004" pitchFamily="50" charset="-127"/>
              <a:ea typeface="Pretendard" panose="02000503000000020004" pitchFamily="50" charset="-127"/>
              <a:cs typeface="Pretendard" panose="02000503000000020004" pitchFamily="50" charset="-127"/>
            </a:endParaRPr>
          </a:p>
          <a:p>
            <a:r>
              <a:rPr lang="en-US" altLang="ko-KR" sz="1100" dirty="0">
                <a:latin typeface="Pretendard" panose="02000503000000020004" pitchFamily="50" charset="-127"/>
                <a:ea typeface="Pretendard" panose="02000503000000020004" pitchFamily="50" charset="-127"/>
                <a:cs typeface="Pretendard" panose="02000503000000020004" pitchFamily="50" charset="-127"/>
              </a:rPr>
              <a:t>Output the corrected step content only.</a:t>
            </a:r>
            <a:endParaRPr lang="ko-KR" alt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 name="TextBox 3">
            <a:extLst>
              <a:ext uri="{FF2B5EF4-FFF2-40B4-BE49-F238E27FC236}">
                <a16:creationId xmlns:a16="http://schemas.microsoft.com/office/drawing/2014/main" id="{BB045CBB-5209-4EA2-9515-6F90BF14E458}"/>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20</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extLst>
      <p:ext uri="{BB962C8B-B14F-4D97-AF65-F5344CB8AC3E}">
        <p14:creationId xmlns:p14="http://schemas.microsoft.com/office/powerpoint/2010/main" val="4886873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0789920" cy="548640"/>
          </a:xfrm>
          <a:prstGeom prst="rect">
            <a:avLst/>
          </a:prstGeom>
          <a:noFill/>
          <a:ln/>
        </p:spPr>
        <p:txBody>
          <a:bodyPr wrap="square" rtlCol="0" anchor="ctr"/>
          <a:lstStyle/>
          <a:p>
            <a:pPr marL="0" indent="0">
              <a:buNone/>
            </a:pPr>
            <a:r>
              <a:rPr lang="en-US" sz="2500" b="1" dirty="0">
                <a:latin typeface="Pretendard" panose="02000503000000020004" pitchFamily="50" charset="-127"/>
                <a:ea typeface="Pretendard" panose="02000503000000020004" pitchFamily="50" charset="-127"/>
                <a:cs typeface="Pretendard" panose="02000503000000020004" pitchFamily="50" charset="-127"/>
              </a:rPr>
              <a:t>Appendix. </a:t>
            </a:r>
            <a:r>
              <a:rPr lang="en-US" sz="2500" b="1" dirty="0" err="1">
                <a:latin typeface="Pretendard" panose="02000503000000020004" pitchFamily="50" charset="-127"/>
                <a:ea typeface="Pretendard" panose="02000503000000020004" pitchFamily="50" charset="-127"/>
                <a:cs typeface="Pretendard" panose="02000503000000020004" pitchFamily="50" charset="-127"/>
              </a:rPr>
              <a:t>관련</a:t>
            </a:r>
            <a:r>
              <a:rPr lang="en-US" sz="2500" b="1" dirty="0">
                <a:latin typeface="Pretendard" panose="02000503000000020004" pitchFamily="50" charset="-127"/>
                <a:ea typeface="Pretendard" panose="02000503000000020004" pitchFamily="50" charset="-127"/>
                <a:cs typeface="Pretendard" panose="02000503000000020004" pitchFamily="50" charset="-127"/>
              </a:rPr>
              <a:t> 연구 (선행기술 상세)</a:t>
            </a:r>
            <a:endParaRPr lang="en-US" sz="2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 name="Text 2"/>
          <p:cNvSpPr/>
          <p:nvPr/>
        </p:nvSpPr>
        <p:spPr>
          <a:xfrm>
            <a:off x="640080" y="960120"/>
            <a:ext cx="11155680" cy="365760"/>
          </a:xfrm>
          <a:prstGeom prst="rect">
            <a:avLst/>
          </a:prstGeom>
          <a:noFill/>
          <a:ln/>
        </p:spPr>
        <p:txBody>
          <a:bodyPr wrap="square" rtlCol="0" anchor="ctr"/>
          <a:lstStyle/>
          <a:p>
            <a:pPr marL="0" indent="0">
              <a:buNone/>
            </a:pPr>
            <a:r>
              <a:rPr lang="en-US" sz="1450" b="1" dirty="0">
                <a:latin typeface="Pretendard" panose="02000503000000020004" pitchFamily="50" charset="-127"/>
                <a:ea typeface="Pretendard" panose="02000503000000020004" pitchFamily="50" charset="-127"/>
                <a:cs typeface="Pretendard" panose="02000503000000020004" pitchFamily="50" charset="-127"/>
              </a:rPr>
              <a:t>DoVer (Microsoft·CAS, 2025.12)</a:t>
            </a:r>
            <a:endParaRPr lang="en-US" sz="14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 name="Text 3"/>
          <p:cNvSpPr/>
          <p:nvPr/>
        </p:nvSpPr>
        <p:spPr>
          <a:xfrm>
            <a:off x="640080" y="1289304"/>
            <a:ext cx="11155680" cy="274320"/>
          </a:xfrm>
          <a:prstGeom prst="rect">
            <a:avLst/>
          </a:prstGeom>
          <a:noFill/>
          <a:ln/>
        </p:spPr>
        <p:txBody>
          <a:bodyPr wrap="square" rtlCol="0" anchor="ctr"/>
          <a:lstStyle/>
          <a:p>
            <a:pPr marL="0" indent="0">
              <a:buNone/>
            </a:pPr>
            <a:r>
              <a:rPr lang="en-US" sz="1050" i="1" dirty="0">
                <a:latin typeface="Pretendard" panose="02000503000000020004" pitchFamily="50" charset="-127"/>
                <a:ea typeface="Pretendard" panose="02000503000000020004" pitchFamily="50" charset="-127"/>
                <a:cs typeface="Pretendard" panose="02000503000000020004" pitchFamily="50" charset="-127"/>
              </a:rPr>
              <a:t>arXiv 2512.06749 — Intervention-Driven Auto Debugging for LLM Multi-Agent Systems</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4"/>
          <p:cNvSpPr/>
          <p:nvPr/>
        </p:nvSpPr>
        <p:spPr>
          <a:xfrm>
            <a:off x="868680" y="1536192"/>
            <a:ext cx="10881360" cy="502920"/>
          </a:xfrm>
          <a:prstGeom prst="rect">
            <a:avLst/>
          </a:prstGeom>
          <a:noFill/>
          <a:ln/>
        </p:spPr>
        <p:txBody>
          <a:bodyPr wrap="square" rtlCol="0" anchor="ctr"/>
          <a:lstStyle/>
          <a:p>
            <a:pPr marL="342900" indent="-342900">
              <a:lnSpc>
                <a:spcPct val="110000"/>
              </a:lnSpc>
              <a:buSzPct val="100000"/>
              <a:buChar char="•"/>
            </a:pPr>
            <a:r>
              <a:rPr lang="en-US" sz="1150" dirty="0">
                <a:latin typeface="Pretendard" panose="02000503000000020004" pitchFamily="50" charset="-127"/>
                <a:ea typeface="Pretendard" panose="02000503000000020004" pitchFamily="50" charset="-127"/>
                <a:cs typeface="Pretendard" panose="02000503000000020004" pitchFamily="50" charset="-127"/>
              </a:rPr>
              <a:t>귀인 가설에 단일 표적 편집 후 재실행, 실패 시행 18~28% 성공 전환 / 오케스트레이터 수준 개입 한계로 29~67% 판정 불능</a:t>
            </a:r>
          </a:p>
        </p:txBody>
      </p:sp>
      <p:sp>
        <p:nvSpPr>
          <p:cNvPr id="7" name="Text 5"/>
          <p:cNvSpPr/>
          <p:nvPr/>
        </p:nvSpPr>
        <p:spPr>
          <a:xfrm>
            <a:off x="640080" y="2075688"/>
            <a:ext cx="11155680" cy="365760"/>
          </a:xfrm>
          <a:prstGeom prst="rect">
            <a:avLst/>
          </a:prstGeom>
          <a:noFill/>
          <a:ln/>
        </p:spPr>
        <p:txBody>
          <a:bodyPr wrap="square" rtlCol="0" anchor="ctr"/>
          <a:lstStyle/>
          <a:p>
            <a:pPr marL="0" indent="0">
              <a:buNone/>
            </a:pPr>
            <a:r>
              <a:rPr lang="en-US" sz="1450" b="1" dirty="0">
                <a:latin typeface="Pretendard" panose="02000503000000020004" pitchFamily="50" charset="-127"/>
                <a:ea typeface="Pretendard" panose="02000503000000020004" pitchFamily="50" charset="-127"/>
                <a:cs typeface="Pretendard" panose="02000503000000020004" pitchFamily="50" charset="-127"/>
              </a:rPr>
              <a:t>CausalFlow (UC Davis, 2026)</a:t>
            </a:r>
            <a:endParaRPr lang="en-US" sz="14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6"/>
          <p:cNvSpPr/>
          <p:nvPr/>
        </p:nvSpPr>
        <p:spPr>
          <a:xfrm>
            <a:off x="640080" y="2404872"/>
            <a:ext cx="11155680" cy="274320"/>
          </a:xfrm>
          <a:prstGeom prst="rect">
            <a:avLst/>
          </a:prstGeom>
          <a:noFill/>
          <a:ln/>
        </p:spPr>
        <p:txBody>
          <a:bodyPr wrap="square" rtlCol="0" anchor="ctr"/>
          <a:lstStyle/>
          <a:p>
            <a:pPr marL="0" indent="0">
              <a:buNone/>
            </a:pPr>
            <a:r>
              <a:rPr lang="en-US" sz="1050" i="1" dirty="0">
                <a:latin typeface="Pretendard" panose="02000503000000020004" pitchFamily="50" charset="-127"/>
                <a:ea typeface="Pretendard" panose="02000503000000020004" pitchFamily="50" charset="-127"/>
                <a:cs typeface="Pretendard" panose="02000503000000020004" pitchFamily="50" charset="-127"/>
              </a:rPr>
              <a:t>arXiv 2605.25338 — Causal Attribution and Counterfactual Repair for LLM Agent Failures</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7"/>
          <p:cNvSpPr/>
          <p:nvPr/>
        </p:nvSpPr>
        <p:spPr>
          <a:xfrm>
            <a:off x="868680" y="2651760"/>
            <a:ext cx="10881360" cy="502920"/>
          </a:xfrm>
          <a:prstGeom prst="rect">
            <a:avLst/>
          </a:prstGeom>
          <a:noFill/>
          <a:ln/>
        </p:spPr>
        <p:txBody>
          <a:bodyPr wrap="square" rtlCol="0" anchor="ctr"/>
          <a:lstStyle/>
          <a:p>
            <a:pPr marL="342900" indent="-342900">
              <a:lnSpc>
                <a:spcPct val="110000"/>
              </a:lnSpc>
              <a:buSzPct val="100000"/>
              <a:buChar char="•"/>
            </a:pPr>
            <a:r>
              <a:rPr lang="en-US" sz="1150" dirty="0">
                <a:latin typeface="Pretendard" panose="02000503000000020004" pitchFamily="50" charset="-127"/>
                <a:ea typeface="Pretendard" panose="02000503000000020004" pitchFamily="50" charset="-127"/>
                <a:cs typeface="Pretendard" panose="02000503000000020004" pitchFamily="50" charset="-127"/>
              </a:rPr>
              <a:t>반사실적 개입 기반 인과 책임 점수로 실패 단계 식별, 실패→성공 최소 편집 수리 생성 / 수리 조직·승격 구조 부재</a:t>
            </a:r>
          </a:p>
        </p:txBody>
      </p:sp>
      <p:sp>
        <p:nvSpPr>
          <p:cNvPr id="10" name="Text 8"/>
          <p:cNvSpPr/>
          <p:nvPr/>
        </p:nvSpPr>
        <p:spPr>
          <a:xfrm>
            <a:off x="640080" y="3191256"/>
            <a:ext cx="11155680" cy="365760"/>
          </a:xfrm>
          <a:prstGeom prst="rect">
            <a:avLst/>
          </a:prstGeom>
          <a:noFill/>
          <a:ln/>
        </p:spPr>
        <p:txBody>
          <a:bodyPr wrap="square" rtlCol="0" anchor="ctr"/>
          <a:lstStyle/>
          <a:p>
            <a:pPr marL="0" indent="0">
              <a:buNone/>
            </a:pPr>
            <a:r>
              <a:rPr lang="en-US" sz="1450" b="1" dirty="0">
                <a:latin typeface="Pretendard" panose="02000503000000020004" pitchFamily="50" charset="-127"/>
                <a:ea typeface="Pretendard" panose="02000503000000020004" pitchFamily="50" charset="-127"/>
                <a:cs typeface="Pretendard" panose="02000503000000020004" pitchFamily="50" charset="-127"/>
              </a:rPr>
              <a:t>AgenTracer (2025.09)</a:t>
            </a:r>
            <a:endParaRPr lang="en-US" sz="14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1" name="Text 9"/>
          <p:cNvSpPr/>
          <p:nvPr/>
        </p:nvSpPr>
        <p:spPr>
          <a:xfrm>
            <a:off x="640080" y="3520440"/>
            <a:ext cx="11155680" cy="274320"/>
          </a:xfrm>
          <a:prstGeom prst="rect">
            <a:avLst/>
          </a:prstGeom>
          <a:noFill/>
          <a:ln/>
        </p:spPr>
        <p:txBody>
          <a:bodyPr wrap="square" rtlCol="0" anchor="ctr"/>
          <a:lstStyle/>
          <a:p>
            <a:pPr marL="0" indent="0">
              <a:buNone/>
            </a:pPr>
            <a:r>
              <a:rPr lang="en-US" sz="1050" i="1" dirty="0">
                <a:latin typeface="Pretendard" panose="02000503000000020004" pitchFamily="50" charset="-127"/>
                <a:ea typeface="Pretendard" panose="02000503000000020004" pitchFamily="50" charset="-127"/>
                <a:cs typeface="Pretendard" panose="02000503000000020004" pitchFamily="50" charset="-127"/>
              </a:rPr>
              <a:t>arXiv 2509.03312 — Who is Inducing Failure in the LLM Agentic Systems?</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 name="Text 10"/>
          <p:cNvSpPr/>
          <p:nvPr/>
        </p:nvSpPr>
        <p:spPr>
          <a:xfrm>
            <a:off x="868680" y="3767328"/>
            <a:ext cx="10881360" cy="502920"/>
          </a:xfrm>
          <a:prstGeom prst="rect">
            <a:avLst/>
          </a:prstGeom>
          <a:noFill/>
          <a:ln/>
        </p:spPr>
        <p:txBody>
          <a:bodyPr wrap="square" rtlCol="0" anchor="ctr"/>
          <a:lstStyle/>
          <a:p>
            <a:pPr marL="342900" indent="-342900">
              <a:lnSpc>
                <a:spcPct val="110000"/>
              </a:lnSpc>
              <a:buSzPct val="100000"/>
              <a:buChar char="•"/>
            </a:pPr>
            <a:r>
              <a:rPr lang="en-US" sz="1150" dirty="0">
                <a:latin typeface="Pretendard" panose="02000503000000020004" pitchFamily="50" charset="-127"/>
                <a:ea typeface="Pretendard" panose="02000503000000020004" pitchFamily="50" charset="-127"/>
                <a:cs typeface="Pretendard" panose="02000503000000020004" pitchFamily="50" charset="-127"/>
              </a:rPr>
              <a:t>반사실적 재생·오류 주입으로 귀인 모델 학습, 귀인 피드백으로 기존 MAS 4.8~14.2% 성능 향상 / 수리 자체를 수행하는 시스템은 아님</a:t>
            </a:r>
          </a:p>
        </p:txBody>
      </p:sp>
      <p:sp>
        <p:nvSpPr>
          <p:cNvPr id="13" name="Text 11"/>
          <p:cNvSpPr/>
          <p:nvPr/>
        </p:nvSpPr>
        <p:spPr>
          <a:xfrm>
            <a:off x="640080" y="4306824"/>
            <a:ext cx="11155680" cy="365760"/>
          </a:xfrm>
          <a:prstGeom prst="rect">
            <a:avLst/>
          </a:prstGeom>
          <a:noFill/>
          <a:ln/>
        </p:spPr>
        <p:txBody>
          <a:bodyPr wrap="square" rtlCol="0" anchor="ctr"/>
          <a:lstStyle/>
          <a:p>
            <a:pPr marL="0" indent="0">
              <a:buNone/>
            </a:pPr>
            <a:r>
              <a:rPr lang="en-US" sz="1450" b="1" dirty="0">
                <a:latin typeface="Pretendard" panose="02000503000000020004" pitchFamily="50" charset="-127"/>
                <a:ea typeface="Pretendard" panose="02000503000000020004" pitchFamily="50" charset="-127"/>
                <a:cs typeface="Pretendard" panose="02000503000000020004" pitchFamily="50" charset="-127"/>
              </a:rPr>
              <a:t>Who&amp;When (ICML 2025)</a:t>
            </a:r>
            <a:endParaRPr lang="en-US" sz="14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Text 12"/>
          <p:cNvSpPr/>
          <p:nvPr/>
        </p:nvSpPr>
        <p:spPr>
          <a:xfrm>
            <a:off x="640080" y="4636008"/>
            <a:ext cx="11155680" cy="274320"/>
          </a:xfrm>
          <a:prstGeom prst="rect">
            <a:avLst/>
          </a:prstGeom>
          <a:noFill/>
          <a:ln/>
        </p:spPr>
        <p:txBody>
          <a:bodyPr wrap="square" rtlCol="0" anchor="ctr"/>
          <a:lstStyle/>
          <a:p>
            <a:pPr marL="0" indent="0">
              <a:buNone/>
            </a:pPr>
            <a:r>
              <a:rPr lang="en-US" sz="1050" i="1" dirty="0">
                <a:latin typeface="Pretendard" panose="02000503000000020004" pitchFamily="50" charset="-127"/>
                <a:ea typeface="Pretendard" panose="02000503000000020004" pitchFamily="50" charset="-127"/>
                <a:cs typeface="Pretendard" panose="02000503000000020004" pitchFamily="50" charset="-127"/>
              </a:rPr>
              <a:t>PMLR vol.267 — Which Agent Causes Task Failures and When?</a:t>
            </a:r>
            <a:endParaRPr lang="en-US" sz="10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5" name="Text 13"/>
          <p:cNvSpPr/>
          <p:nvPr/>
        </p:nvSpPr>
        <p:spPr>
          <a:xfrm>
            <a:off x="868680" y="4882896"/>
            <a:ext cx="10881360" cy="502920"/>
          </a:xfrm>
          <a:prstGeom prst="rect">
            <a:avLst/>
          </a:prstGeom>
          <a:noFill/>
          <a:ln/>
        </p:spPr>
        <p:txBody>
          <a:bodyPr wrap="square" rtlCol="0" anchor="ctr"/>
          <a:lstStyle/>
          <a:p>
            <a:pPr marL="342900" indent="-342900">
              <a:lnSpc>
                <a:spcPct val="110000"/>
              </a:lnSpc>
              <a:buSzPct val="100000"/>
              <a:buChar char="•"/>
            </a:pPr>
            <a:r>
              <a:rPr lang="en-US" sz="1150" dirty="0">
                <a:latin typeface="Pretendard" panose="02000503000000020004" pitchFamily="50" charset="-127"/>
                <a:ea typeface="Pretendard" panose="02000503000000020004" pitchFamily="50" charset="-127"/>
                <a:cs typeface="Pretendard" panose="02000503000000020004" pitchFamily="50" charset="-127"/>
              </a:rPr>
              <a:t>결정적 오류 정의 및 자동 귀인 방법론·데이터셋 제안 — 본 발명의 결정적 오류 개념이 기반하는 연구</a:t>
            </a:r>
          </a:p>
        </p:txBody>
      </p:sp>
      <p:sp>
        <p:nvSpPr>
          <p:cNvPr id="16" name="TextBox 15"/>
          <p:cNvSpPr txBox="1"/>
          <p:nvPr/>
        </p:nvSpPr>
        <p:spPr>
          <a:xfrm>
            <a:off x="640080" y="5422392"/>
            <a:ext cx="11155680" cy="918200"/>
          </a:xfrm>
          <a:prstGeom prst="rect">
            <a:avLst/>
          </a:prstGeom>
          <a:noFill/>
        </p:spPr>
        <p:txBody>
          <a:bodyPr wrap="square">
            <a:spAutoFit/>
          </a:bodyPr>
          <a:lstStyle/>
          <a:p>
            <a:pPr>
              <a:spcBef>
                <a:spcPts val="400"/>
              </a:spcBef>
            </a:pPr>
            <a:r>
              <a:rPr sz="1450" b="1" dirty="0">
                <a:latin typeface="Malgun Gothic"/>
              </a:rPr>
              <a:t>FALAT (2026.05)</a:t>
            </a:r>
          </a:p>
          <a:p>
            <a:pPr>
              <a:spcBef>
                <a:spcPts val="400"/>
              </a:spcBef>
            </a:pPr>
            <a:r>
              <a:rPr sz="1050" i="1" dirty="0" err="1">
                <a:solidFill>
                  <a:srgbClr val="595959"/>
                </a:solidFill>
                <a:latin typeface="Malgun Gothic"/>
              </a:rPr>
              <a:t>arXiv</a:t>
            </a:r>
            <a:r>
              <a:rPr sz="1050" i="1" dirty="0">
                <a:solidFill>
                  <a:srgbClr val="595959"/>
                </a:solidFill>
                <a:latin typeface="Malgun Gothic"/>
              </a:rPr>
              <a:t> 2606.00765 — Tracing Failures in LLM Agent Trajectories via Dependency-Guided Search</a:t>
            </a:r>
          </a:p>
          <a:p>
            <a:pPr>
              <a:spcBef>
                <a:spcPts val="400"/>
              </a:spcBef>
            </a:pPr>
            <a:r>
              <a:rPr sz="1100" dirty="0" err="1">
                <a:solidFill>
                  <a:srgbClr val="1A1A1A"/>
                </a:solidFill>
                <a:latin typeface="Malgun Gothic"/>
              </a:rPr>
              <a:t>의존</a:t>
            </a:r>
            <a:r>
              <a:rPr sz="1100" dirty="0">
                <a:solidFill>
                  <a:srgbClr val="1A1A1A"/>
                </a:solidFill>
                <a:latin typeface="Malgun Gothic"/>
              </a:rPr>
              <a:t> </a:t>
            </a:r>
            <a:r>
              <a:rPr sz="1100" dirty="0" err="1">
                <a:solidFill>
                  <a:srgbClr val="1A1A1A"/>
                </a:solidFill>
                <a:latin typeface="Malgun Gothic"/>
              </a:rPr>
              <a:t>추적으로</a:t>
            </a:r>
            <a:r>
              <a:rPr sz="1100" dirty="0">
                <a:solidFill>
                  <a:srgbClr val="1A1A1A"/>
                </a:solidFill>
                <a:latin typeface="Malgun Gothic"/>
              </a:rPr>
              <a:t> </a:t>
            </a:r>
            <a:r>
              <a:rPr sz="1100" dirty="0" err="1">
                <a:solidFill>
                  <a:srgbClr val="1A1A1A"/>
                </a:solidFill>
                <a:latin typeface="Malgun Gothic"/>
              </a:rPr>
              <a:t>오류</a:t>
            </a:r>
            <a:r>
              <a:rPr sz="1100" dirty="0">
                <a:solidFill>
                  <a:srgbClr val="1A1A1A"/>
                </a:solidFill>
                <a:latin typeface="Malgun Gothic"/>
              </a:rPr>
              <a:t> </a:t>
            </a:r>
            <a:r>
              <a:rPr sz="1100" dirty="0" err="1">
                <a:solidFill>
                  <a:srgbClr val="1A1A1A"/>
                </a:solidFill>
                <a:latin typeface="Malgun Gothic"/>
              </a:rPr>
              <a:t>발생</a:t>
            </a:r>
            <a:r>
              <a:rPr sz="1100" dirty="0">
                <a:solidFill>
                  <a:srgbClr val="1A1A1A"/>
                </a:solidFill>
                <a:latin typeface="Malgun Gothic"/>
              </a:rPr>
              <a:t> </a:t>
            </a:r>
            <a:r>
              <a:rPr sz="1100" dirty="0" err="1">
                <a:solidFill>
                  <a:srgbClr val="1A1A1A"/>
                </a:solidFill>
                <a:latin typeface="Malgun Gothic"/>
              </a:rPr>
              <a:t>단계</a:t>
            </a:r>
            <a:r>
              <a:rPr sz="1100" dirty="0">
                <a:solidFill>
                  <a:srgbClr val="1A1A1A"/>
                </a:solidFill>
                <a:latin typeface="Malgun Gothic"/>
              </a:rPr>
              <a:t>(</a:t>
            </a:r>
            <a:r>
              <a:rPr sz="1100" dirty="0" err="1">
                <a:solidFill>
                  <a:srgbClr val="1A1A1A"/>
                </a:solidFill>
                <a:latin typeface="Malgun Gothic"/>
              </a:rPr>
              <a:t>Root_Cause</a:t>
            </a:r>
            <a:r>
              <a:rPr sz="1100" dirty="0">
                <a:solidFill>
                  <a:srgbClr val="1A1A1A"/>
                </a:solidFill>
                <a:latin typeface="Malgun Gothic"/>
              </a:rPr>
              <a:t>)와 </a:t>
            </a:r>
            <a:r>
              <a:rPr sz="1100" dirty="0" err="1">
                <a:solidFill>
                  <a:srgbClr val="1A1A1A"/>
                </a:solidFill>
                <a:latin typeface="Malgun Gothic"/>
              </a:rPr>
              <a:t>전파</a:t>
            </a:r>
            <a:r>
              <a:rPr sz="1100" dirty="0">
                <a:solidFill>
                  <a:srgbClr val="1A1A1A"/>
                </a:solidFill>
                <a:latin typeface="Malgun Gothic"/>
              </a:rPr>
              <a:t> </a:t>
            </a:r>
            <a:r>
              <a:rPr sz="1100" dirty="0" err="1">
                <a:solidFill>
                  <a:srgbClr val="1A1A1A"/>
                </a:solidFill>
                <a:latin typeface="Malgun Gothic"/>
              </a:rPr>
              <a:t>단계</a:t>
            </a:r>
            <a:r>
              <a:rPr sz="1100" dirty="0">
                <a:solidFill>
                  <a:srgbClr val="1A1A1A"/>
                </a:solidFill>
                <a:latin typeface="Malgun Gothic"/>
              </a:rPr>
              <a:t>(Propagation)를 </a:t>
            </a:r>
            <a:r>
              <a:rPr sz="1100" dirty="0" err="1">
                <a:solidFill>
                  <a:srgbClr val="1A1A1A"/>
                </a:solidFill>
                <a:latin typeface="Malgun Gothic"/>
              </a:rPr>
              <a:t>구분하는</a:t>
            </a:r>
            <a:r>
              <a:rPr sz="1100" dirty="0">
                <a:solidFill>
                  <a:srgbClr val="1A1A1A"/>
                </a:solidFill>
                <a:latin typeface="Malgun Gothic"/>
              </a:rPr>
              <a:t> </a:t>
            </a:r>
            <a:r>
              <a:rPr sz="1100" dirty="0" err="1">
                <a:solidFill>
                  <a:srgbClr val="1A1A1A"/>
                </a:solidFill>
                <a:latin typeface="Malgun Gothic"/>
              </a:rPr>
              <a:t>귀인</a:t>
            </a:r>
            <a:r>
              <a:rPr sz="1100" dirty="0">
                <a:solidFill>
                  <a:srgbClr val="1A1A1A"/>
                </a:solidFill>
                <a:latin typeface="Malgun Gothic"/>
              </a:rPr>
              <a:t> </a:t>
            </a:r>
            <a:r>
              <a:rPr sz="1100" dirty="0" err="1">
                <a:solidFill>
                  <a:srgbClr val="1A1A1A"/>
                </a:solidFill>
                <a:latin typeface="Malgun Gothic"/>
              </a:rPr>
              <a:t>단독</a:t>
            </a:r>
            <a:r>
              <a:rPr sz="1100" dirty="0">
                <a:solidFill>
                  <a:srgbClr val="1A1A1A"/>
                </a:solidFill>
                <a:latin typeface="Malgun Gothic"/>
              </a:rPr>
              <a:t> </a:t>
            </a:r>
            <a:r>
              <a:rPr sz="1100" dirty="0" err="1">
                <a:solidFill>
                  <a:srgbClr val="1A1A1A"/>
                </a:solidFill>
                <a:latin typeface="Malgun Gothic"/>
              </a:rPr>
              <a:t>연구</a:t>
            </a:r>
            <a:r>
              <a:rPr sz="1100" dirty="0">
                <a:solidFill>
                  <a:srgbClr val="1A1A1A"/>
                </a:solidFill>
                <a:latin typeface="Malgun Gothic"/>
              </a:rPr>
              <a:t> — 본 </a:t>
            </a:r>
            <a:r>
              <a:rPr sz="1100" dirty="0" err="1">
                <a:solidFill>
                  <a:srgbClr val="1A1A1A"/>
                </a:solidFill>
                <a:latin typeface="Malgun Gothic"/>
              </a:rPr>
              <a:t>발명은</a:t>
            </a:r>
            <a:r>
              <a:rPr sz="1100" dirty="0">
                <a:solidFill>
                  <a:srgbClr val="1A1A1A"/>
                </a:solidFill>
                <a:latin typeface="Malgun Gothic"/>
              </a:rPr>
              <a:t> </a:t>
            </a:r>
            <a:r>
              <a:rPr sz="1100" dirty="0" err="1">
                <a:solidFill>
                  <a:srgbClr val="1A1A1A"/>
                </a:solidFill>
                <a:latin typeface="Malgun Gothic"/>
              </a:rPr>
              <a:t>귀인을</a:t>
            </a:r>
            <a:r>
              <a:rPr sz="1100" dirty="0">
                <a:solidFill>
                  <a:srgbClr val="1A1A1A"/>
                </a:solidFill>
                <a:latin typeface="Malgun Gothic"/>
              </a:rPr>
              <a:t> </a:t>
            </a:r>
            <a:r>
              <a:rPr sz="1100" dirty="0" err="1">
                <a:solidFill>
                  <a:srgbClr val="1A1A1A"/>
                </a:solidFill>
                <a:latin typeface="Malgun Gothic"/>
              </a:rPr>
              <a:t>수리</a:t>
            </a:r>
            <a:r>
              <a:rPr sz="1100" dirty="0">
                <a:solidFill>
                  <a:srgbClr val="1A1A1A"/>
                </a:solidFill>
                <a:latin typeface="Malgun Gothic"/>
              </a:rPr>
              <a:t> </a:t>
            </a:r>
            <a:r>
              <a:rPr sz="1100" dirty="0" err="1">
                <a:solidFill>
                  <a:srgbClr val="1A1A1A"/>
                </a:solidFill>
                <a:latin typeface="Malgun Gothic"/>
              </a:rPr>
              <a:t>조직</a:t>
            </a:r>
            <a:r>
              <a:rPr sz="1100" dirty="0">
                <a:solidFill>
                  <a:srgbClr val="1A1A1A"/>
                </a:solidFill>
                <a:latin typeface="Malgun Gothic"/>
              </a:rPr>
              <a:t> </a:t>
            </a:r>
            <a:r>
              <a:rPr sz="1100" dirty="0" err="1">
                <a:solidFill>
                  <a:srgbClr val="1A1A1A"/>
                </a:solidFill>
                <a:latin typeface="Malgun Gothic"/>
              </a:rPr>
              <a:t>컴파일·하류</a:t>
            </a:r>
            <a:r>
              <a:rPr sz="1100" dirty="0">
                <a:solidFill>
                  <a:srgbClr val="1A1A1A"/>
                </a:solidFill>
                <a:latin typeface="Malgun Gothic"/>
              </a:rPr>
              <a:t> </a:t>
            </a:r>
            <a:r>
              <a:rPr sz="1100" dirty="0" err="1">
                <a:solidFill>
                  <a:srgbClr val="1A1A1A"/>
                </a:solidFill>
                <a:latin typeface="Malgun Gothic"/>
              </a:rPr>
              <a:t>재생성·폐루프와</a:t>
            </a:r>
            <a:r>
              <a:rPr sz="1100" dirty="0">
                <a:solidFill>
                  <a:srgbClr val="1A1A1A"/>
                </a:solidFill>
                <a:latin typeface="Malgun Gothic"/>
              </a:rPr>
              <a:t> </a:t>
            </a:r>
            <a:r>
              <a:rPr sz="1100" dirty="0" err="1">
                <a:solidFill>
                  <a:srgbClr val="1A1A1A"/>
                </a:solidFill>
                <a:latin typeface="Malgun Gothic"/>
              </a:rPr>
              <a:t>결합한</a:t>
            </a:r>
            <a:r>
              <a:rPr sz="1100" dirty="0">
                <a:solidFill>
                  <a:srgbClr val="1A1A1A"/>
                </a:solidFill>
                <a:latin typeface="Malgun Gothic"/>
              </a:rPr>
              <a:t> </a:t>
            </a:r>
            <a:r>
              <a:rPr sz="1100" dirty="0" err="1">
                <a:solidFill>
                  <a:srgbClr val="1A1A1A"/>
                </a:solidFill>
                <a:latin typeface="Malgun Gothic"/>
              </a:rPr>
              <a:t>시스템이라는</a:t>
            </a:r>
            <a:r>
              <a:rPr sz="1100" dirty="0">
                <a:solidFill>
                  <a:srgbClr val="1A1A1A"/>
                </a:solidFill>
                <a:latin typeface="Malgun Gothic"/>
              </a:rPr>
              <a:t> </a:t>
            </a:r>
            <a:r>
              <a:rPr sz="1100" dirty="0" err="1">
                <a:solidFill>
                  <a:srgbClr val="1A1A1A"/>
                </a:solidFill>
                <a:latin typeface="Malgun Gothic"/>
              </a:rPr>
              <a:t>점에서</a:t>
            </a:r>
            <a:r>
              <a:rPr sz="1100" dirty="0">
                <a:solidFill>
                  <a:srgbClr val="1A1A1A"/>
                </a:solidFill>
                <a:latin typeface="Malgun Gothic"/>
              </a:rPr>
              <a:t> </a:t>
            </a:r>
            <a:r>
              <a:rPr sz="1100" dirty="0" err="1">
                <a:solidFill>
                  <a:srgbClr val="1A1A1A"/>
                </a:solidFill>
                <a:latin typeface="Malgun Gothic"/>
              </a:rPr>
              <a:t>상이</a:t>
            </a:r>
            <a:endParaRPr sz="1100" dirty="0">
              <a:solidFill>
                <a:srgbClr val="1A1A1A"/>
              </a:solidFill>
              <a:latin typeface="Malgun Gothic"/>
            </a:endParaRPr>
          </a:p>
        </p:txBody>
      </p:sp>
      <p:sp>
        <p:nvSpPr>
          <p:cNvPr id="17" name="TextBox 16">
            <a:extLst>
              <a:ext uri="{FF2B5EF4-FFF2-40B4-BE49-F238E27FC236}">
                <a16:creationId xmlns:a16="http://schemas.microsoft.com/office/drawing/2014/main" id="{F95651B2-8D96-499D-B847-48B2959F68B5}"/>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21</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57170-063B-599C-45FE-44512852D64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5545EFF-4ED1-9A8D-E411-1E8F3EDBDEE5}"/>
              </a:ext>
            </a:extLst>
          </p:cNvPr>
          <p:cNvSpPr/>
          <p:nvPr/>
        </p:nvSpPr>
        <p:spPr>
          <a:xfrm>
            <a:off x="502920" y="274320"/>
            <a:ext cx="10789920" cy="548640"/>
          </a:xfrm>
          <a:prstGeom prst="rect">
            <a:avLst/>
          </a:prstGeom>
          <a:noFill/>
          <a:ln/>
        </p:spPr>
        <p:txBody>
          <a:bodyPr wrap="square" rtlCol="0" anchor="ctr"/>
          <a:lstStyle/>
          <a:p>
            <a:pPr marL="0" indent="0">
              <a:buNone/>
            </a:pPr>
            <a:r>
              <a:rPr lang="en-US" sz="2500" b="1" dirty="0">
                <a:latin typeface="Pretendard" panose="02000503000000020004" pitchFamily="50" charset="-127"/>
                <a:ea typeface="Pretendard" panose="02000503000000020004" pitchFamily="50" charset="-127"/>
                <a:cs typeface="Pretendard" panose="02000503000000020004" pitchFamily="50" charset="-127"/>
              </a:rPr>
              <a:t>Appendix. </a:t>
            </a:r>
            <a:r>
              <a:rPr lang="en-US" sz="2500" b="1" dirty="0" err="1">
                <a:latin typeface="Pretendard" panose="02000503000000020004" pitchFamily="50" charset="-127"/>
                <a:ea typeface="Pretendard" panose="02000503000000020004" pitchFamily="50" charset="-127"/>
                <a:cs typeface="Pretendard" panose="02000503000000020004" pitchFamily="50" charset="-127"/>
              </a:rPr>
              <a:t>관련</a:t>
            </a:r>
            <a:r>
              <a:rPr lang="en-US" sz="2500" b="1" dirty="0">
                <a:latin typeface="Pretendard" panose="02000503000000020004" pitchFamily="50" charset="-127"/>
                <a:ea typeface="Pretendard" panose="02000503000000020004" pitchFamily="50" charset="-127"/>
                <a:cs typeface="Pretendard" panose="02000503000000020004" pitchFamily="50" charset="-127"/>
              </a:rPr>
              <a:t> 연구 (선행기술 상세)</a:t>
            </a:r>
            <a:endParaRPr lang="en-US" sz="2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 name="Text 2">
            <a:extLst>
              <a:ext uri="{FF2B5EF4-FFF2-40B4-BE49-F238E27FC236}">
                <a16:creationId xmlns:a16="http://schemas.microsoft.com/office/drawing/2014/main" id="{5319AA8D-B752-5853-253F-E854B8A355EA}"/>
              </a:ext>
            </a:extLst>
          </p:cNvPr>
          <p:cNvSpPr/>
          <p:nvPr/>
        </p:nvSpPr>
        <p:spPr>
          <a:xfrm>
            <a:off x="640080" y="960120"/>
            <a:ext cx="11155680" cy="365760"/>
          </a:xfrm>
          <a:prstGeom prst="rect">
            <a:avLst/>
          </a:prstGeom>
          <a:noFill/>
          <a:ln/>
        </p:spPr>
        <p:txBody>
          <a:bodyPr wrap="square" rtlCol="0" anchor="ctr"/>
          <a:lstStyle/>
          <a:p>
            <a:r>
              <a:rPr lang="ko-KR" altLang="ko-KR" sz="1450" b="1" dirty="0">
                <a:latin typeface="Pretendard" panose="02000503000000020004" pitchFamily="50" charset="-127"/>
                <a:ea typeface="Pretendard" panose="02000503000000020004" pitchFamily="50" charset="-127"/>
                <a:cs typeface="Pretendard" panose="02000503000000020004" pitchFamily="50" charset="-127"/>
              </a:rPr>
              <a:t>CHIEF (중국과학원, 2026.02)</a:t>
            </a:r>
            <a:endParaRPr lang="en-US" sz="145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 name="Text 3">
            <a:extLst>
              <a:ext uri="{FF2B5EF4-FFF2-40B4-BE49-F238E27FC236}">
                <a16:creationId xmlns:a16="http://schemas.microsoft.com/office/drawing/2014/main" id="{90727801-D9AB-7017-0CD8-D38E2512E44D}"/>
              </a:ext>
            </a:extLst>
          </p:cNvPr>
          <p:cNvSpPr/>
          <p:nvPr/>
        </p:nvSpPr>
        <p:spPr>
          <a:xfrm>
            <a:off x="640080" y="1289304"/>
            <a:ext cx="11155680" cy="274320"/>
          </a:xfrm>
          <a:prstGeom prst="rect">
            <a:avLst/>
          </a:prstGeom>
          <a:noFill/>
          <a:ln/>
        </p:spPr>
        <p:txBody>
          <a:bodyPr wrap="square" rtlCol="0" anchor="ctr"/>
          <a:lstStyle/>
          <a:p>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arXiv</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2602.23701 —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From</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Flat</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Logs</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to</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Causal</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Graphs</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Hierarchical</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Failure</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Attribution</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for</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LLM-</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based</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Multi-Agent</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Systems</a:t>
            </a:r>
            <a:endParaRPr lang="en-US" sz="1050" i="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4">
            <a:extLst>
              <a:ext uri="{FF2B5EF4-FFF2-40B4-BE49-F238E27FC236}">
                <a16:creationId xmlns:a16="http://schemas.microsoft.com/office/drawing/2014/main" id="{0F1C2A9D-6C29-E5AB-6481-D0212EA162F3}"/>
              </a:ext>
            </a:extLst>
          </p:cNvPr>
          <p:cNvSpPr/>
          <p:nvPr/>
        </p:nvSpPr>
        <p:spPr>
          <a:xfrm>
            <a:off x="868680" y="1536192"/>
            <a:ext cx="10881360" cy="502920"/>
          </a:xfrm>
          <a:prstGeom prst="rect">
            <a:avLst/>
          </a:prstGeom>
          <a:noFill/>
          <a:ln/>
        </p:spPr>
        <p:txBody>
          <a:bodyPr wrap="square" rtlCol="0" anchor="ctr"/>
          <a:lstStyle/>
          <a:p>
            <a:pPr marL="342900" indent="-342900">
              <a:lnSpc>
                <a:spcPct val="110000"/>
              </a:lnSpc>
              <a:buSzPct val="100000"/>
              <a:buChar char="•"/>
            </a:pPr>
            <a:r>
              <a:rPr lang="ko-KR" altLang="ko-KR" sz="1150" dirty="0">
                <a:latin typeface="Pretendard" panose="02000503000000020004" pitchFamily="50" charset="-127"/>
                <a:ea typeface="Pretendard" panose="02000503000000020004" pitchFamily="50" charset="-127"/>
                <a:cs typeface="Pretendard" panose="02000503000000020004" pitchFamily="50" charset="-127"/>
              </a:rPr>
              <a:t>로그를 계층적 인과 그래프로 변환, 가상 오라클 기반 역추적으로 </a:t>
            </a:r>
            <a:r>
              <a:rPr lang="ko-KR" altLang="ko-KR" sz="1150" dirty="0" err="1">
                <a:latin typeface="Pretendard" panose="02000503000000020004" pitchFamily="50" charset="-127"/>
                <a:ea typeface="Pretendard" panose="02000503000000020004" pitchFamily="50" charset="-127"/>
                <a:cs typeface="Pretendard" panose="02000503000000020004" pitchFamily="50" charset="-127"/>
              </a:rPr>
              <a:t>근본원인·전파증상</a:t>
            </a:r>
            <a:r>
              <a:rPr lang="ko-KR" altLang="ko-KR" sz="1150" dirty="0">
                <a:latin typeface="Pretendard" panose="02000503000000020004" pitchFamily="50" charset="-127"/>
                <a:ea typeface="Pretendard" panose="02000503000000020004" pitchFamily="50" charset="-127"/>
                <a:cs typeface="Pretendard" panose="02000503000000020004" pitchFamily="50" charset="-127"/>
              </a:rPr>
              <a:t> 구분 / 귀인에서 종료 — 수리 기능 부재</a:t>
            </a:r>
            <a:endParaRPr lang="en-US" sz="115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7" name="Text 5">
            <a:extLst>
              <a:ext uri="{FF2B5EF4-FFF2-40B4-BE49-F238E27FC236}">
                <a16:creationId xmlns:a16="http://schemas.microsoft.com/office/drawing/2014/main" id="{5C690568-41A7-6AB5-13C0-7AD449B077F9}"/>
              </a:ext>
            </a:extLst>
          </p:cNvPr>
          <p:cNvSpPr/>
          <p:nvPr/>
        </p:nvSpPr>
        <p:spPr>
          <a:xfrm>
            <a:off x="640080" y="2075688"/>
            <a:ext cx="11155680" cy="365760"/>
          </a:xfrm>
          <a:prstGeom prst="rect">
            <a:avLst/>
          </a:prstGeom>
          <a:noFill/>
          <a:ln/>
        </p:spPr>
        <p:txBody>
          <a:bodyPr wrap="square" rtlCol="0" anchor="ctr"/>
          <a:lstStyle/>
          <a:p>
            <a:r>
              <a:rPr lang="ko-KR" altLang="ko-KR" sz="1450" b="1" dirty="0">
                <a:latin typeface="Pretendard" panose="02000503000000020004" pitchFamily="50" charset="-127"/>
                <a:ea typeface="Pretendard" panose="02000503000000020004" pitchFamily="50" charset="-127"/>
                <a:cs typeface="Pretendard" panose="02000503000000020004" pitchFamily="50" charset="-127"/>
              </a:rPr>
              <a:t>TOOLPRO (2026.06)</a:t>
            </a:r>
            <a:endParaRPr lang="en-US" sz="145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6">
            <a:extLst>
              <a:ext uri="{FF2B5EF4-FFF2-40B4-BE49-F238E27FC236}">
                <a16:creationId xmlns:a16="http://schemas.microsoft.com/office/drawing/2014/main" id="{F9F51B62-B0CE-6230-16F1-73FD624A85AE}"/>
              </a:ext>
            </a:extLst>
          </p:cNvPr>
          <p:cNvSpPr/>
          <p:nvPr/>
        </p:nvSpPr>
        <p:spPr>
          <a:xfrm>
            <a:off x="640080" y="2404872"/>
            <a:ext cx="11155680" cy="274320"/>
          </a:xfrm>
          <a:prstGeom prst="rect">
            <a:avLst/>
          </a:prstGeom>
          <a:noFill/>
          <a:ln/>
        </p:spPr>
        <p:txBody>
          <a:bodyPr wrap="square" rtlCol="0" anchor="ctr"/>
          <a:lstStyle/>
          <a:p>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arXiv</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2606.19992 — Beyond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Static</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Endpoints</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Tool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Programs</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as</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an</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Interface</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for</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Flexible</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Agentic</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050" i="1" dirty="0" err="1">
                <a:latin typeface="Pretendard" panose="02000503000000020004" pitchFamily="50" charset="-127"/>
                <a:ea typeface="Pretendard" panose="02000503000000020004" pitchFamily="50" charset="-127"/>
                <a:cs typeface="Pretendard" panose="02000503000000020004" pitchFamily="50" charset="-127"/>
              </a:rPr>
              <a:t>Web</a:t>
            </a:r>
            <a:r>
              <a:rPr lang="ko-KR" altLang="ko-KR" sz="1050" i="1" dirty="0">
                <a:latin typeface="Pretendard" panose="02000503000000020004" pitchFamily="50" charset="-127"/>
                <a:ea typeface="Pretendard" panose="02000503000000020004" pitchFamily="50" charset="-127"/>
                <a:cs typeface="Pretendard" panose="02000503000000020004" pitchFamily="50" charset="-127"/>
              </a:rPr>
              <a:t> Services</a:t>
            </a:r>
            <a:endParaRPr lang="en-US" sz="1050" i="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7">
            <a:extLst>
              <a:ext uri="{FF2B5EF4-FFF2-40B4-BE49-F238E27FC236}">
                <a16:creationId xmlns:a16="http://schemas.microsoft.com/office/drawing/2014/main" id="{0B40E58F-E7CF-B51D-BC60-F7902DF93D8E}"/>
              </a:ext>
            </a:extLst>
          </p:cNvPr>
          <p:cNvSpPr/>
          <p:nvPr/>
        </p:nvSpPr>
        <p:spPr>
          <a:xfrm>
            <a:off x="868680" y="2651760"/>
            <a:ext cx="10881360" cy="502920"/>
          </a:xfrm>
          <a:prstGeom prst="rect">
            <a:avLst/>
          </a:prstGeom>
          <a:noFill/>
          <a:ln/>
        </p:spPr>
        <p:txBody>
          <a:bodyPr wrap="square" rtlCol="0" anchor="ctr"/>
          <a:lstStyle/>
          <a:p>
            <a:pPr marL="342900" indent="-342900">
              <a:lnSpc>
                <a:spcPct val="110000"/>
              </a:lnSpc>
              <a:buSzPct val="100000"/>
              <a:buFontTx/>
              <a:buChar char="•"/>
            </a:pPr>
            <a:r>
              <a:rPr lang="ko-KR" altLang="ko-KR" sz="1150" dirty="0">
                <a:latin typeface="Pretendard" panose="02000503000000020004" pitchFamily="50" charset="-127"/>
                <a:ea typeface="Pretendard" panose="02000503000000020004" pitchFamily="50" charset="-127"/>
                <a:cs typeface="Pretendard" panose="02000503000000020004" pitchFamily="50" charset="-127"/>
              </a:rPr>
              <a:t>재실행 시 READ 호출 </a:t>
            </a:r>
            <a:r>
              <a:rPr lang="ko-KR" altLang="ko-KR" sz="1150" dirty="0" err="1">
                <a:latin typeface="Pretendard" panose="02000503000000020004" pitchFamily="50" charset="-127"/>
                <a:ea typeface="Pretendard" panose="02000503000000020004" pitchFamily="50" charset="-127"/>
                <a:cs typeface="Pretendard" panose="02000503000000020004" pitchFamily="50" charset="-127"/>
              </a:rPr>
              <a:t>재실행·WRITE</a:t>
            </a:r>
            <a:r>
              <a:rPr lang="ko-KR" altLang="ko-KR" sz="1150" dirty="0">
                <a:latin typeface="Pretendard" panose="02000503000000020004" pitchFamily="50" charset="-127"/>
                <a:ea typeface="Pretendard" panose="02000503000000020004" pitchFamily="50" charset="-127"/>
                <a:cs typeface="Pretendard" panose="02000503000000020004" pitchFamily="50" charset="-127"/>
              </a:rPr>
              <a:t> 호출 결과 재사용하는 </a:t>
            </a:r>
            <a:r>
              <a:rPr lang="ko-KR" altLang="ko-KR" sz="1150" dirty="0" err="1">
                <a:latin typeface="Pretendard" panose="02000503000000020004" pitchFamily="50" charset="-127"/>
                <a:ea typeface="Pretendard" panose="02000503000000020004" pitchFamily="50" charset="-127"/>
                <a:cs typeface="Pretendard" panose="02000503000000020004" pitchFamily="50" charset="-127"/>
              </a:rPr>
              <a:t>Effect-Aware</a:t>
            </a:r>
            <a:r>
              <a:rPr lang="ko-KR" altLang="ko-KR" sz="1150" dirty="0">
                <a:latin typeface="Pretendard" panose="02000503000000020004" pitchFamily="50" charset="-127"/>
                <a:ea typeface="Pretendard" panose="02000503000000020004" pitchFamily="50" charset="-127"/>
                <a:cs typeface="Pretendard" panose="02000503000000020004" pitchFamily="50" charset="-127"/>
              </a:rPr>
              <a:t> </a:t>
            </a:r>
            <a:r>
              <a:rPr lang="ko-KR" altLang="ko-KR" sz="1150" dirty="0" err="1">
                <a:latin typeface="Pretendard" panose="02000503000000020004" pitchFamily="50" charset="-127"/>
                <a:ea typeface="Pretendard" panose="02000503000000020004" pitchFamily="50" charset="-127"/>
                <a:cs typeface="Pretendard" panose="02000503000000020004" pitchFamily="50" charset="-127"/>
              </a:rPr>
              <a:t>Replay</a:t>
            </a:r>
            <a:r>
              <a:rPr lang="ko-KR" altLang="ko-KR" sz="1150" dirty="0">
                <a:latin typeface="Pretendard" panose="02000503000000020004" pitchFamily="50" charset="-127"/>
                <a:ea typeface="Pretendard" panose="02000503000000020004" pitchFamily="50" charset="-127"/>
                <a:cs typeface="Pretendard" panose="02000503000000020004" pitchFamily="50" charset="-127"/>
              </a:rPr>
              <a:t> 제안 / 오류 귀인 연구 아니며 구조화된 API 프로그램에 한정</a:t>
            </a:r>
          </a:p>
        </p:txBody>
      </p:sp>
      <p:sp>
        <p:nvSpPr>
          <p:cNvPr id="10" name="TextBox 9">
            <a:extLst>
              <a:ext uri="{FF2B5EF4-FFF2-40B4-BE49-F238E27FC236}">
                <a16:creationId xmlns:a16="http://schemas.microsoft.com/office/drawing/2014/main" id="{FB2ACDB0-CF4F-47E9-B9A3-0CDD43E28544}"/>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22</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extLst>
      <p:ext uri="{BB962C8B-B14F-4D97-AF65-F5344CB8AC3E}">
        <p14:creationId xmlns:p14="http://schemas.microsoft.com/office/powerpoint/2010/main" val="40206081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0789920" cy="548640"/>
          </a:xfrm>
          <a:prstGeom prst="rect">
            <a:avLst/>
          </a:prstGeom>
          <a:noFill/>
          <a:ln/>
        </p:spPr>
        <p:txBody>
          <a:bodyPr wrap="square" rtlCol="0" anchor="ctr"/>
          <a:lstStyle/>
          <a:p>
            <a:pPr marL="0" indent="0">
              <a:buNone/>
            </a:pPr>
            <a:r>
              <a:rPr lang="en-US" sz="2500" b="1" dirty="0">
                <a:latin typeface="Pretendard" panose="02000503000000020004" pitchFamily="50" charset="-127"/>
                <a:ea typeface="Pretendard" panose="02000503000000020004" pitchFamily="50" charset="-127"/>
                <a:cs typeface="Pretendard" panose="02000503000000020004" pitchFamily="50" charset="-127"/>
              </a:rPr>
              <a:t>Appendix. </a:t>
            </a:r>
            <a:r>
              <a:rPr lang="en-US" sz="2500" b="1" dirty="0" err="1">
                <a:latin typeface="Pretendard" panose="02000503000000020004" pitchFamily="50" charset="-127"/>
                <a:ea typeface="Pretendard" panose="02000503000000020004" pitchFamily="50" charset="-127"/>
                <a:cs typeface="Pretendard" panose="02000503000000020004" pitchFamily="50" charset="-127"/>
              </a:rPr>
              <a:t>관련</a:t>
            </a:r>
            <a:r>
              <a:rPr lang="en-US" sz="2500" b="1" dirty="0">
                <a:latin typeface="Pretendard" panose="02000503000000020004" pitchFamily="50" charset="-127"/>
                <a:ea typeface="Pretendard" panose="02000503000000020004" pitchFamily="50" charset="-127"/>
                <a:cs typeface="Pretendard" panose="02000503000000020004" pitchFamily="50" charset="-127"/>
              </a:rPr>
              <a:t> 특허</a:t>
            </a:r>
            <a:endParaRPr lang="en-US" sz="2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4" name="Text 2"/>
          <p:cNvSpPr/>
          <p:nvPr/>
        </p:nvSpPr>
        <p:spPr>
          <a:xfrm>
            <a:off x="640080" y="1097280"/>
            <a:ext cx="11155680" cy="384048"/>
          </a:xfrm>
          <a:prstGeom prst="rect">
            <a:avLst/>
          </a:prstGeom>
          <a:noFill/>
          <a:ln/>
        </p:spPr>
        <p:txBody>
          <a:bodyPr wrap="square" rtlCol="0" anchor="ctr"/>
          <a:lstStyle/>
          <a:p>
            <a:pPr marL="0" indent="0">
              <a:buNone/>
            </a:pPr>
            <a:r>
              <a:rPr lang="en-US" sz="1500" b="1" dirty="0">
                <a:latin typeface="Pretendard" panose="02000503000000020004" pitchFamily="50" charset="-127"/>
                <a:ea typeface="Pretendard" panose="02000503000000020004" pitchFamily="50" charset="-127"/>
                <a:cs typeface="Pretendard" panose="02000503000000020004" pitchFamily="50" charset="-127"/>
              </a:rPr>
              <a:t>US 9,298,539 B1 — Automated Error Recovery for Workflows</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5" name="Text 3"/>
          <p:cNvSpPr/>
          <p:nvPr/>
        </p:nvSpPr>
        <p:spPr>
          <a:xfrm>
            <a:off x="6309360" y="1105408"/>
            <a:ext cx="1586653" cy="292608"/>
          </a:xfrm>
          <a:prstGeom prst="rect">
            <a:avLst/>
          </a:prstGeom>
          <a:noFill/>
          <a:ln/>
        </p:spPr>
        <p:txBody>
          <a:bodyPr wrap="square" rtlCol="0" anchor="ctr"/>
          <a:lstStyle/>
          <a:p>
            <a:pPr marL="0" indent="0">
              <a:buNone/>
            </a:pPr>
            <a:r>
              <a:rPr lang="en-US" sz="1100" i="1" dirty="0">
                <a:latin typeface="Pretendard" panose="02000503000000020004" pitchFamily="50" charset="-127"/>
                <a:ea typeface="Pretendard" panose="02000503000000020004" pitchFamily="50" charset="-127"/>
                <a:cs typeface="Pretendard" panose="02000503000000020004" pitchFamily="50" charset="-127"/>
              </a:rPr>
              <a:t>Symantec, 2016 등록</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6" name="Text 4"/>
          <p:cNvSpPr/>
          <p:nvPr/>
        </p:nvSpPr>
        <p:spPr>
          <a:xfrm>
            <a:off x="653732" y="1481325"/>
            <a:ext cx="10881360" cy="536109"/>
          </a:xfrm>
          <a:prstGeom prst="rect">
            <a:avLst/>
          </a:prstGeom>
          <a:noFill/>
          <a:ln/>
        </p:spPr>
        <p:txBody>
          <a:bodyPr wrap="square" rtlCol="0" anchor="ctr"/>
          <a:lstStyle/>
          <a:p>
            <a:pPr marL="342900" indent="-342900">
              <a:lnSpc>
                <a:spcPct val="112000"/>
              </a:lnSpc>
              <a:buSzPct val="100000"/>
              <a:buChar char="•"/>
            </a:pPr>
            <a:r>
              <a:rPr lang="en-US" sz="1250" dirty="0">
                <a:latin typeface="Pretendard" panose="02000503000000020004" pitchFamily="50" charset="-127"/>
                <a:ea typeface="Pretendard" panose="02000503000000020004" pitchFamily="50" charset="-127"/>
                <a:cs typeface="Pretendard" panose="02000503000000020004" pitchFamily="50" charset="-127"/>
              </a:rPr>
              <a:t>워크플로우 태스크 실행 중 오류 감지 시 해당 태스크의 오류 복구 부분을 자동 실행하는 방식</a:t>
            </a:r>
          </a:p>
          <a:p>
            <a:pPr marL="342900" indent="-342900">
              <a:lnSpc>
                <a:spcPct val="112000"/>
              </a:lnSpc>
              <a:buSzPct val="100000"/>
              <a:buChar char="•"/>
            </a:pPr>
            <a:r>
              <a:rPr lang="en-US" sz="1250" dirty="0">
                <a:latin typeface="Pretendard" panose="02000503000000020004" pitchFamily="50" charset="-127"/>
                <a:ea typeface="Pretendard" panose="02000503000000020004" pitchFamily="50" charset="-127"/>
                <a:cs typeface="Pretendard" panose="02000503000000020004" pitchFamily="50" charset="-127"/>
              </a:rPr>
              <a:t>일반 워크플로우 대상 — LLM 에이전트의 자연어 궤적·비결정적 출력·오류 전파 특성 미고려</a:t>
            </a:r>
          </a:p>
        </p:txBody>
      </p:sp>
      <p:sp>
        <p:nvSpPr>
          <p:cNvPr id="7" name="Text 5"/>
          <p:cNvSpPr/>
          <p:nvPr/>
        </p:nvSpPr>
        <p:spPr>
          <a:xfrm>
            <a:off x="640080" y="2082798"/>
            <a:ext cx="11155680" cy="384048"/>
          </a:xfrm>
          <a:prstGeom prst="rect">
            <a:avLst/>
          </a:prstGeom>
          <a:noFill/>
          <a:ln/>
        </p:spPr>
        <p:txBody>
          <a:bodyPr wrap="square" rtlCol="0" anchor="ctr"/>
          <a:lstStyle/>
          <a:p>
            <a:pPr marL="0" indent="0">
              <a:buNone/>
            </a:pPr>
            <a:r>
              <a:rPr lang="en-US" sz="1500" b="1" dirty="0">
                <a:latin typeface="Pretendard" panose="02000503000000020004" pitchFamily="50" charset="-127"/>
                <a:ea typeface="Pretendard" panose="02000503000000020004" pitchFamily="50" charset="-127"/>
                <a:cs typeface="Pretendard" panose="02000503000000020004" pitchFamily="50" charset="-127"/>
              </a:rPr>
              <a:t>US 2002/0188653 A1 — Systems and Methods for Recoverable Workflow</a:t>
            </a:r>
            <a:endParaRPr lang="en-US" sz="15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8" name="Text 6"/>
          <p:cNvSpPr/>
          <p:nvPr/>
        </p:nvSpPr>
        <p:spPr>
          <a:xfrm>
            <a:off x="7447280" y="2128518"/>
            <a:ext cx="1548674" cy="292608"/>
          </a:xfrm>
          <a:prstGeom prst="rect">
            <a:avLst/>
          </a:prstGeom>
          <a:noFill/>
          <a:ln/>
        </p:spPr>
        <p:txBody>
          <a:bodyPr wrap="square" rtlCol="0" anchor="ctr"/>
          <a:lstStyle/>
          <a:p>
            <a:pPr marL="0" indent="0">
              <a:buNone/>
            </a:pPr>
            <a:r>
              <a:rPr lang="en-US" sz="1100" i="1" dirty="0">
                <a:latin typeface="Pretendard" panose="02000503000000020004" pitchFamily="50" charset="-127"/>
                <a:ea typeface="Pretendard" panose="02000503000000020004" pitchFamily="50" charset="-127"/>
                <a:cs typeface="Pretendard" panose="02000503000000020004" pitchFamily="50" charset="-127"/>
              </a:rPr>
              <a:t>2002 공개</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9" name="Text 7"/>
          <p:cNvSpPr/>
          <p:nvPr/>
        </p:nvSpPr>
        <p:spPr>
          <a:xfrm>
            <a:off x="667385" y="2421126"/>
            <a:ext cx="10881360" cy="524256"/>
          </a:xfrm>
          <a:prstGeom prst="rect">
            <a:avLst/>
          </a:prstGeom>
          <a:noFill/>
          <a:ln/>
        </p:spPr>
        <p:txBody>
          <a:bodyPr wrap="square" rtlCol="0" anchor="ctr"/>
          <a:lstStyle/>
          <a:p>
            <a:pPr marL="342900" indent="-342900">
              <a:lnSpc>
                <a:spcPct val="112000"/>
              </a:lnSpc>
              <a:buSzPct val="100000"/>
              <a:buChar char="•"/>
            </a:pPr>
            <a:r>
              <a:rPr lang="en-US" sz="1250" dirty="0">
                <a:latin typeface="Pretendard" panose="02000503000000020004" pitchFamily="50" charset="-127"/>
                <a:ea typeface="Pretendard" panose="02000503000000020004" pitchFamily="50" charset="-127"/>
                <a:cs typeface="Pretendard" panose="02000503000000020004" pitchFamily="50" charset="-127"/>
              </a:rPr>
              <a:t>서브프로세스 종단마다 영속 체크포인트를 두고, 실패 시 해당 서브프로세스만 재시도하며 이전 상태를 보존</a:t>
            </a:r>
          </a:p>
          <a:p>
            <a:pPr marL="342900" indent="-342900">
              <a:lnSpc>
                <a:spcPct val="112000"/>
              </a:lnSpc>
              <a:buSzPct val="100000"/>
              <a:buChar char="•"/>
            </a:pPr>
            <a:r>
              <a:rPr lang="en-US" sz="1250" dirty="0">
                <a:latin typeface="Pretendard" panose="02000503000000020004" pitchFamily="50" charset="-127"/>
                <a:ea typeface="Pretendard" panose="02000503000000020004" pitchFamily="50" charset="-127"/>
                <a:cs typeface="Pretendard" panose="02000503000000020004" pitchFamily="50" charset="-127"/>
              </a:rPr>
              <a:t>체크포인트 롤백·부분 재시도의 일반 개념 공개 — 진보성 대응 시 LLM 특유 수단(로그 기반 조직 컴파일·재상연·폐루프)으로 구별 필요</a:t>
            </a:r>
          </a:p>
        </p:txBody>
      </p:sp>
      <p:sp>
        <p:nvSpPr>
          <p:cNvPr id="11" name="Text 5">
            <a:extLst>
              <a:ext uri="{FF2B5EF4-FFF2-40B4-BE49-F238E27FC236}">
                <a16:creationId xmlns:a16="http://schemas.microsoft.com/office/drawing/2014/main" id="{4C3D12D6-3F75-493D-8CD9-3161BF259540}"/>
              </a:ext>
            </a:extLst>
          </p:cNvPr>
          <p:cNvSpPr/>
          <p:nvPr/>
        </p:nvSpPr>
        <p:spPr>
          <a:xfrm>
            <a:off x="640080" y="3012773"/>
            <a:ext cx="11155680" cy="384048"/>
          </a:xfrm>
          <a:prstGeom prst="rect">
            <a:avLst/>
          </a:prstGeom>
          <a:noFill/>
          <a:ln/>
        </p:spPr>
        <p:txBody>
          <a:bodyPr wrap="square" rtlCol="0" anchor="ctr"/>
          <a:lstStyle/>
          <a:p>
            <a:pPr marL="0" indent="0">
              <a:buNone/>
            </a:pPr>
            <a:r>
              <a:rPr lang="en-US" altLang="ko-KR" sz="1500" b="1" dirty="0">
                <a:latin typeface="Pretendard" panose="02000503000000020004" pitchFamily="50" charset="-127"/>
                <a:ea typeface="Pretendard" panose="02000503000000020004" pitchFamily="50" charset="-127"/>
                <a:cs typeface="Pretendard" panose="02000503000000020004" pitchFamily="50" charset="-127"/>
              </a:rPr>
              <a:t>KR 1020250177520 — </a:t>
            </a:r>
            <a:r>
              <a:rPr lang="ko-KR" altLang="en-US" sz="1500" b="1" dirty="0">
                <a:latin typeface="Pretendard" panose="02000503000000020004" pitchFamily="50" charset="-127"/>
                <a:ea typeface="Pretendard" panose="02000503000000020004" pitchFamily="50" charset="-127"/>
                <a:cs typeface="Pretendard" panose="02000503000000020004" pitchFamily="50" charset="-127"/>
              </a:rPr>
              <a:t>다단계 추론 및 자가 수정 기반의 에이전트 시스템 및 그 동작 방법</a:t>
            </a:r>
            <a:endParaRPr lang="en-US" sz="1500" b="1"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2" name="Text 6">
            <a:extLst>
              <a:ext uri="{FF2B5EF4-FFF2-40B4-BE49-F238E27FC236}">
                <a16:creationId xmlns:a16="http://schemas.microsoft.com/office/drawing/2014/main" id="{3E7099BE-6C2E-4617-8050-11A1B4CD0769}"/>
              </a:ext>
            </a:extLst>
          </p:cNvPr>
          <p:cNvSpPr/>
          <p:nvPr/>
        </p:nvSpPr>
        <p:spPr>
          <a:xfrm>
            <a:off x="7997614" y="3058493"/>
            <a:ext cx="1548674" cy="292608"/>
          </a:xfrm>
          <a:prstGeom prst="rect">
            <a:avLst/>
          </a:prstGeom>
          <a:noFill/>
          <a:ln/>
        </p:spPr>
        <p:txBody>
          <a:bodyPr wrap="square" rtlCol="0" anchor="ctr"/>
          <a:lstStyle/>
          <a:p>
            <a:pPr marL="0" indent="0">
              <a:buNone/>
            </a:pPr>
            <a:r>
              <a:rPr lang="en-US" sz="1100" i="1" dirty="0">
                <a:latin typeface="Pretendard" panose="02000503000000020004" pitchFamily="50" charset="-127"/>
                <a:ea typeface="Pretendard" panose="02000503000000020004" pitchFamily="50" charset="-127"/>
                <a:cs typeface="Pretendard" panose="02000503000000020004" pitchFamily="50" charset="-127"/>
              </a:rPr>
              <a:t>2025.11 </a:t>
            </a:r>
            <a:r>
              <a:rPr lang="ko-KR" altLang="en-US" sz="1100" i="1" dirty="0">
                <a:latin typeface="Pretendard" panose="02000503000000020004" pitchFamily="50" charset="-127"/>
                <a:ea typeface="Pretendard" panose="02000503000000020004" pitchFamily="50" charset="-127"/>
                <a:cs typeface="Pretendard" panose="02000503000000020004" pitchFamily="50" charset="-127"/>
              </a:rPr>
              <a:t>출원</a:t>
            </a:r>
            <a:endParaRPr lang="en-US" sz="11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3" name="Text 7">
            <a:extLst>
              <a:ext uri="{FF2B5EF4-FFF2-40B4-BE49-F238E27FC236}">
                <a16:creationId xmlns:a16="http://schemas.microsoft.com/office/drawing/2014/main" id="{EDE27164-C824-4F08-8F01-1444E11EBBEE}"/>
              </a:ext>
            </a:extLst>
          </p:cNvPr>
          <p:cNvSpPr/>
          <p:nvPr/>
        </p:nvSpPr>
        <p:spPr>
          <a:xfrm>
            <a:off x="667385" y="3872659"/>
            <a:ext cx="10881360" cy="524256"/>
          </a:xfrm>
          <a:prstGeom prst="rect">
            <a:avLst/>
          </a:prstGeom>
          <a:noFill/>
          <a:ln/>
        </p:spPr>
        <p:txBody>
          <a:bodyPr wrap="square" rtlCol="0" anchor="ctr"/>
          <a:lstStyle/>
          <a:p>
            <a:pPr marL="285750" indent="-285750">
              <a:buFont typeface="Arial" panose="020B0604020202020204" pitchFamily="34" charset="0"/>
              <a:buChar char="•"/>
            </a:pP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사용자 단말로부터 쿼리를 받으면 먼저 복잡도를 분석해 복합 추론 과제인지 판단</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복합 과제로 식별되면 여러 </a:t>
            </a:r>
            <a:r>
              <a:rPr lang="ko-KR" altLang="en-US" sz="1400" dirty="0" err="1">
                <a:latin typeface="Pretendard" panose="02000503000000020004" pitchFamily="50" charset="-127"/>
                <a:ea typeface="Pretendard" panose="02000503000000020004" pitchFamily="50" charset="-127"/>
                <a:cs typeface="Pretendard" panose="02000503000000020004" pitchFamily="50" charset="-127"/>
              </a:rPr>
              <a:t>서브태스크로</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 분해하고</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dirty="0" err="1">
                <a:latin typeface="Pretendard" panose="02000503000000020004" pitchFamily="50" charset="-127"/>
                <a:ea typeface="Pretendard" panose="02000503000000020004" pitchFamily="50" charset="-127"/>
                <a:cs typeface="Pretendard" panose="02000503000000020004" pitchFamily="50" charset="-127"/>
              </a:rPr>
              <a:t>서브태스크</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 간 데이터 의존성에 기반해 실행 계획을 수립한 뒤 각 </a:t>
            </a:r>
            <a:r>
              <a:rPr lang="ko-KR" altLang="en-US" sz="1400" dirty="0" err="1">
                <a:latin typeface="Pretendard" panose="02000503000000020004" pitchFamily="50" charset="-127"/>
                <a:ea typeface="Pretendard" panose="02000503000000020004" pitchFamily="50" charset="-127"/>
                <a:cs typeface="Pretendard" panose="02000503000000020004" pitchFamily="50" charset="-127"/>
              </a:rPr>
              <a:t>서브태스크를</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 사전 정의된 전문가 모듈로 라우팅</a:t>
            </a:r>
            <a:endParaRPr lang="en-US" altLang="ko-KR" sz="1400" dirty="0">
              <a:latin typeface="Pretendard" panose="02000503000000020004" pitchFamily="50" charset="-127"/>
              <a:ea typeface="Pretendard" panose="02000503000000020004" pitchFamily="50" charset="-127"/>
              <a:cs typeface="Pretendard" panose="02000503000000020004" pitchFamily="50" charset="-127"/>
            </a:endParaRPr>
          </a:p>
          <a:p>
            <a:pPr marL="285750" indent="-285750">
              <a:buFont typeface="Arial" panose="020B0604020202020204" pitchFamily="34" charset="0"/>
              <a:buChar char="•"/>
            </a:pP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코드 생성이 필요한 </a:t>
            </a:r>
            <a:r>
              <a:rPr lang="ko-KR" altLang="en-US" sz="1400" dirty="0" err="1">
                <a:latin typeface="Pretendard" panose="02000503000000020004" pitchFamily="50" charset="-127"/>
                <a:ea typeface="Pretendard" panose="02000503000000020004" pitchFamily="50" charset="-127"/>
                <a:cs typeface="Pretendard" panose="02000503000000020004" pitchFamily="50" charset="-127"/>
              </a:rPr>
              <a:t>서브태스크는</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dirty="0">
                <a:effectLst/>
                <a:latin typeface="Pretendard" panose="02000503000000020004" pitchFamily="50" charset="-127"/>
                <a:ea typeface="Pretendard" panose="02000503000000020004" pitchFamily="50" charset="-127"/>
                <a:cs typeface="Pretendard" panose="02000503000000020004" pitchFamily="50" charset="-127"/>
              </a:rPr>
              <a:t>코드 생성 모델을 통해 실행 가능한 소스 코드를 만들어 실행</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하고</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그 결과에서 </a:t>
            </a:r>
            <a:r>
              <a:rPr lang="ko-KR" altLang="en-US" sz="1400" dirty="0">
                <a:effectLst/>
                <a:latin typeface="Pretendard" panose="02000503000000020004" pitchFamily="50" charset="-127"/>
                <a:ea typeface="Pretendard" panose="02000503000000020004" pitchFamily="50" charset="-127"/>
                <a:cs typeface="Pretendard" panose="02000503000000020004" pitchFamily="50" charset="-127"/>
              </a:rPr>
              <a:t>에러가 검출되면 에러 로그와 소스 코드를 함께 분석해 에러의 원인을 추론</a:t>
            </a:r>
            <a:endParaRPr lang="en-US" altLang="ko-KR" sz="1400" dirty="0">
              <a:effectLst/>
              <a:latin typeface="Pretendard" panose="02000503000000020004" pitchFamily="50" charset="-127"/>
              <a:ea typeface="Pretendard" panose="02000503000000020004" pitchFamily="50" charset="-127"/>
              <a:cs typeface="Pretendard" panose="02000503000000020004" pitchFamily="50" charset="-127"/>
            </a:endParaRPr>
          </a:p>
          <a:p>
            <a:pPr marL="285750" indent="-285750">
              <a:buFont typeface="Arial" panose="020B0604020202020204" pitchFamily="34" charset="0"/>
              <a:buChar char="•"/>
            </a:pP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추론된 원인을 바탕으로</a:t>
            </a:r>
            <a:r>
              <a:rPr lang="ko-KR" altLang="en-US" sz="1400" dirty="0">
                <a:effectLst/>
                <a:latin typeface="Pretendard" panose="02000503000000020004" pitchFamily="50" charset="-127"/>
                <a:ea typeface="Pretendard" panose="02000503000000020004" pitchFamily="50" charset="-127"/>
                <a:cs typeface="Pretendard" panose="02000503000000020004" pitchFamily="50" charset="-127"/>
              </a:rPr>
              <a:t> 수정된 코드를 생성해 </a:t>
            </a:r>
            <a:r>
              <a:rPr lang="ko-KR" altLang="en-US" sz="1400" dirty="0" err="1">
                <a:effectLst/>
                <a:latin typeface="Pretendard" panose="02000503000000020004" pitchFamily="50" charset="-127"/>
                <a:ea typeface="Pretendard" panose="02000503000000020004" pitchFamily="50" charset="-127"/>
                <a:cs typeface="Pretendard" panose="02000503000000020004" pitchFamily="50" charset="-127"/>
              </a:rPr>
              <a:t>샌드박스</a:t>
            </a:r>
            <a:r>
              <a:rPr lang="ko-KR" altLang="en-US" sz="1400" dirty="0">
                <a:effectLst/>
                <a:latin typeface="Pretendard" panose="02000503000000020004" pitchFamily="50" charset="-127"/>
                <a:ea typeface="Pretendard" panose="02000503000000020004" pitchFamily="50" charset="-127"/>
                <a:cs typeface="Pretendard" panose="02000503000000020004" pitchFamily="50" charset="-127"/>
              </a:rPr>
              <a:t> 환경에서 최소 한 번 이상 재실행</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하는 자가 수정 루프를 수행하며</a:t>
            </a:r>
            <a:r>
              <a:rPr lang="en-US" altLang="ko-KR" sz="1400" dirty="0">
                <a:latin typeface="Pretendard" panose="02000503000000020004" pitchFamily="50" charset="-127"/>
                <a:ea typeface="Pretendard" panose="02000503000000020004" pitchFamily="50" charset="-127"/>
                <a:cs typeface="Pretendard" panose="02000503000000020004" pitchFamily="50" charset="-127"/>
              </a:rPr>
              <a:t>, </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최종적으로 모든 </a:t>
            </a:r>
            <a:r>
              <a:rPr lang="ko-KR" altLang="en-US" sz="1400" dirty="0" err="1">
                <a:latin typeface="Pretendard" panose="02000503000000020004" pitchFamily="50" charset="-127"/>
                <a:ea typeface="Pretendard" panose="02000503000000020004" pitchFamily="50" charset="-127"/>
                <a:cs typeface="Pretendard" panose="02000503000000020004" pitchFamily="50" charset="-127"/>
              </a:rPr>
              <a:t>서브태스크의</a:t>
            </a:r>
            <a:r>
              <a:rPr lang="ko-KR" altLang="en-US" sz="1400" dirty="0">
                <a:latin typeface="Pretendard" panose="02000503000000020004" pitchFamily="50" charset="-127"/>
                <a:ea typeface="Pretendard" panose="02000503000000020004" pitchFamily="50" charset="-127"/>
                <a:cs typeface="Pretendard" panose="02000503000000020004" pitchFamily="50" charset="-127"/>
              </a:rPr>
              <a:t> 실행 결과를 통합해 답변을 생성하고 사용자 인터페이스로 제공</a:t>
            </a:r>
            <a:endParaRPr lang="en-US" altLang="ko-KR" sz="1400" dirty="0">
              <a:latin typeface="Pretendard" panose="02000503000000020004" pitchFamily="50" charset="-127"/>
              <a:ea typeface="Pretendard" panose="02000503000000020004" pitchFamily="50" charset="-127"/>
              <a:cs typeface="Pretendard" panose="02000503000000020004" pitchFamily="50" charset="-127"/>
            </a:endParaRPr>
          </a:p>
        </p:txBody>
      </p:sp>
      <p:sp>
        <p:nvSpPr>
          <p:cNvPr id="14" name="TextBox 13">
            <a:extLst>
              <a:ext uri="{FF2B5EF4-FFF2-40B4-BE49-F238E27FC236}">
                <a16:creationId xmlns:a16="http://schemas.microsoft.com/office/drawing/2014/main" id="{F34C9081-F014-4BCC-A797-29C578194232}"/>
              </a:ext>
            </a:extLst>
          </p:cNvPr>
          <p:cNvSpPr txBox="1"/>
          <p:nvPr/>
        </p:nvSpPr>
        <p:spPr>
          <a:xfrm>
            <a:off x="11612880" y="6490734"/>
            <a:ext cx="518296" cy="276999"/>
          </a:xfrm>
          <a:prstGeom prst="rect">
            <a:avLst/>
          </a:prstGeom>
          <a:noFill/>
        </p:spPr>
        <p:txBody>
          <a:bodyPr wrap="square" rtlCol="0">
            <a:spAutoFit/>
          </a:bodyPr>
          <a:lstStyle/>
          <a:p>
            <a:r>
              <a:rPr lang="en-US" altLang="ko-KR" sz="1200" dirty="0">
                <a:latin typeface="Pretendard" panose="02000503000000020004" pitchFamily="50" charset="-127"/>
                <a:ea typeface="Pretendard" panose="02000503000000020004" pitchFamily="50" charset="-127"/>
                <a:cs typeface="Pretendard" panose="02000503000000020004" pitchFamily="50" charset="-127"/>
              </a:rPr>
              <a:t>23</a:t>
            </a:r>
            <a:endParaRPr lang="ko-KR" altLang="en-US" sz="1200" dirty="0">
              <a:latin typeface="Pretendard" panose="02000503000000020004" pitchFamily="50" charset="-127"/>
              <a:ea typeface="Pretendard" panose="02000503000000020004" pitchFamily="50" charset="-127"/>
              <a:cs typeface="Pretendard" panose="02000503000000020004" pitchFamily="50" charset="-12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4559</TotalTime>
  <Words>4666</Words>
  <Application>Microsoft Office PowerPoint</Application>
  <PresentationFormat>사용자 지정</PresentationFormat>
  <Paragraphs>615</Paragraphs>
  <Slides>26</Slides>
  <Notes>22</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26</vt:i4>
      </vt:variant>
    </vt:vector>
  </HeadingPairs>
  <TitlesOfParts>
    <vt:vector size="32" baseType="lpstr">
      <vt:lpstr>맑은 고딕</vt:lpstr>
      <vt:lpstr>Arial</vt:lpstr>
      <vt:lpstr>Pretendard</vt:lpstr>
      <vt:lpstr>Calibri</vt:lpstr>
      <vt:lpstr>맑은 고딕</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서준원(대학원생-비즈니스IT전공)</cp:lastModifiedBy>
  <cp:revision>101</cp:revision>
  <dcterms:created xsi:type="dcterms:W3CDTF">2026-07-14T00:28:07Z</dcterms:created>
  <dcterms:modified xsi:type="dcterms:W3CDTF">2026-09-16T16:55:10Z</dcterms:modified>
</cp:coreProperties>
</file>